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6858000" cx="12192000"/>
  <p:notesSz cx="6858000" cy="9144000"/>
  <p:embeddedFontLst>
    <p:embeddedFont>
      <p:font typeface="Quattrocento Sans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61" roundtripDataSignature="AMtx7mgpfaYXeNbnneGrSnJuuteXVkuX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F96511-E791-4EA2-812C-DA6BB343E5E0}">
  <a:tblStyle styleId="{45F96511-E791-4EA2-812C-DA6BB343E5E0}" styleName="Table_0">
    <a:wholeTbl>
      <a:tcTxStyle b="off" i="off">
        <a:font>
          <a:latin typeface="Segoe UI"/>
          <a:ea typeface="Segoe UI"/>
          <a:cs typeface="Segoe U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QuattrocentoSans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QuattrocentoSans-regular.fntdata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QuattrocentoSans-italic.fntdata"/><Relationship Id="rId14" Type="http://schemas.openxmlformats.org/officeDocument/2006/relationships/slide" Target="slides/slide8.xml"/><Relationship Id="rId58" Type="http://schemas.openxmlformats.org/officeDocument/2006/relationships/font" Target="fonts/QuattrocentoSans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" name="Google Shape;43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 Slide Show mode, click the arrow to enter the PowerPoint Getting Started Center.</a:t>
            </a:r>
            <a:endParaRPr/>
          </a:p>
        </p:txBody>
      </p:sp>
      <p:sp>
        <p:nvSpPr>
          <p:cNvPr id="450" name="Google Shape;450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56565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1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" name="Google Shape;17;p41"/>
          <p:cNvSpPr txBox="1"/>
          <p:nvPr>
            <p:ph type="ctrTitle"/>
          </p:nvPr>
        </p:nvSpPr>
        <p:spPr>
          <a:xfrm>
            <a:off x="838200" y="2061006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1"/>
          <p:cNvSpPr txBox="1"/>
          <p:nvPr>
            <p:ph idx="1" type="subTitle"/>
          </p:nvPr>
        </p:nvSpPr>
        <p:spPr>
          <a:xfrm>
            <a:off x="838202" y="5110609"/>
            <a:ext cx="10515598" cy="1137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41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1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1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41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3" name="Google Shape;23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0525" y="315939"/>
            <a:ext cx="4686300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2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" name="Google Shape;26;p42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  <a:defRPr sz="3000">
                <a:solidFill>
                  <a:srgbClr val="7F7F7F"/>
                </a:solidFill>
              </a:defRPr>
            </a:lvl1pPr>
            <a:lvl2pPr indent="-393700" lvl="1" marL="914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  <a:defRPr sz="2600">
                <a:solidFill>
                  <a:srgbClr val="7F7F7F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>
                <a:solidFill>
                  <a:srgbClr val="7F7F7F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 sz="1800">
                <a:solidFill>
                  <a:srgbClr val="7F7F7F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2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42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2" name="Google Shape;3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9385" y="165006"/>
            <a:ext cx="2228850" cy="4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" name="Google Shape;35;p43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  <a:defRPr sz="2200">
                <a:solidFill>
                  <a:srgbClr val="7F7F7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 sz="1800">
                <a:solidFill>
                  <a:srgbClr val="7F7F7F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  <a:defRPr sz="2200">
                <a:solidFill>
                  <a:srgbClr val="7F7F7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 sz="1800">
                <a:solidFill>
                  <a:srgbClr val="7F7F7F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3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43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42" name="Google Shape;42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9385" y="165006"/>
            <a:ext cx="2228850" cy="4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4"/>
          <p:cNvSpPr/>
          <p:nvPr/>
        </p:nvSpPr>
        <p:spPr>
          <a:xfrm>
            <a:off x="0" y="1709738"/>
            <a:ext cx="12192000" cy="357518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5" name="Google Shape;45;p44"/>
          <p:cNvSpPr txBox="1"/>
          <p:nvPr>
            <p:ph type="title"/>
          </p:nvPr>
        </p:nvSpPr>
        <p:spPr>
          <a:xfrm>
            <a:off x="838201" y="2402238"/>
            <a:ext cx="10515599" cy="2187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4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5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" name="Google Shape;55;p46"/>
          <p:cNvSpPr txBox="1"/>
          <p:nvPr>
            <p:ph type="title"/>
          </p:nvPr>
        </p:nvSpPr>
        <p:spPr>
          <a:xfrm>
            <a:off x="838201" y="2402238"/>
            <a:ext cx="4508715" cy="2187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A4"/>
              </a:buClr>
              <a:buSzPts val="4800"/>
              <a:buFont typeface="Quattrocento Sans"/>
              <a:buNone/>
              <a:defRPr sz="4800">
                <a:solidFill>
                  <a:srgbClr val="0055A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6"/>
          <p:cNvSpPr txBox="1"/>
          <p:nvPr>
            <p:ph idx="1" type="body"/>
          </p:nvPr>
        </p:nvSpPr>
        <p:spPr>
          <a:xfrm>
            <a:off x="6323308" y="2402237"/>
            <a:ext cx="5269424" cy="2187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7" name="Google Shape;57;p46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6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6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4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61" name="Google Shape;6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87643" y="3074570"/>
            <a:ext cx="4273596" cy="842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" name="Google Shape;64;p47"/>
          <p:cNvSpPr txBox="1"/>
          <p:nvPr>
            <p:ph type="title"/>
          </p:nvPr>
        </p:nvSpPr>
        <p:spPr>
          <a:xfrm>
            <a:off x="604434" y="0"/>
            <a:ext cx="10749367" cy="12088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7"/>
          <p:cNvSpPr txBox="1"/>
          <p:nvPr>
            <p:ph idx="1" type="body"/>
          </p:nvPr>
        </p:nvSpPr>
        <p:spPr>
          <a:xfrm>
            <a:off x="838201" y="1825625"/>
            <a:ext cx="416775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indent="-3429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 sz="18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7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7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4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70" name="Google Shape;70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9385" y="165006"/>
            <a:ext cx="2228850" cy="4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8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3" name="Google Shape;73;p48"/>
          <p:cNvSpPr txBox="1"/>
          <p:nvPr>
            <p:ph type="title"/>
          </p:nvPr>
        </p:nvSpPr>
        <p:spPr>
          <a:xfrm>
            <a:off x="609600" y="0"/>
            <a:ext cx="10737851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 txBox="1"/>
          <p:nvPr>
            <p:ph idx="1" type="body"/>
          </p:nvPr>
        </p:nvSpPr>
        <p:spPr>
          <a:xfrm>
            <a:off x="831851" y="1489075"/>
            <a:ext cx="51562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5" name="Google Shape;75;p48"/>
          <p:cNvSpPr txBox="1"/>
          <p:nvPr>
            <p:ph idx="2" type="body"/>
          </p:nvPr>
        </p:nvSpPr>
        <p:spPr>
          <a:xfrm>
            <a:off x="831851" y="2193927"/>
            <a:ext cx="5156200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3" type="body"/>
          </p:nvPr>
        </p:nvSpPr>
        <p:spPr>
          <a:xfrm>
            <a:off x="6189664" y="1489075"/>
            <a:ext cx="5157787" cy="641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7" name="Google Shape;77;p48"/>
          <p:cNvSpPr txBox="1"/>
          <p:nvPr>
            <p:ph idx="4" type="body"/>
          </p:nvPr>
        </p:nvSpPr>
        <p:spPr>
          <a:xfrm>
            <a:off x="6189664" y="2193927"/>
            <a:ext cx="5157787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8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48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82" name="Google Shape;82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9385" y="165006"/>
            <a:ext cx="2228850" cy="4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5" name="Google Shape;85;p49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9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9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9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4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90" name="Google Shape;90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9385" y="165006"/>
            <a:ext cx="2228850" cy="4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0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50"/>
          <p:cNvSpPr txBox="1"/>
          <p:nvPr>
            <p:ph idx="2" type="body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5" name="Google Shape;95;p50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0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0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1"/>
          <p:cNvSpPr/>
          <p:nvPr>
            <p:ph idx="2" type="pic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51"/>
          <p:cNvSpPr txBox="1"/>
          <p:nvPr>
            <p:ph idx="1" type="body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2" name="Google Shape;102;p51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1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1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2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7" name="Google Shape;107;p52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5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52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2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2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52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13" name="Google Shape;113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9385" y="165006"/>
            <a:ext cx="2228850" cy="4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3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6" name="Google Shape;116;p53"/>
          <p:cNvSpPr txBox="1"/>
          <p:nvPr>
            <p:ph type="title"/>
          </p:nvPr>
        </p:nvSpPr>
        <p:spPr>
          <a:xfrm rot="5400000">
            <a:off x="8219282" y="2361262"/>
            <a:ext cx="5811838" cy="18195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3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53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53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53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53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b="0" i="0" sz="4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2" name="Google Shape;12;p40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3" name="Google Shape;13;p40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4" name="Google Shape;14;p40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7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5" Type="http://schemas.openxmlformats.org/officeDocument/2006/relationships/image" Target="../media/image3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www.nakivo.com/blog/hyper-v-generation-1-vs-2/" TargetMode="External"/><Relationship Id="rId4" Type="http://schemas.openxmlformats.org/officeDocument/2006/relationships/hyperlink" Target="https://docs.microsoft.com/en-ca/sysinternals/downloads/process-explorer" TargetMode="External"/><Relationship Id="rId5" Type="http://schemas.openxmlformats.org/officeDocument/2006/relationships/hyperlink" Target="https://superuser.com/a/1301826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learn.microsoft.com/en-us/windows-server/virtualization/hyper-v/supported-ubuntu-virtual-machines-on-hyper-v" TargetMode="External"/><Relationship Id="rId4" Type="http://schemas.openxmlformats.org/officeDocument/2006/relationships/hyperlink" Target="https://ubuntu.com/download/desktop" TargetMode="External"/><Relationship Id="rId5" Type="http://schemas.openxmlformats.org/officeDocument/2006/relationships/hyperlink" Target="https://wiki.ubuntu.com/Hyper-V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"/>
          <p:cNvSpPr txBox="1"/>
          <p:nvPr>
            <p:ph type="ctrTitle"/>
          </p:nvPr>
        </p:nvSpPr>
        <p:spPr>
          <a:xfrm>
            <a:off x="838200" y="2061006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Quattrocento Sans"/>
              <a:buNone/>
            </a:pPr>
            <a:br>
              <a:rPr lang="en-US"/>
            </a:br>
            <a:r>
              <a:rPr lang="en-US"/>
              <a:t>Technical Support (420-1N6-AB)</a:t>
            </a:r>
            <a:br>
              <a:rPr lang="en-US"/>
            </a:br>
            <a:r>
              <a:rPr lang="en-US"/>
              <a:t>Virtual Machines</a:t>
            </a:r>
            <a:endParaRPr/>
          </a:p>
        </p:txBody>
      </p:sp>
      <p:sp>
        <p:nvSpPr>
          <p:cNvPr id="128" name="Google Shape;128;p1"/>
          <p:cNvSpPr txBox="1"/>
          <p:nvPr>
            <p:ph idx="1" type="subTitle"/>
          </p:nvPr>
        </p:nvSpPr>
        <p:spPr>
          <a:xfrm>
            <a:off x="838202" y="5110609"/>
            <a:ext cx="11074877" cy="1376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/>
              <a:t>Fall 2023</a:t>
            </a:r>
            <a:endParaRPr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/>
              <a:t>Adapted for Fall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34" name="Google Shape;134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14312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Operating System Virtualization vs Dual Boot</a:t>
            </a:r>
            <a:endParaRPr/>
          </a:p>
          <a:p>
            <a:pPr indent="-214312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Techniques needed for A3:</a:t>
            </a:r>
            <a:endParaRPr/>
          </a:p>
          <a:p>
            <a:pPr indent="-4048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15384"/>
              <a:buChar char="•"/>
            </a:pPr>
            <a:r>
              <a:rPr lang="en-US"/>
              <a:t>Introduction to Microsoft Hyper-V</a:t>
            </a:r>
            <a:endParaRPr/>
          </a:p>
          <a:p>
            <a:pPr indent="-404812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15384"/>
              <a:buChar char="•"/>
            </a:pPr>
            <a:r>
              <a:rPr lang="en-US"/>
              <a:t>Installing Hyper-V</a:t>
            </a:r>
            <a:endParaRPr/>
          </a:p>
          <a:p>
            <a:pPr indent="-404812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15384"/>
              <a:buChar char="•"/>
            </a:pPr>
            <a:r>
              <a:rPr lang="en-US"/>
              <a:t>Creating a Virtual Machine (VM)</a:t>
            </a:r>
            <a:endParaRPr/>
          </a:p>
          <a:p>
            <a:pPr indent="-404812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15384"/>
              <a:buChar char="•"/>
            </a:pPr>
            <a:r>
              <a:rPr lang="en-US"/>
              <a:t>VM Checkpoints</a:t>
            </a:r>
            <a:endParaRPr/>
          </a:p>
          <a:p>
            <a:pPr indent="-404812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Nested Virtualization</a:t>
            </a:r>
            <a:endParaRPr/>
          </a:p>
          <a:p>
            <a:pPr indent="-38100" lvl="0" marL="22860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t/>
            </a:r>
            <a:endParaRPr/>
          </a:p>
          <a:p>
            <a:pPr indent="-38100" lvl="0" marL="2286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Virtualization &amp; MS Hyper-V</a:t>
            </a:r>
            <a:endParaRPr/>
          </a:p>
        </p:txBody>
      </p:sp>
      <p:pic>
        <p:nvPicPr>
          <p:cNvPr descr="Related image" id="140" name="Google Shape;140;p3"/>
          <p:cNvPicPr preferRelativeResize="0"/>
          <p:nvPr/>
        </p:nvPicPr>
        <p:blipFill rotWithShape="1">
          <a:blip r:embed="rId3">
            <a:alphaModFix/>
          </a:blip>
          <a:srcRect b="-1" l="1560" r="31456" t="0"/>
          <a:stretch/>
        </p:blipFill>
        <p:spPr>
          <a:xfrm>
            <a:off x="838200" y="1825625"/>
            <a:ext cx="5181600" cy="435133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141" name="Google Shape;141;p3"/>
          <p:cNvSpPr txBox="1"/>
          <p:nvPr>
            <p:ph idx="2" type="body"/>
          </p:nvPr>
        </p:nvSpPr>
        <p:spPr>
          <a:xfrm>
            <a:off x="6172199" y="1825625"/>
            <a:ext cx="563949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 sz="2200">
                <a:solidFill>
                  <a:srgbClr val="7F7F7F"/>
                </a:solidFill>
              </a:rPr>
              <a:t>As programmers or IT professional the need to run multiple operating systems is essential.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t/>
            </a:r>
            <a:endParaRPr sz="2200">
              <a:solidFill>
                <a:srgbClr val="7F7F7F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 sz="2200">
                <a:solidFill>
                  <a:srgbClr val="7F7F7F"/>
                </a:solidFill>
              </a:rPr>
              <a:t>Why?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US"/>
              <a:t>Experiment with other operating systems.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US"/>
              <a:t>Run software that requires other operating systems or an older versions of Windows.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US"/>
              <a:t>Test software on multiple operating systems. 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 sz="2200">
                <a:solidFill>
                  <a:srgbClr val="7F7F7F"/>
                </a:solidFill>
              </a:rPr>
              <a:t>Hyper-V a solution from Microsoft allows users to run multiple operating systems as virtual machines on Windows.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Virtual OS Architecture with Windows</a:t>
            </a:r>
            <a:endParaRPr/>
          </a:p>
        </p:txBody>
      </p:sp>
      <p:pic>
        <p:nvPicPr>
          <p:cNvPr id="147" name="Google Shape;147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4380" y="1825625"/>
            <a:ext cx="8183240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Hyper-V Installation Requirements</a:t>
            </a:r>
            <a:endParaRPr/>
          </a:p>
        </p:txBody>
      </p:sp>
      <p:sp>
        <p:nvSpPr>
          <p:cNvPr id="153" name="Google Shape;15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/>
              <a:t>Windows Version: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/>
              <a:t>Windows Enterprise, Pro, or Education. (NOT Windows Home)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/>
              <a:t>64-bit Processor with Second Level Address Translation (SLAT)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lang="en-US" sz="2000"/>
              <a:t>(https://en.wikipedia.org/wiki/Second_Level_Address_Translation)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/>
              <a:t>CPU support for VM Monitor Mode Extension.</a:t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/>
              <a:t>Minimum of 4 GB memory.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What OS can run on Hyper-V?</a:t>
            </a:r>
            <a:endParaRPr/>
          </a:p>
        </p:txBody>
      </p:sp>
      <p:sp>
        <p:nvSpPr>
          <p:cNvPr id="159" name="Google Shape;15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Windows supported versions: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en-US" sz="1800"/>
              <a:t>https://docs.microsoft.com/en-us/virtualization/hyper-v-on-windows/about/supported-guest-os</a:t>
            </a:r>
            <a:endParaRPr/>
          </a:p>
          <a:p>
            <a:pPr indent="-38100" lvl="0" marL="2286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Linux \ FreeBSD supported versions: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en-US" sz="1800"/>
              <a:t>https://docs.microsoft.com/en-us/windows-server/virtualization/hyper-v/Supported-Linux-and-FreeBSD-virtual-machines-for-Hyper-V-on-Windows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/>
          <p:nvPr>
            <p:ph type="title"/>
          </p:nvPr>
        </p:nvSpPr>
        <p:spPr>
          <a:xfrm>
            <a:off x="838201" y="2402238"/>
            <a:ext cx="10515599" cy="2187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</a:pPr>
            <a:r>
              <a:rPr lang="en-US"/>
              <a:t>Install Hyper-V on Windows 11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1. BIOS / EUFI Settings</a:t>
            </a:r>
            <a:endParaRPr/>
          </a:p>
        </p:txBody>
      </p:sp>
      <p:sp>
        <p:nvSpPr>
          <p:cNvPr id="170" name="Google Shape;170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Before starting, go to BIOS/EUFI and ensure that hardware virtualization support is enabled. </a:t>
            </a:r>
            <a:endParaRPr/>
          </a:p>
        </p:txBody>
      </p:sp>
      <p:pic>
        <p:nvPicPr>
          <p:cNvPr descr="Image result for virtualization uefi" id="171" name="Google Shape;171;p9"/>
          <p:cNvPicPr preferRelativeResize="0"/>
          <p:nvPr/>
        </p:nvPicPr>
        <p:blipFill rotWithShape="1">
          <a:blip r:embed="rId3">
            <a:alphaModFix/>
          </a:blip>
          <a:srcRect b="9929" l="4646" r="0" t="19259"/>
          <a:stretch/>
        </p:blipFill>
        <p:spPr>
          <a:xfrm>
            <a:off x="3333841" y="3029613"/>
            <a:ext cx="4506874" cy="2510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2" name="Google Shape;17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1248" y="4503788"/>
            <a:ext cx="3531755" cy="2148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2. Enable Hyper-V on Windows 10</a:t>
            </a:r>
            <a:endParaRPr/>
          </a:p>
        </p:txBody>
      </p:sp>
      <p:sp>
        <p:nvSpPr>
          <p:cNvPr id="178" name="Google Shape;178;p10"/>
          <p:cNvSpPr txBox="1"/>
          <p:nvPr>
            <p:ph idx="1" type="body"/>
          </p:nvPr>
        </p:nvSpPr>
        <p:spPr>
          <a:xfrm>
            <a:off x="838199" y="1825625"/>
            <a:ext cx="11090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/>
              <a:t>Enable from PowerShell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/>
              <a:t>Run as administrator.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/>
              <a:t>Command: </a:t>
            </a:r>
            <a:br>
              <a:rPr lang="en-US" sz="2000"/>
            </a:b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Enable-WindowsOptionalFeature -Online -FeatureName Microsoft-Hyper-V –All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 sz="2400"/>
              <a:t>Enable from Settings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/>
              <a:t>Right click on the Windows button and select ‘Apps and Features’.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/>
              <a:t>Select </a:t>
            </a:r>
            <a:r>
              <a:rPr b="1" lang="en-US" sz="2000"/>
              <a:t>Programs and Features</a:t>
            </a:r>
            <a:r>
              <a:rPr lang="en-US" sz="2000"/>
              <a:t> on the right under related settings.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/>
              <a:t>Select </a:t>
            </a:r>
            <a:r>
              <a:rPr b="1" lang="en-US" sz="2000"/>
              <a:t>Turn Windows Features on or off</a:t>
            </a:r>
            <a:r>
              <a:rPr lang="en-US" sz="2000"/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/>
              <a:t>Select </a:t>
            </a:r>
            <a:r>
              <a:rPr b="1" lang="en-US" sz="2000"/>
              <a:t>Hyper-V</a:t>
            </a:r>
            <a:r>
              <a:rPr lang="en-US" sz="2000"/>
              <a:t> and click </a:t>
            </a:r>
            <a:r>
              <a:rPr b="1" lang="en-US" sz="2000"/>
              <a:t>OK</a:t>
            </a:r>
            <a:r>
              <a:rPr lang="en-US" sz="2000"/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/>
              <a:t>After installation is completed computer requires reboot.</a:t>
            </a:r>
            <a:endParaRPr/>
          </a:p>
          <a:p>
            <a:pPr indent="-101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descr="Windows programs and features dialogue box" id="179" name="Google Shape;17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1086" y="3835039"/>
            <a:ext cx="2738058" cy="2429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Hyper-V Manager</a:t>
            </a:r>
            <a:endParaRPr/>
          </a:p>
        </p:txBody>
      </p:sp>
      <p:pic>
        <p:nvPicPr>
          <p:cNvPr id="185" name="Google Shape;185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770" y="1548533"/>
            <a:ext cx="9830460" cy="5055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type="title"/>
          </p:nvPr>
        </p:nvSpPr>
        <p:spPr>
          <a:xfrm>
            <a:off x="838201" y="2402238"/>
            <a:ext cx="10515599" cy="2187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</a:pPr>
            <a:r>
              <a:rPr lang="en-US"/>
              <a:t>Creating a Virtual Machine (VM)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Creating a New VM</a:t>
            </a:r>
            <a:endParaRPr/>
          </a:p>
        </p:txBody>
      </p:sp>
      <p:pic>
        <p:nvPicPr>
          <p:cNvPr id="196" name="Google Shape;196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931" y="1825625"/>
            <a:ext cx="9264138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3"/>
          <p:cNvSpPr/>
          <p:nvPr/>
        </p:nvSpPr>
        <p:spPr>
          <a:xfrm>
            <a:off x="7407479" y="2340528"/>
            <a:ext cx="3598877" cy="1434518"/>
          </a:xfrm>
          <a:prstGeom prst="ellipse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New VM Settings: Name and Location</a:t>
            </a:r>
            <a:endParaRPr/>
          </a:p>
        </p:txBody>
      </p:sp>
      <p:pic>
        <p:nvPicPr>
          <p:cNvPr id="203" name="Google Shape;203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039793"/>
            <a:ext cx="5181600" cy="3923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/>
              <a:t>Name: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US"/>
              <a:t>Choose a meaningful name.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US"/>
              <a:t>Include host OS name and version.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US"/>
              <a:t>Include VM purpose or use.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/>
              <a:t>Change Location if needed.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 sz="3600">
                <a:solidFill>
                  <a:schemeClr val="lt1"/>
                </a:solidFill>
              </a:rPr>
              <a:t>New VM Settings: VM Generations</a:t>
            </a:r>
            <a:endParaRPr/>
          </a:p>
        </p:txBody>
      </p:sp>
      <p:sp>
        <p:nvSpPr>
          <p:cNvPr id="210" name="Google Shape;210;p15"/>
          <p:cNvSpPr txBox="1"/>
          <p:nvPr>
            <p:ph idx="1" type="body"/>
          </p:nvPr>
        </p:nvSpPr>
        <p:spPr>
          <a:xfrm>
            <a:off x="838199" y="1825625"/>
            <a:ext cx="571269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/>
              <a:t>There are two generations of Hyper-V VM: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US"/>
              <a:t>Generation 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US"/>
              <a:t>Generation 2. 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/>
              <a:t>The choice of VM generation depends 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US"/>
              <a:t>Host operating system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US"/>
              <a:t>Guest operating system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US"/>
              <a:t>Boot methods.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t/>
            </a:r>
            <a:endParaRPr/>
          </a:p>
        </p:txBody>
      </p:sp>
      <p:pic>
        <p:nvPicPr>
          <p:cNvPr id="211" name="Google Shape;211;p15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4782" y="2038763"/>
            <a:ext cx="5181600" cy="3925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Advantages Generation 2 VMs</a:t>
            </a:r>
            <a:endParaRPr/>
          </a:p>
        </p:txBody>
      </p:sp>
      <p:sp>
        <p:nvSpPr>
          <p:cNvPr id="217" name="Google Shape;217;p16"/>
          <p:cNvSpPr txBox="1"/>
          <p:nvPr>
            <p:ph idx="1" type="body"/>
          </p:nvPr>
        </p:nvSpPr>
        <p:spPr>
          <a:xfrm>
            <a:off x="838199" y="1825625"/>
            <a:ext cx="1110441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Higher performance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605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1 TB RAM for Generation 1 VMs vs 12 TB RAM for Generation 2 VMs;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605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64 virtual processors for Generation 1 VMs vs 240 virtual processors for Generation 2 VMs.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698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UEFI\BIOS Support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605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Higher security with Secure Boot and Trusted Platform Module.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698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More boot options: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605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PXE boot with synthetic network adapter. 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605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Boot from SCSI disk.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698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Support of VHDX virtual hard disks with higher maximum disk size.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698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Copying Files from Hyper-V Host to VMs without Network Connection of VMs.</a:t>
            </a:r>
            <a:endParaRPr/>
          </a:p>
          <a:p>
            <a:pPr indent="-80962" lvl="0" marL="228600" rtl="0" algn="l">
              <a:lnSpc>
                <a:spcPct val="120000"/>
              </a:lnSpc>
              <a:spcBef>
                <a:spcPts val="698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t/>
            </a:r>
            <a:endParaRPr/>
          </a:p>
          <a:p>
            <a:pPr indent="-80962" lvl="0" marL="228600" rtl="0" algn="l">
              <a:lnSpc>
                <a:spcPct val="120000"/>
              </a:lnSpc>
              <a:spcBef>
                <a:spcPts val="698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New VM Settings: Memory</a:t>
            </a:r>
            <a:endParaRPr/>
          </a:p>
        </p:txBody>
      </p:sp>
      <p:pic>
        <p:nvPicPr>
          <p:cNvPr id="223" name="Google Shape;223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039793"/>
            <a:ext cx="5181600" cy="39230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/>
              <a:t>Dynamic memory is a Microsoft Hyper-V feature allows to handle RAM consumption by host VMs in a flexible way.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US"/>
              <a:t>Memory is allocated to guest-OS VM when needed. Memory is  released when VM goes idle.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Hyper-V Dynamic Memory Configuration</a:t>
            </a:r>
            <a:endParaRPr/>
          </a:p>
        </p:txBody>
      </p:sp>
      <p:sp>
        <p:nvSpPr>
          <p:cNvPr id="230" name="Google Shape;230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Dynamic memory configuration is only available on Windows Server Hyper-V hosts: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663"/>
              </a:spcBef>
              <a:spcAft>
                <a:spcPts val="0"/>
              </a:spcAft>
              <a:buClr>
                <a:srgbClr val="0055A4"/>
              </a:buClr>
              <a:buSzPct val="100000"/>
              <a:buChar char="•"/>
            </a:pPr>
            <a:r>
              <a:rPr lang="en-US">
                <a:solidFill>
                  <a:srgbClr val="0055A4"/>
                </a:solidFill>
              </a:rPr>
              <a:t>Startup RAM</a:t>
            </a:r>
            <a:r>
              <a:rPr lang="en-US"/>
              <a:t>: Amount of RAM assigned to the VM during its startup. 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663"/>
              </a:spcBef>
              <a:spcAft>
                <a:spcPts val="0"/>
              </a:spcAft>
              <a:buClr>
                <a:srgbClr val="0055A4"/>
              </a:buClr>
              <a:buSzPct val="100000"/>
              <a:buChar char="•"/>
            </a:pPr>
            <a:r>
              <a:rPr lang="en-US">
                <a:solidFill>
                  <a:srgbClr val="0055A4"/>
                </a:solidFill>
              </a:rPr>
              <a:t>Minimum RAM</a:t>
            </a:r>
            <a:r>
              <a:rPr lang="en-US"/>
              <a:t>: Minimum amount of RAM that the host should be trying to assign to a VM, when it’s booted. </a:t>
            </a:r>
            <a:endParaRPr/>
          </a:p>
          <a:p>
            <a:pPr indent="-228600" lvl="2" marL="1143000" rtl="0" algn="l">
              <a:lnSpc>
                <a:spcPct val="110000"/>
              </a:lnSpc>
              <a:spcBef>
                <a:spcPts val="51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When multiple VMs are demanding memory, the Hyper-V host can reallocate RAM away from the VM until this minimum RAM value is met.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663"/>
              </a:spcBef>
              <a:spcAft>
                <a:spcPts val="0"/>
              </a:spcAft>
              <a:buClr>
                <a:srgbClr val="0055A4"/>
              </a:buClr>
              <a:buSzPct val="100000"/>
              <a:buChar char="•"/>
            </a:pPr>
            <a:r>
              <a:rPr lang="en-US">
                <a:solidFill>
                  <a:srgbClr val="0055A4"/>
                </a:solidFill>
              </a:rPr>
              <a:t>Maximum RAM</a:t>
            </a:r>
            <a:r>
              <a:rPr lang="en-US"/>
              <a:t>:  Maximum amount of RAM that the host provides to a VM.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663"/>
              </a:spcBef>
              <a:spcAft>
                <a:spcPts val="0"/>
              </a:spcAft>
              <a:buClr>
                <a:srgbClr val="0055A4"/>
              </a:buClr>
              <a:buSzPct val="100000"/>
              <a:buChar char="•"/>
            </a:pPr>
            <a:r>
              <a:rPr lang="en-US">
                <a:solidFill>
                  <a:srgbClr val="0055A4"/>
                </a:solidFill>
              </a:rPr>
              <a:t>Memory buffer</a:t>
            </a:r>
            <a:r>
              <a:rPr lang="en-US"/>
              <a:t>: Percentage of memory that Hyper-V should allocate to the VM as a buffer.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663"/>
              </a:spcBef>
              <a:spcAft>
                <a:spcPts val="0"/>
              </a:spcAft>
              <a:buClr>
                <a:srgbClr val="0055A4"/>
              </a:buClr>
              <a:buSzPct val="100000"/>
              <a:buChar char="•"/>
            </a:pPr>
            <a:r>
              <a:rPr lang="en-US">
                <a:solidFill>
                  <a:srgbClr val="0055A4"/>
                </a:solidFill>
              </a:rPr>
              <a:t>Memory weight</a:t>
            </a:r>
            <a:r>
              <a:rPr lang="en-US"/>
              <a:t>: The priority for this VM compared to other VMs running on the same Hyper-V host.</a:t>
            </a:r>
            <a:endParaRPr/>
          </a:p>
          <a:p>
            <a:pPr indent="-88265" lvl="1" marL="685800" rtl="0" algn="l">
              <a:lnSpc>
                <a:spcPct val="110000"/>
              </a:lnSpc>
              <a:spcBef>
                <a:spcPts val="663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New VM Settings: Networking</a:t>
            </a:r>
            <a:endParaRPr/>
          </a:p>
        </p:txBody>
      </p:sp>
      <p:pic>
        <p:nvPicPr>
          <p:cNvPr id="236" name="Google Shape;236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2321" y="1825625"/>
            <a:ext cx="5747358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Virtual Networks &amp; Switches</a:t>
            </a:r>
            <a:endParaRPr/>
          </a:p>
        </p:txBody>
      </p:sp>
      <p:sp>
        <p:nvSpPr>
          <p:cNvPr id="242" name="Google Shape;242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A VM will need a </a:t>
            </a:r>
            <a:r>
              <a:rPr i="1" lang="en-US">
                <a:solidFill>
                  <a:srgbClr val="0055A4"/>
                </a:solidFill>
              </a:rPr>
              <a:t>virtual network</a:t>
            </a:r>
            <a:r>
              <a:rPr lang="en-US"/>
              <a:t> to share a network with the host computer.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Creating a virtual network is optional if the VM does not need to be connected to the internet or a network.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To create a virtual network, you need to create a </a:t>
            </a:r>
            <a:r>
              <a:rPr i="1" lang="en-US">
                <a:solidFill>
                  <a:srgbClr val="0055A4"/>
                </a:solidFill>
              </a:rPr>
              <a:t>virtual switch</a:t>
            </a:r>
            <a:r>
              <a:rPr lang="en-US"/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A virtual switch allows VMs created on Hyper-V hosts to communicate with other computers or VMs.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Types of Virtual Switches</a:t>
            </a:r>
            <a:endParaRPr/>
          </a:p>
        </p:txBody>
      </p:sp>
      <p:graphicFrame>
        <p:nvGraphicFramePr>
          <p:cNvPr id="248" name="Google Shape;248;p21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{45F96511-E791-4EA2-812C-DA6BB343E5E0}</a:tableStyleId>
              </a:tblPr>
              <a:tblGrid>
                <a:gridCol w="1418450"/>
                <a:gridCol w="9097150"/>
              </a:tblGrid>
              <a:tr h="132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External</a:t>
                      </a:r>
                      <a:endParaRPr sz="1400" u="none" cap="none" strike="noStrike"/>
                    </a:p>
                  </a:txBody>
                  <a:tcPr marT="114300" marB="114300" marR="152400" marL="15240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 u="none" cap="none" strike="noStrike"/>
                        <a:t>Gives VMs access to a physical network to communicate with servers and clients on an external network. 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 u="none" cap="none" strike="noStrike"/>
                        <a:t>Allows VMs on the same Hyper-V server to communicate with each other.</a:t>
                      </a:r>
                      <a:endParaRPr sz="1400" u="none" cap="none" strike="noStrike"/>
                    </a:p>
                  </a:txBody>
                  <a:tcPr marT="114300" marB="114300" marR="152400" marL="152400"/>
                </a:tc>
              </a:tr>
              <a:tr h="127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Internal</a:t>
                      </a:r>
                      <a:endParaRPr sz="1400" u="none" cap="none" strike="noStrike"/>
                    </a:p>
                  </a:txBody>
                  <a:tcPr marT="114300" marB="114300" marR="152400" marL="15240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 u="none" cap="none" strike="noStrike"/>
                        <a:t>Allows communication between VMs on the same Hyper-V server. 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 u="none" cap="none" strike="noStrike"/>
                        <a:t>Allows communication between the VM and the management host operating system.</a:t>
                      </a:r>
                      <a:endParaRPr sz="1400" u="none" cap="none" strike="noStrike"/>
                    </a:p>
                  </a:txBody>
                  <a:tcPr marT="114300" marB="114300" marR="152400" marL="152400"/>
                </a:tc>
              </a:tr>
              <a:tr h="1669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Private</a:t>
                      </a:r>
                      <a:endParaRPr sz="1400" u="none" cap="none" strike="noStrike"/>
                    </a:p>
                  </a:txBody>
                  <a:tcPr marT="114300" marB="114300" marR="152400" marL="15240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 u="none" cap="none" strike="noStrike"/>
                        <a:t>Only allows communication between VMs on the same Hyper-V server. 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 u="none" cap="none" strike="noStrike"/>
                        <a:t>A private network is isolated from all external network traffic on the Hyper-V server.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14300" marB="114300" marR="152400" marL="152400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Creating a Virtual Switch</a:t>
            </a:r>
            <a:endParaRPr/>
          </a:p>
        </p:txBody>
      </p:sp>
      <p:sp>
        <p:nvSpPr>
          <p:cNvPr id="254" name="Google Shape;254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A default virtual switch is created when installing Hyper-V.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The default virtual switch uses an internal networking setting.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To add another virtual switch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Open Hyper-V Manager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Select the Hyper-V host computer name. (right-hand side)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Select </a:t>
            </a:r>
            <a:r>
              <a:rPr b="1" lang="en-US"/>
              <a:t>Action</a:t>
            </a:r>
            <a:r>
              <a:rPr lang="en-US"/>
              <a:t> &gt; </a:t>
            </a:r>
            <a:r>
              <a:rPr b="1" lang="en-US"/>
              <a:t>Virtual Switch Manager</a:t>
            </a:r>
            <a:r>
              <a:rPr lang="en-US"/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Choose the type of virtual switch.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Select </a:t>
            </a:r>
            <a:r>
              <a:rPr b="1" lang="en-US"/>
              <a:t>Create Virtual Switch</a:t>
            </a:r>
            <a:r>
              <a:rPr lang="en-US"/>
              <a:t>.</a:t>
            </a:r>
            <a:endParaRPr/>
          </a:p>
          <a:p>
            <a:pPr indent="-635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 sz="3600">
                <a:solidFill>
                  <a:schemeClr val="lt1"/>
                </a:solidFill>
              </a:rPr>
              <a:t>New VM Settings: Hard Disk</a:t>
            </a:r>
            <a:endParaRPr/>
          </a:p>
        </p:txBody>
      </p:sp>
      <p:sp>
        <p:nvSpPr>
          <p:cNvPr id="260" name="Google Shape;260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/>
              <a:t>VHDs are virtualized hard disk </a:t>
            </a:r>
            <a:r>
              <a:rPr i="1" lang="en-US">
                <a:solidFill>
                  <a:srgbClr val="0055A4"/>
                </a:solidFill>
              </a:rPr>
              <a:t>files</a:t>
            </a:r>
            <a:r>
              <a:rPr lang="en-US"/>
              <a:t>.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/>
              <a:t>Once mounted to an OS, they will appear and operate pretty much identically to a physical hard drive. 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/>
              <a:t>A VHD is commonly accessed, managed and installed on VMs.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t/>
            </a:r>
            <a:endParaRPr/>
          </a:p>
        </p:txBody>
      </p:sp>
      <p:pic>
        <p:nvPicPr>
          <p:cNvPr id="261" name="Google Shape;261;p23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2038763"/>
            <a:ext cx="5181600" cy="3925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VHDX</a:t>
            </a:r>
            <a:endParaRPr/>
          </a:p>
        </p:txBody>
      </p:sp>
      <p:sp>
        <p:nvSpPr>
          <p:cNvPr id="267" name="Google Shape;267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VHDX is a new virtual hard disk format introduced in Windows Server 2012.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Support for virtual hard disk storage capacity of up to 64 terabytes.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Protection against data corruption during power failures by logging updates to the VHDX metadata structures.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Ability to store custom metadata about a file, which a user might want to record, such as operating system version or patches applied.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Types of VHD</a:t>
            </a:r>
            <a:endParaRPr/>
          </a:p>
        </p:txBody>
      </p:sp>
      <p:sp>
        <p:nvSpPr>
          <p:cNvPr id="273" name="Google Shape;27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Fixed virtual hard disk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22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VHD size is allocated when the VHD file is created.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22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Recommended on VMs that require many I/O operations.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833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Dynamic virtual hard disk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22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Space for the VHD is allocated on demand.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22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The blocks in the disk start as unallocated blocks and are not backed by any actual space in the file.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833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Differencing virtual hard disk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22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Points to a parent VHD file.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22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Contains block data that represents changes to a parent VHD.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22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Changes can be reversed if necessary.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New VM Settings: OS Installation</a:t>
            </a:r>
            <a:endParaRPr/>
          </a:p>
        </p:txBody>
      </p:sp>
      <p:pic>
        <p:nvPicPr>
          <p:cNvPr id="279" name="Google Shape;279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039793"/>
            <a:ext cx="5181600" cy="392300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89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/>
              <a:t>An OS can be installed on VM using an ISO file of the OS. 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/>
              <a:t>OS installation can be done through other boot option later.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US"/>
              <a:t>Network boot.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US"/>
              <a:t>Attached bootable devices.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"/>
          <p:cNvSpPr txBox="1"/>
          <p:nvPr>
            <p:ph type="title"/>
          </p:nvPr>
        </p:nvSpPr>
        <p:spPr>
          <a:xfrm>
            <a:off x="838201" y="2402238"/>
            <a:ext cx="10515599" cy="2187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</a:pPr>
            <a:r>
              <a:rPr lang="en-US"/>
              <a:t>VM Checkpoints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What are VM Checkpoints?</a:t>
            </a:r>
            <a:endParaRPr/>
          </a:p>
        </p:txBody>
      </p:sp>
      <p:sp>
        <p:nvSpPr>
          <p:cNvPr id="291" name="Google Shape;291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A VM </a:t>
            </a:r>
            <a:r>
              <a:rPr lang="en-US">
                <a:solidFill>
                  <a:srgbClr val="0055A4"/>
                </a:solidFill>
              </a:rPr>
              <a:t>checkpoint</a:t>
            </a:r>
            <a:r>
              <a:rPr lang="en-US"/>
              <a:t> is a saved state of the virtual machine.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765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Checkpoints in Hyper-V are used to revert virtual machines to a previous state.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765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Checkpoint are usually created </a:t>
            </a:r>
            <a:r>
              <a:rPr i="1" lang="en-US">
                <a:solidFill>
                  <a:srgbClr val="0055A4"/>
                </a:solidFill>
              </a:rPr>
              <a:t>before</a:t>
            </a:r>
            <a:r>
              <a:rPr lang="en-US"/>
              <a:t>: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663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Making software configuration changes.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663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Applying a software update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663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Installing new software. 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765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/>
              <a:t>If the changes added to the system were to cause any issue, the virtual machine can be reverted to the state at which it was when then checkpoint was taken.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Checkpoint Types</a:t>
            </a:r>
            <a:endParaRPr/>
          </a:p>
        </p:txBody>
      </p:sp>
      <p:sp>
        <p:nvSpPr>
          <p:cNvPr id="297" name="Google Shape;297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Standard Checkpoints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Takes a snapshot of the VM and VM’s memory state.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A snapshot is not a full backup.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None/>
            </a:pPr>
            <a:r>
              <a:rPr lang="en-US"/>
              <a:t>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Production Checkpoints: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Creates a data-consistent backup of the virtual machine.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The VM’s memory snapshot is not taken.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0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 sz="3600">
                <a:solidFill>
                  <a:schemeClr val="lt1"/>
                </a:solidFill>
              </a:rPr>
              <a:t>Changing Checkpoint Type</a:t>
            </a:r>
            <a:endParaRPr/>
          </a:p>
        </p:txBody>
      </p:sp>
      <p:sp>
        <p:nvSpPr>
          <p:cNvPr id="303" name="Google Shape;303;p30"/>
          <p:cNvSpPr txBox="1"/>
          <p:nvPr>
            <p:ph idx="1" type="body"/>
          </p:nvPr>
        </p:nvSpPr>
        <p:spPr>
          <a:xfrm>
            <a:off x="838200" y="1825625"/>
            <a:ext cx="679103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 sz="2200">
                <a:solidFill>
                  <a:srgbClr val="7F7F7F"/>
                </a:solidFill>
              </a:rPr>
              <a:t>Open Hyper-V Manager.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 sz="2200">
                <a:solidFill>
                  <a:srgbClr val="7F7F7F"/>
                </a:solidFill>
              </a:rPr>
              <a:t>Right click on a virtual machine and select </a:t>
            </a:r>
            <a:r>
              <a:rPr b="1" lang="en-US" sz="2200">
                <a:solidFill>
                  <a:srgbClr val="7F7F7F"/>
                </a:solidFill>
              </a:rPr>
              <a:t>settings</a:t>
            </a:r>
            <a:r>
              <a:rPr lang="en-US" sz="2200">
                <a:solidFill>
                  <a:srgbClr val="7F7F7F"/>
                </a:solidFill>
              </a:rPr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 sz="2200">
                <a:solidFill>
                  <a:srgbClr val="7F7F7F"/>
                </a:solidFill>
              </a:rPr>
              <a:t>Under Management select </a:t>
            </a:r>
            <a:r>
              <a:rPr b="1" lang="en-US" sz="2200">
                <a:solidFill>
                  <a:srgbClr val="7F7F7F"/>
                </a:solidFill>
              </a:rPr>
              <a:t>Checkpoints</a:t>
            </a:r>
            <a:r>
              <a:rPr lang="en-US" sz="2200">
                <a:solidFill>
                  <a:srgbClr val="7F7F7F"/>
                </a:solidFill>
              </a:rPr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</a:pPr>
            <a:r>
              <a:rPr lang="en-US" sz="2200">
                <a:solidFill>
                  <a:srgbClr val="7F7F7F"/>
                </a:solidFill>
              </a:rPr>
              <a:t>Select the desired checkpoint type.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</a:pPr>
            <a:r>
              <a:t/>
            </a:r>
            <a:endParaRPr sz="2200">
              <a:solidFill>
                <a:srgbClr val="7F7F7F"/>
              </a:solidFill>
            </a:endParaRPr>
          </a:p>
        </p:txBody>
      </p:sp>
      <p:pic>
        <p:nvPicPr>
          <p:cNvPr id="304" name="Google Shape;30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4782" y="2649437"/>
            <a:ext cx="5181600" cy="375666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Creating Checkpoints</a:t>
            </a:r>
            <a:endParaRPr/>
          </a:p>
        </p:txBody>
      </p:sp>
      <p:sp>
        <p:nvSpPr>
          <p:cNvPr id="310" name="Google Shape;310;p31"/>
          <p:cNvSpPr txBox="1"/>
          <p:nvPr>
            <p:ph idx="1" type="body"/>
          </p:nvPr>
        </p:nvSpPr>
        <p:spPr>
          <a:xfrm>
            <a:off x="838200" y="1825625"/>
            <a:ext cx="1081809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In Hyper-V Manager, select the virtual machine.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Right-click the name of the virtual machine, and then click </a:t>
            </a:r>
            <a:r>
              <a:rPr b="1" lang="en-US"/>
              <a:t>Checkpoint</a:t>
            </a:r>
            <a:r>
              <a:rPr lang="en-US"/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When the process is complete, the checkpoint will appear under </a:t>
            </a:r>
            <a:r>
              <a:rPr b="1" lang="en-US"/>
              <a:t>Checkpoints</a:t>
            </a:r>
            <a:r>
              <a:rPr lang="en-US"/>
              <a:t> in the </a:t>
            </a:r>
            <a:r>
              <a:rPr b="1" lang="en-US"/>
              <a:t>Hyper-V Manager</a:t>
            </a:r>
            <a:r>
              <a:rPr lang="en-US"/>
              <a:t>.</a:t>
            </a:r>
            <a:endParaRPr/>
          </a:p>
          <a:p>
            <a:pPr indent="-38100" lvl="0" marL="2286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Note: The created checkpoint will be of the type configured for the virtual machine settings.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Applying a Checkpoint</a:t>
            </a:r>
            <a:endParaRPr/>
          </a:p>
        </p:txBody>
      </p:sp>
      <p:sp>
        <p:nvSpPr>
          <p:cNvPr id="316" name="Google Shape;316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In </a:t>
            </a:r>
            <a:r>
              <a:rPr b="1" lang="en-US"/>
              <a:t>Hyper-V Manager</a:t>
            </a:r>
            <a:r>
              <a:rPr lang="en-US"/>
              <a:t>, select the virtual machine.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In the Checkpoints section, right-click the checkpoint that you want to use and click </a:t>
            </a:r>
            <a:r>
              <a:rPr b="1" lang="en-US"/>
              <a:t>Apply</a:t>
            </a:r>
            <a:r>
              <a:rPr lang="en-US"/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A dialog box appears with the following options: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b="1" lang="en-US"/>
              <a:t>Create Checkpoint and Apply</a:t>
            </a:r>
            <a:r>
              <a:rPr lang="en-US"/>
              <a:t>: </a:t>
            </a:r>
            <a:br>
              <a:rPr lang="en-US"/>
            </a:br>
            <a:r>
              <a:rPr lang="en-US"/>
              <a:t>Creates a new checkpoint of the VM before it applies the earlier checkpoint.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b="1" lang="en-US"/>
              <a:t>Apply</a:t>
            </a:r>
            <a:r>
              <a:rPr lang="en-US"/>
              <a:t>: </a:t>
            </a:r>
            <a:br>
              <a:rPr lang="en-US"/>
            </a:br>
            <a:r>
              <a:rPr lang="en-US"/>
              <a:t>Applies only the checkpoint that you have chosen. You cannot undo this action.</a:t>
            </a:r>
            <a:endParaRPr/>
          </a:p>
          <a:p>
            <a:pPr indent="-38100" lvl="0" marL="2286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3"/>
          <p:cNvSpPr txBox="1"/>
          <p:nvPr>
            <p:ph type="title"/>
          </p:nvPr>
        </p:nvSpPr>
        <p:spPr>
          <a:xfrm>
            <a:off x="838201" y="2402238"/>
            <a:ext cx="10515599" cy="2187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</a:pPr>
            <a:r>
              <a:rPr lang="en-US"/>
              <a:t>Nested Virtualization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4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5781" y="300765"/>
            <a:ext cx="8340437" cy="6256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5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Nested Virtualization</a:t>
            </a:r>
            <a:endParaRPr/>
          </a:p>
        </p:txBody>
      </p:sp>
      <p:sp>
        <p:nvSpPr>
          <p:cNvPr id="332" name="Google Shape;332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Nested virtualization is a feature that allows the user to run a virtual machine from within another virtual machine.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Run Hyper-V inside of a Hyper-V virtual machine (VM). </a:t>
            </a:r>
            <a:endParaRPr/>
          </a:p>
          <a:p>
            <a:pPr indent="-635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Useful for: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Running a phone emulators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Testing configurations that ordinarily require several hosts.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6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Nested Virtualization Diagram</a:t>
            </a:r>
            <a:endParaRPr/>
          </a:p>
        </p:txBody>
      </p:sp>
      <p:pic>
        <p:nvPicPr>
          <p:cNvPr id="338" name="Google Shape;338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3037" y="1834356"/>
            <a:ext cx="9305925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7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Nested Virtualization Complications</a:t>
            </a:r>
            <a:endParaRPr/>
          </a:p>
        </p:txBody>
      </p:sp>
      <p:sp>
        <p:nvSpPr>
          <p:cNvPr id="344" name="Google Shape;344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Hardware Limitations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CPU allocation.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Memory allocation.</a:t>
            </a:r>
            <a:endParaRPr/>
          </a:p>
          <a:p>
            <a:pPr indent="-635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Network Connections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</a:pPr>
            <a:r>
              <a:rPr lang="en-US"/>
              <a:t>The host VM needs to differentiate between its own network traffic and nested VM. </a:t>
            </a:r>
            <a:endParaRPr/>
          </a:p>
          <a:p>
            <a:pPr indent="-38100" lvl="0" marL="2286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4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How to enable copy and paste</a:t>
            </a:r>
            <a:endParaRPr/>
          </a:p>
        </p:txBody>
      </p:sp>
      <p:pic>
        <p:nvPicPr>
          <p:cNvPr descr="Open Hyper-V host settings" id="350" name="Google Shape;35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839" y="1818586"/>
            <a:ext cx="5294152" cy="3920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low enhanced session mode on Hyper-V" id="351" name="Google Shape;351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461" y="1737115"/>
            <a:ext cx="4462244" cy="4245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5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Network Switch</a:t>
            </a:r>
            <a:endParaRPr/>
          </a:p>
        </p:txBody>
      </p:sp>
      <p:sp>
        <p:nvSpPr>
          <p:cNvPr id="357" name="Google Shape;357;p55"/>
          <p:cNvSpPr txBox="1"/>
          <p:nvPr>
            <p:ph idx="1" type="body"/>
          </p:nvPr>
        </p:nvSpPr>
        <p:spPr>
          <a:xfrm>
            <a:off x="444500" y="1825625"/>
            <a:ext cx="10744200" cy="160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42857"/>
              <a:buChar char="•"/>
            </a:pPr>
            <a:r>
              <a:rPr lang="en-US"/>
              <a:t>Device which connects devices within a network and forwards data packets to and from a device.</a:t>
            </a:r>
            <a:endParaRPr/>
          </a:p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42857"/>
              <a:buChar char="•"/>
            </a:pPr>
            <a:r>
              <a:rPr lang="en-US"/>
              <a:t>It uses the MAC address (physical address given by the manufacturer and uniquely identifies each device) of the computer.</a:t>
            </a:r>
            <a:endParaRPr/>
          </a:p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42857"/>
              <a:buChar char="•"/>
            </a:pPr>
            <a:r>
              <a:rPr lang="en-US"/>
              <a:t>More on that on the </a:t>
            </a:r>
            <a:r>
              <a:rPr i="1" lang="en-US"/>
              <a:t>Introduction to Networking </a:t>
            </a:r>
            <a:r>
              <a:rPr lang="en-US"/>
              <a:t>Lecture</a:t>
            </a:r>
            <a:endParaRPr/>
          </a:p>
        </p:txBody>
      </p:sp>
      <p:pic>
        <p:nvPicPr>
          <p:cNvPr descr="Network Switch Icon Images – Browse 28,240 Stock Photos, Vectors, and Video  | Adobe Stock" id="358" name="Google Shape;358;p55"/>
          <p:cNvPicPr preferRelativeResize="0"/>
          <p:nvPr/>
        </p:nvPicPr>
        <p:blipFill rotWithShape="1">
          <a:blip r:embed="rId3">
            <a:alphaModFix/>
          </a:blip>
          <a:srcRect b="1804" l="489" r="-488" t="28685"/>
          <a:stretch/>
        </p:blipFill>
        <p:spPr>
          <a:xfrm>
            <a:off x="8697636" y="4412609"/>
            <a:ext cx="3429000" cy="2383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Virtual Switch</a:t>
            </a:r>
            <a:endParaRPr/>
          </a:p>
        </p:txBody>
      </p:sp>
      <p:sp>
        <p:nvSpPr>
          <p:cNvPr id="364" name="Google Shape;364;p56"/>
          <p:cNvSpPr txBox="1"/>
          <p:nvPr>
            <p:ph idx="1" type="body"/>
          </p:nvPr>
        </p:nvSpPr>
        <p:spPr>
          <a:xfrm>
            <a:off x="838200" y="1825625"/>
            <a:ext cx="51181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Similar to physical switches.</a:t>
            </a:r>
            <a:endParaRPr/>
          </a:p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Emulates a switch in Hyper-V to connect the Virtual Machine to the Internet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descr="How a virtual switch works" id="365" name="Google Shape;36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1700" y="2166489"/>
            <a:ext cx="5748642" cy="276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7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 sz="2800"/>
              <a:t>Step 1 : Open the Switch Manager and add an External Switch</a:t>
            </a:r>
            <a:endParaRPr/>
          </a:p>
        </p:txBody>
      </p:sp>
      <p:pic>
        <p:nvPicPr>
          <p:cNvPr id="371" name="Google Shape;371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508" y="1941923"/>
            <a:ext cx="4130731" cy="314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1119" y="1941923"/>
            <a:ext cx="3329031" cy="315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24768" y="1929342"/>
            <a:ext cx="3329031" cy="3166526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57"/>
          <p:cNvSpPr txBox="1"/>
          <p:nvPr/>
        </p:nvSpPr>
        <p:spPr>
          <a:xfrm>
            <a:off x="1652631" y="5641596"/>
            <a:ext cx="39549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Internet connection lost momentarily!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8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Step 2: (optional) Assign an Ip Address to the vSwitch</a:t>
            </a:r>
            <a:endParaRPr/>
          </a:p>
        </p:txBody>
      </p:sp>
      <p:pic>
        <p:nvPicPr>
          <p:cNvPr id="380" name="Google Shape;38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836" y="1732556"/>
            <a:ext cx="5218180" cy="3988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5238" y="1925273"/>
            <a:ext cx="4410601" cy="4207603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8"/>
          <p:cNvSpPr/>
          <p:nvPr/>
        </p:nvSpPr>
        <p:spPr>
          <a:xfrm>
            <a:off x="6442744" y="4037462"/>
            <a:ext cx="1015068" cy="251669"/>
          </a:xfrm>
          <a:prstGeom prst="rect">
            <a:avLst/>
          </a:prstGeom>
          <a:noFill/>
          <a:ln cap="flat" cmpd="sng" w="57150">
            <a:solidFill>
              <a:srgbClr val="FF94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8"/>
          <p:cNvSpPr/>
          <p:nvPr/>
        </p:nvSpPr>
        <p:spPr>
          <a:xfrm>
            <a:off x="7979328" y="2738567"/>
            <a:ext cx="627777" cy="176607"/>
          </a:xfrm>
          <a:prstGeom prst="rect">
            <a:avLst/>
          </a:prstGeom>
          <a:noFill/>
          <a:ln cap="flat" cmpd="sng" w="57150">
            <a:solidFill>
              <a:srgbClr val="FF94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9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Sharing file between VM and Host PC</a:t>
            </a:r>
            <a:endParaRPr/>
          </a:p>
        </p:txBody>
      </p:sp>
      <p:sp>
        <p:nvSpPr>
          <p:cNvPr id="389" name="Google Shape;389;p5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Step 1: On </a:t>
            </a:r>
            <a:r>
              <a:rPr lang="en-US">
                <a:solidFill>
                  <a:srgbClr val="FF0000"/>
                </a:solidFill>
              </a:rPr>
              <a:t>Host Machine</a:t>
            </a:r>
            <a:r>
              <a:rPr lang="en-US"/>
              <a:t>: open the Control Panel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390" name="Google Shape;39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017" y="3130067"/>
            <a:ext cx="4254500" cy="223721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59"/>
          <p:cNvSpPr/>
          <p:nvPr/>
        </p:nvSpPr>
        <p:spPr>
          <a:xfrm>
            <a:off x="1231394" y="4001294"/>
            <a:ext cx="906439" cy="176607"/>
          </a:xfrm>
          <a:prstGeom prst="rect">
            <a:avLst/>
          </a:prstGeom>
          <a:noFill/>
          <a:ln cap="flat" cmpd="sng" w="57150">
            <a:solidFill>
              <a:srgbClr val="FF94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2" name="Google Shape;392;p59"/>
          <p:cNvPicPr preferRelativeResize="0"/>
          <p:nvPr/>
        </p:nvPicPr>
        <p:blipFill rotWithShape="1">
          <a:blip r:embed="rId4">
            <a:alphaModFix/>
          </a:blip>
          <a:srcRect b="0" l="0" r="48085" t="0"/>
          <a:stretch/>
        </p:blipFill>
        <p:spPr>
          <a:xfrm>
            <a:off x="4693865" y="3130067"/>
            <a:ext cx="2206468" cy="2237214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59"/>
          <p:cNvSpPr/>
          <p:nvPr/>
        </p:nvSpPr>
        <p:spPr>
          <a:xfrm>
            <a:off x="5466592" y="3467894"/>
            <a:ext cx="1010408" cy="176607"/>
          </a:xfrm>
          <a:prstGeom prst="rect">
            <a:avLst/>
          </a:prstGeom>
          <a:noFill/>
          <a:ln cap="flat" cmpd="sng" w="57150">
            <a:solidFill>
              <a:srgbClr val="FF94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94681" y="3130067"/>
            <a:ext cx="4793415" cy="2508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9"/>
          <p:cNvSpPr/>
          <p:nvPr/>
        </p:nvSpPr>
        <p:spPr>
          <a:xfrm>
            <a:off x="7058326" y="3644502"/>
            <a:ext cx="654807" cy="144332"/>
          </a:xfrm>
          <a:prstGeom prst="rect">
            <a:avLst/>
          </a:prstGeom>
          <a:noFill/>
          <a:ln cap="flat" cmpd="sng" w="57150">
            <a:solidFill>
              <a:srgbClr val="FF94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0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Activity: Sharing file between VM and Host PC</a:t>
            </a:r>
            <a:endParaRPr/>
          </a:p>
        </p:txBody>
      </p:sp>
      <p:sp>
        <p:nvSpPr>
          <p:cNvPr id="401" name="Google Shape;401;p60"/>
          <p:cNvSpPr txBox="1"/>
          <p:nvPr>
            <p:ph idx="1" type="body"/>
          </p:nvPr>
        </p:nvSpPr>
        <p:spPr>
          <a:xfrm>
            <a:off x="838200" y="1825625"/>
            <a:ext cx="646853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Step 2: Right-click </a:t>
            </a:r>
            <a:r>
              <a:rPr b="1" lang="en-US">
                <a:solidFill>
                  <a:srgbClr val="0070C0"/>
                </a:solidFill>
              </a:rPr>
              <a:t>vEthernet</a:t>
            </a:r>
            <a:r>
              <a:rPr lang="en-US"/>
              <a:t> (name of switch) -&gt; Properties </a:t>
            </a:r>
            <a:r>
              <a:rPr lang="en-US">
                <a:solidFill>
                  <a:srgbClr val="FF0000"/>
                </a:solidFill>
              </a:rPr>
              <a:t>(raise your hand to get help with Admin permissions)</a:t>
            </a:r>
            <a:endParaRPr/>
          </a:p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Step 3: find and click on Internet Protocol Version 4 (TCP/IPv4) -&gt; click Properties</a:t>
            </a:r>
            <a:endParaRPr/>
          </a:p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Step 4: Select “Use the following IP address” and enter 🡺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402" name="Google Shape;40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1364" y="2051595"/>
            <a:ext cx="3387069" cy="3899398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60"/>
          <p:cNvSpPr/>
          <p:nvPr/>
        </p:nvSpPr>
        <p:spPr>
          <a:xfrm>
            <a:off x="7399868" y="3361267"/>
            <a:ext cx="3390900" cy="999066"/>
          </a:xfrm>
          <a:prstGeom prst="rect">
            <a:avLst/>
          </a:prstGeom>
          <a:noFill/>
          <a:ln cap="flat" cmpd="sng" w="57150">
            <a:solidFill>
              <a:srgbClr val="FF94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1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Activity: Sharing file between VM and Host PC</a:t>
            </a:r>
            <a:endParaRPr/>
          </a:p>
        </p:txBody>
      </p:sp>
      <p:sp>
        <p:nvSpPr>
          <p:cNvPr id="409" name="Google Shape;409;p61"/>
          <p:cNvSpPr txBox="1"/>
          <p:nvPr>
            <p:ph idx="1" type="body"/>
          </p:nvPr>
        </p:nvSpPr>
        <p:spPr>
          <a:xfrm>
            <a:off x="838200" y="1825625"/>
            <a:ext cx="564726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Step 5: on </a:t>
            </a:r>
            <a:r>
              <a:rPr lang="en-US">
                <a:solidFill>
                  <a:srgbClr val="00B050"/>
                </a:solidFill>
              </a:rPr>
              <a:t>Guest Machine</a:t>
            </a:r>
            <a:endParaRPr/>
          </a:p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Open Settings&gt; Network &amp; Internet &gt; Advanced network settings &gt;  Advanced sharing settings &gt; Private Networks -&gt; enable all -&gt; Press okay and close window</a:t>
            </a:r>
            <a:endParaRPr/>
          </a:p>
        </p:txBody>
      </p:sp>
      <p:pic>
        <p:nvPicPr>
          <p:cNvPr id="410" name="Google Shape;41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5367" y="1950805"/>
            <a:ext cx="4735500" cy="4226158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61"/>
          <p:cNvSpPr/>
          <p:nvPr/>
        </p:nvSpPr>
        <p:spPr>
          <a:xfrm>
            <a:off x="8802459" y="5608769"/>
            <a:ext cx="2758774" cy="326364"/>
          </a:xfrm>
          <a:prstGeom prst="rect">
            <a:avLst/>
          </a:prstGeom>
          <a:noFill/>
          <a:ln cap="flat" cmpd="sng" w="57150">
            <a:solidFill>
              <a:srgbClr val="FF94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2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Activity: Sharing file between VM and Host PC</a:t>
            </a:r>
            <a:endParaRPr/>
          </a:p>
        </p:txBody>
      </p:sp>
      <p:sp>
        <p:nvSpPr>
          <p:cNvPr id="417" name="Google Shape;417;p62"/>
          <p:cNvSpPr txBox="1"/>
          <p:nvPr>
            <p:ph idx="1" type="body"/>
          </p:nvPr>
        </p:nvSpPr>
        <p:spPr>
          <a:xfrm>
            <a:off x="838200" y="1825625"/>
            <a:ext cx="564726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Step 6: on </a:t>
            </a:r>
            <a:r>
              <a:rPr lang="en-US">
                <a:solidFill>
                  <a:srgbClr val="00B050"/>
                </a:solidFill>
              </a:rPr>
              <a:t>Guest Machine</a:t>
            </a:r>
            <a:endParaRPr/>
          </a:p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Change the Adapter Options of the </a:t>
            </a:r>
            <a:r>
              <a:rPr lang="en-US">
                <a:solidFill>
                  <a:srgbClr val="1E5F9F"/>
                </a:solidFill>
              </a:rPr>
              <a:t>Ethernet</a:t>
            </a:r>
            <a:r>
              <a:rPr lang="en-US"/>
              <a:t> switch: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418" name="Google Shape;41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1610" y="1993995"/>
            <a:ext cx="3645423" cy="4182968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62"/>
          <p:cNvSpPr/>
          <p:nvPr/>
        </p:nvSpPr>
        <p:spPr>
          <a:xfrm>
            <a:off x="7399868" y="3361267"/>
            <a:ext cx="3390900" cy="999066"/>
          </a:xfrm>
          <a:prstGeom prst="rect">
            <a:avLst/>
          </a:prstGeom>
          <a:noFill/>
          <a:ln cap="flat" cmpd="sng" w="57150">
            <a:solidFill>
              <a:srgbClr val="FF94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3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Activity: Sharing file between VM and Host PC</a:t>
            </a:r>
            <a:endParaRPr/>
          </a:p>
        </p:txBody>
      </p:sp>
      <p:sp>
        <p:nvSpPr>
          <p:cNvPr id="425" name="Google Shape;425;p63"/>
          <p:cNvSpPr txBox="1"/>
          <p:nvPr>
            <p:ph idx="1" type="body"/>
          </p:nvPr>
        </p:nvSpPr>
        <p:spPr>
          <a:xfrm>
            <a:off x="838200" y="1825625"/>
            <a:ext cx="667596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Step 7: Let’s now create a folder </a:t>
            </a:r>
            <a:r>
              <a:rPr b="1" i="1" lang="en-US" sz="2400" u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C:\Users\&lt;yourID&gt;\Meals</a:t>
            </a:r>
            <a:r>
              <a:rPr b="1" i="1" lang="en-US" sz="1800" u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/>
              <a:t>on the Host and share it with the Guest PC.</a:t>
            </a:r>
            <a:endParaRPr/>
          </a:p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Step 8: Add a fille inside the folder breakfast.txt</a:t>
            </a:r>
            <a:endParaRPr/>
          </a:p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Step 9: Right click the folder and click on </a:t>
            </a:r>
            <a:r>
              <a:rPr i="1" lang="en-US"/>
              <a:t>Properties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426" name="Google Shape;426;p63"/>
          <p:cNvPicPr preferRelativeResize="0"/>
          <p:nvPr/>
        </p:nvPicPr>
        <p:blipFill rotWithShape="1">
          <a:blip r:embed="rId3">
            <a:alphaModFix/>
          </a:blip>
          <a:srcRect b="0" l="0" r="929" t="1007"/>
          <a:stretch/>
        </p:blipFill>
        <p:spPr>
          <a:xfrm>
            <a:off x="7670640" y="1825625"/>
            <a:ext cx="3623893" cy="4473544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63"/>
          <p:cNvSpPr/>
          <p:nvPr/>
        </p:nvSpPr>
        <p:spPr>
          <a:xfrm>
            <a:off x="7780866" y="3361267"/>
            <a:ext cx="1185333" cy="334433"/>
          </a:xfrm>
          <a:prstGeom prst="rect">
            <a:avLst/>
          </a:prstGeom>
          <a:noFill/>
          <a:ln cap="flat" cmpd="sng" w="57150">
            <a:solidFill>
              <a:srgbClr val="FF94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4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Activity: Sharing file between VM and Host PC</a:t>
            </a:r>
            <a:endParaRPr/>
          </a:p>
        </p:txBody>
      </p:sp>
      <p:pic>
        <p:nvPicPr>
          <p:cNvPr id="433" name="Google Shape;433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2832" y="1774840"/>
            <a:ext cx="5410669" cy="4519052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64"/>
          <p:cNvSpPr txBox="1"/>
          <p:nvPr>
            <p:ph idx="1" type="body"/>
          </p:nvPr>
        </p:nvSpPr>
        <p:spPr>
          <a:xfrm>
            <a:off x="838200" y="1825625"/>
            <a:ext cx="541066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Step 10: Select </a:t>
            </a:r>
            <a:r>
              <a:rPr i="1" lang="en-US"/>
              <a:t>Everyone</a:t>
            </a:r>
            <a:endParaRPr/>
          </a:p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This means anyone on the same network will be able to see this folder.</a:t>
            </a:r>
            <a:endParaRPr/>
          </a:p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/>
              <a:t>Note: You could also add other users of this machine.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8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Resources</a:t>
            </a:r>
            <a:endParaRPr/>
          </a:p>
        </p:txBody>
      </p:sp>
      <p:sp>
        <p:nvSpPr>
          <p:cNvPr id="440" name="Google Shape;440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</a:pPr>
            <a:r>
              <a:rPr lang="en-US" sz="1600"/>
              <a:t>https://docs.microsoft.com/en-us/virtualization/hyper-v-on-windows/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</a:pPr>
            <a:r>
              <a:rPr lang="en-US" sz="1600"/>
              <a:t>https://docs.microsoft.com/en-us/windows-server/administration/performance-tuning/role/hyper-v-server/storage-io-performance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</a:pPr>
            <a:r>
              <a:rPr lang="en-US" sz="1600"/>
              <a:t>https://docs.microsoft.com/en-us/windows-server/storage/disk-management/manage-virtual-hard-disks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</a:pPr>
            <a:r>
              <a:rPr lang="en-US" sz="1600"/>
              <a:t>https://docs.microsoft.com/en-us/virtualization/hyper-v-on-windows/quick-start/connect-to-network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</a:pPr>
            <a:r>
              <a:rPr lang="en-US" sz="1600"/>
              <a:t>https://docs.microsoft.com/en-us/windows-server/virtualization/hyper-v/get-started/create-a-virtual-switch-for-hyper-v-virtual-machines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</a:pPr>
            <a:r>
              <a:rPr lang="en-US" sz="1600"/>
              <a:t>https://www.veeam.com/blog/hyper-v-dynamic-memory-managing-vm-ram.html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</a:pPr>
            <a:r>
              <a:rPr lang="en-US" sz="1600" u="sng">
                <a:solidFill>
                  <a:schemeClr val="hlink"/>
                </a:solidFill>
                <a:hlinkClick r:id="rId3"/>
              </a:rPr>
              <a:t>https://www.nakivo.com/blog/hyper-v-generation-1-vs-2/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00"/>
              <a:buChar char="-"/>
            </a:pPr>
            <a:r>
              <a:rPr lang="en-US" sz="1600" u="sng">
                <a:solidFill>
                  <a:schemeClr val="hlink"/>
                </a:solidFill>
                <a:hlinkClick r:id="rId4"/>
              </a:rPr>
              <a:t>https://docs.microsoft.com/en-ca/sysinternals/downloads/process-explorer</a:t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sz="1600" u="sng">
                <a:solidFill>
                  <a:schemeClr val="hlink"/>
                </a:solidFill>
                <a:hlinkClick r:id="rId5"/>
              </a:rPr>
              <a:t>https://superuser.com/a/1301826</a:t>
            </a:r>
            <a:endParaRPr sz="1600"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27000" lvl="0" marL="228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  <a:p>
            <a:pPr indent="-127000" lvl="0" marL="228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5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Additional Challenge</a:t>
            </a:r>
            <a:endParaRPr/>
          </a:p>
        </p:txBody>
      </p:sp>
      <p:sp>
        <p:nvSpPr>
          <p:cNvPr id="446" name="Google Shape;446;p6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88208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08108"/>
              <a:buChar char="•"/>
            </a:pPr>
            <a:r>
              <a:rPr lang="en-US"/>
              <a:t>Create a Linux Virtual Machine</a:t>
            </a:r>
            <a:endParaRPr/>
          </a:p>
          <a:p>
            <a:pPr indent="-388208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08108"/>
              <a:buChar char="•"/>
            </a:pPr>
            <a:r>
              <a:rPr lang="en-US"/>
              <a:t>Check which version of Linux is compatible with Hyper-V here: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https://learn.microsoft.com/en-us/windows-server/virtualization/hyper-v/supported-ubuntu-virtual-machines-on-hyper-v</a:t>
            </a:r>
            <a:endParaRPr/>
          </a:p>
          <a:p>
            <a:pPr indent="-388208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08108"/>
              <a:buChar char="•"/>
            </a:pPr>
            <a:r>
              <a:rPr lang="en-US"/>
              <a:t>Usually, LTS versions are supported.</a:t>
            </a:r>
            <a:endParaRPr/>
          </a:p>
          <a:p>
            <a:pPr indent="-388208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08108"/>
              <a:buChar char="•"/>
            </a:pPr>
            <a:r>
              <a:rPr lang="en-US"/>
              <a:t>Download the .iso file from here: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https://ubuntu.com/download/desktop</a:t>
            </a:r>
            <a:endParaRPr/>
          </a:p>
          <a:p>
            <a:pPr indent="-388208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08108"/>
              <a:buChar char="•"/>
            </a:pPr>
            <a:r>
              <a:rPr lang="en-US"/>
              <a:t>Make sure to select the minimum system requirements</a:t>
            </a:r>
            <a:endParaRPr/>
          </a:p>
          <a:p>
            <a:pPr indent="-388208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08108"/>
              <a:buChar char="•"/>
            </a:pPr>
            <a:r>
              <a:rPr lang="en-US"/>
              <a:t>Follow the installation steps:</a:t>
            </a:r>
            <a:endParaRPr/>
          </a:p>
          <a:p>
            <a:pPr indent="0" lvl="0" marL="381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108108"/>
              <a:buNone/>
            </a:pPr>
            <a:r>
              <a:rPr lang="en-US"/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https://wiki.ubuntu.com/Hyper-V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08108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9"/>
          <p:cNvSpPr txBox="1"/>
          <p:nvPr>
            <p:ph type="title"/>
          </p:nvPr>
        </p:nvSpPr>
        <p:spPr>
          <a:xfrm>
            <a:off x="838201" y="2402238"/>
            <a:ext cx="4508715" cy="2187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A4"/>
              </a:buClr>
              <a:buSzPts val="9600"/>
              <a:buFont typeface="Quattrocento Sans"/>
              <a:buNone/>
            </a:pPr>
            <a:r>
              <a:rPr lang="en-US" sz="9600"/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elcomeDoc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2019-10-28T02:59:58Z</dcterms:created>
  <dc:creator>Aref Mourtada</dc:creator>
</cp:coreProperties>
</file>