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6858000" cx="12192000"/>
  <p:notesSz cx="6858000" cy="9144000"/>
  <p:embeddedFontLst>
    <p:embeddedFont>
      <p:font typeface="Quattrocento Sans"/>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iRO4SngfnvQeRjEia84OgMpTev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7DB0F2-971A-4FC8-8272-F45E869B8854}">
  <a:tblStyle styleId="{FA7DB0F2-971A-4FC8-8272-F45E869B885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86C441A-2A12-486F-B8F1-BCBAF1AC9DB1}"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AF1"/>
          </a:solidFill>
        </a:fill>
      </a:tcStyle>
    </a:wholeTbl>
    <a:band1H>
      <a:tcTxStyle b="off" i="off"/>
      <a:tcStyle>
        <a:fill>
          <a:solidFill>
            <a:srgbClr val="CED2E2"/>
          </a:solidFill>
        </a:fill>
      </a:tcStyle>
    </a:band1H>
    <a:band2H>
      <a:tcTxStyle b="off" i="off"/>
    </a:band2H>
    <a:band1V>
      <a:tcTxStyle b="off" i="off"/>
      <a:tcStyle>
        <a:fill>
          <a:solidFill>
            <a:srgbClr val="CED2E2"/>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3006893C-7984-4EDE-8820-A8DF85894086}"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QuattrocentoSans-regular.fntdata"/><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QuattrocentoSans-italic.fntdata"/><Relationship Id="rId30" Type="http://schemas.openxmlformats.org/officeDocument/2006/relationships/slide" Target="slides/slide24.xml"/><Relationship Id="rId74" Type="http://schemas.openxmlformats.org/officeDocument/2006/relationships/font" Target="fonts/QuattrocentoSans-bold.fntdata"/><Relationship Id="rId33" Type="http://schemas.openxmlformats.org/officeDocument/2006/relationships/slide" Target="slides/slide27.xml"/><Relationship Id="rId77" Type="http://customschemas.google.com/relationships/presentationmetadata" Target="metadata"/><Relationship Id="rId32" Type="http://schemas.openxmlformats.org/officeDocument/2006/relationships/slide" Target="slides/slide26.xml"/><Relationship Id="rId76" Type="http://schemas.openxmlformats.org/officeDocument/2006/relationships/font" Target="fonts/QuattrocentoSans-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3" name="Google Shape;22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0ff5fb7937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9" name="Google Shape;229;g30ff5fb793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0ff5fb7937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0ff5fb7937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0ff5fb7937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3" name="Google Shape;2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0" name="Google Shape;250;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7" name="Google Shape;257;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65" name="Google Shape;2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0" name="Google Shape;2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7" name="Google Shape;2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1" name="Google Shape;2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7" name="Google Shape;2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4" name="Google Shape;3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11" name="Google Shape;3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Answer: 6 lanes x 3 cars/second/lane = 18 cars/second.</a:t>
            </a:r>
            <a:endParaRPr/>
          </a:p>
        </p:txBody>
      </p:sp>
      <p:sp>
        <p:nvSpPr>
          <p:cNvPr id="338" name="Google Shape;33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2" name="Google Shape;36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7" name="Google Shape;36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73" name="Google Shape;37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400"/>
              <a:buFont typeface="Arial"/>
              <a:buChar char="•"/>
            </a:pPr>
            <a:r>
              <a:rPr lang="en-CA"/>
              <a:t>More efficient while one is busy doing something, you can let others work on the following steps.</a:t>
            </a:r>
            <a:endParaRPr/>
          </a:p>
          <a:p>
            <a:pPr indent="-82550" lvl="0" marL="171450" rtl="0" algn="l">
              <a:lnSpc>
                <a:spcPct val="100000"/>
              </a:lnSpc>
              <a:spcBef>
                <a:spcPts val="0"/>
              </a:spcBef>
              <a:spcAft>
                <a:spcPts val="0"/>
              </a:spcAft>
              <a:buClr>
                <a:schemeClr val="dk1"/>
              </a:buClr>
              <a:buSzPts val="1400"/>
              <a:buFont typeface="Arial"/>
              <a:buNone/>
            </a:pPr>
            <a:r>
              <a:t/>
            </a:r>
            <a:endParaRPr/>
          </a:p>
        </p:txBody>
      </p:sp>
      <p:sp>
        <p:nvSpPr>
          <p:cNvPr id="381" name="Google Shape;38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9" name="Google Shape;38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97" name="Google Shape;39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CA"/>
              <a:t>Core i9 &gt; Core I7 =&gt; higher tier</a:t>
            </a:r>
            <a:endParaRPr/>
          </a:p>
          <a:p>
            <a:pPr indent="0" lvl="0" marL="0" rtl="0" algn="l">
              <a:lnSpc>
                <a:spcPct val="100000"/>
              </a:lnSpc>
              <a:spcBef>
                <a:spcPts val="0"/>
              </a:spcBef>
              <a:spcAft>
                <a:spcPts val="0"/>
              </a:spcAft>
              <a:buSzPts val="1400"/>
              <a:buNone/>
            </a:pPr>
            <a:r>
              <a:rPr lang="en-CA"/>
              <a:t>The higher the generation, the newest the CPU and contains more of the latest technology</a:t>
            </a:r>
            <a:endParaRPr/>
          </a:p>
          <a:p>
            <a:pPr indent="0" lvl="0" marL="0" rtl="0" algn="l">
              <a:lnSpc>
                <a:spcPct val="100000"/>
              </a:lnSpc>
              <a:spcBef>
                <a:spcPts val="0"/>
              </a:spcBef>
              <a:spcAft>
                <a:spcPts val="0"/>
              </a:spcAft>
              <a:buSzPts val="1400"/>
              <a:buNone/>
            </a:pPr>
            <a:r>
              <a:rPr lang="en-CA"/>
              <a:t>The model number will uniquely idenfied the CPU in terms of its performance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CA"/>
              <a:t>Letters could indicate many different things, for example "K" for Intel is no limit for over-clocking, it's unlocked.</a:t>
            </a:r>
            <a:endParaRPr/>
          </a:p>
          <a:p>
            <a:pPr indent="0" lvl="0" marL="0" rtl="0" algn="l">
              <a:lnSpc>
                <a:spcPct val="100000"/>
              </a:lnSpc>
              <a:spcBef>
                <a:spcPts val="0"/>
              </a:spcBef>
              <a:spcAft>
                <a:spcPts val="0"/>
              </a:spcAft>
              <a:buSzPts val="1400"/>
              <a:buNone/>
            </a:pPr>
            <a:r>
              <a:rPr lang="en-CA"/>
              <a:t>"X" for AMD means the CPU comes out of the box, already over-clocked.</a:t>
            </a:r>
            <a:endParaRPr/>
          </a:p>
        </p:txBody>
      </p:sp>
      <p:sp>
        <p:nvSpPr>
          <p:cNvPr id="404" name="Google Shape;4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0" name="Google Shape;41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5" name="Google Shape;41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21" name="Google Shape;42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35" name="Google Shape;43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1" name="Google Shape;44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6" name="Google Shape;44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9" name="Google Shape;45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65" name="Google Shape;46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2" name="Google Shape;49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17" name="Google Shape;51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53" name="Google Shape;55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60" name="Google Shape;560;p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CA"/>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67" name="Google Shape;56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86" name="Google Shape;58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91" name="Google Shape;59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05" name="Google Shape;60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11" name="Google Shape;61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2" name="Google Shape;62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77" name="Google Shape;67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lang="en-CA"/>
              <a:t>ECC - &gt; Error correction code (ECC): It can be DDR2,3 ,etc..  It’s RAM with extra chip that gives extra error correction.</a:t>
            </a:r>
            <a:endParaRPr/>
          </a:p>
          <a:p>
            <a:pPr indent="0" lvl="0" marL="0" rtl="0" algn="l">
              <a:lnSpc>
                <a:spcPct val="100000"/>
              </a:lnSpc>
              <a:spcBef>
                <a:spcPts val="0"/>
              </a:spcBef>
              <a:spcAft>
                <a:spcPts val="0"/>
              </a:spcAft>
              <a:buClr>
                <a:schemeClr val="dk1"/>
              </a:buClr>
              <a:buSzPts val="1200"/>
              <a:buFont typeface="Calibri"/>
              <a:buNone/>
            </a:pPr>
            <a:r>
              <a:rPr lang="en-CA"/>
              <a:t>ECC -&gt; only some Motherboards have this.</a:t>
            </a:r>
            <a:endParaRPr/>
          </a:p>
          <a:p>
            <a:pPr indent="0" lvl="0" marL="0" rtl="0" algn="l">
              <a:lnSpc>
                <a:spcPct val="100000"/>
              </a:lnSpc>
              <a:spcBef>
                <a:spcPts val="0"/>
              </a:spcBef>
              <a:spcAft>
                <a:spcPts val="0"/>
              </a:spcAft>
              <a:buClr>
                <a:schemeClr val="dk1"/>
              </a:buClr>
              <a:buSzPts val="1200"/>
              <a:buFont typeface="Calibri"/>
              <a:buNone/>
            </a:pPr>
            <a:r>
              <a:t/>
            </a:r>
            <a:endParaRPr/>
          </a:p>
        </p:txBody>
      </p:sp>
      <p:sp>
        <p:nvSpPr>
          <p:cNvPr id="683" name="Google Shape;68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89" name="Google Shape;68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CA"/>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08" name="Google Shape;70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14" name="Google Shape;7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69"/>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69"/>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9"/>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6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1400"/>
              <a:buFont typeface="Quattrocento Sans"/>
              <a:buNone/>
              <a:defRPr>
                <a:solidFill>
                  <a:schemeClr val="lt1"/>
                </a:solidFill>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20" name="Google Shape;20;p6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lt1"/>
              </a:buClr>
              <a:buSzPts val="1400"/>
              <a:buFont typeface="Quattrocento Sans"/>
              <a:buNone/>
              <a:defRPr>
                <a:solidFill>
                  <a:schemeClr val="lt1"/>
                </a:solidFill>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21" name="Google Shape;21;p6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22" name="Google Shape;22;p69"/>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69"/>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7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7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7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29" name="Google Shape;29;p7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30" name="Google Shape;30;p7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31" name="Google Shape;31;p7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7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33" name="Shape 33"/>
        <p:cNvGrpSpPr/>
        <p:nvPr/>
      </p:nvGrpSpPr>
      <p:grpSpPr>
        <a:xfrm>
          <a:off x="0" y="0"/>
          <a:ext cx="0" cy="0"/>
          <a:chOff x="0" y="0"/>
          <a:chExt cx="0" cy="0"/>
        </a:xfrm>
      </p:grpSpPr>
      <p:sp>
        <p:nvSpPr>
          <p:cNvPr id="34" name="Google Shape;34;p71"/>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7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37" name="Google Shape;37;p7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38" name="Google Shape;38;p7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7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1" name="Google Shape;41;p7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3" name="Google Shape;43;p7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4" name="Google Shape;44;p7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45" name="Google Shape;45;p7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46" name="Google Shape;46;p7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47" name="Google Shape;47;p7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8" name="Google Shape;48;p7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7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 name="Google Shape;51;p73"/>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3"/>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53" name="Google Shape;53;p73"/>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4" name="Google Shape;54;p73"/>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55" name="Google Shape;55;p73"/>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56" name="Google Shape;56;p7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57" name="Google Shape;57;p7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58" name="Google Shape;58;p7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59" name="Google Shape;59;p7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0" name="Google Shape;60;p7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76"/>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3" name="Google Shape;63;p76"/>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6"/>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5" name="Google Shape;65;p7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66" name="Google Shape;66;p7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67" name="Google Shape;67;p7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68" name="Google Shape;68;p76"/>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9" name="Google Shape;69;p76"/>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77"/>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2" name="Google Shape;72;p77"/>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7"/>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74" name="Google Shape;74;p7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75" name="Google Shape;75;p7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76" name="Google Shape;76;p7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77" name="Google Shape;77;p77"/>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77"/>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78"/>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7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83" name="Google Shape;83;p7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84" name="Google Shape;84;p7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85" name="Google Shape;85;p78"/>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86" name="Google Shape;86;p78"/>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7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89" name="Google Shape;89;p7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90" name="Google Shape;90;p7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8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80"/>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4" name="Google Shape;94;p80"/>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5" name="Google Shape;95;p8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96" name="Google Shape;96;p8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97" name="Google Shape;97;p8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8" name="Shape 98"/>
        <p:cNvGrpSpPr/>
        <p:nvPr/>
      </p:nvGrpSpPr>
      <p:grpSpPr>
        <a:xfrm>
          <a:off x="0" y="0"/>
          <a:ext cx="0" cy="0"/>
          <a:chOff x="0" y="0"/>
          <a:chExt cx="0" cy="0"/>
        </a:xfrm>
      </p:grpSpPr>
      <p:sp>
        <p:nvSpPr>
          <p:cNvPr id="99" name="Google Shape;99;p8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81"/>
          <p:cNvSpPr/>
          <p:nvPr>
            <p:ph idx="2" type="pic"/>
          </p:nvPr>
        </p:nvSpPr>
        <p:spPr>
          <a:xfrm>
            <a:off x="5183188" y="987427"/>
            <a:ext cx="6172200" cy="4873625"/>
          </a:xfrm>
          <a:prstGeom prst="rect">
            <a:avLst/>
          </a:prstGeom>
          <a:noFill/>
          <a:ln>
            <a:noFill/>
          </a:ln>
        </p:spPr>
      </p:sp>
      <p:sp>
        <p:nvSpPr>
          <p:cNvPr id="101" name="Google Shape;101;p81"/>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2" name="Google Shape;102;p8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03" name="Google Shape;103;p8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04" name="Google Shape;104;p8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8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7" name="Google Shape;107;p8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8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9" name="Google Shape;109;p8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10" name="Google Shape;110;p8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11" name="Google Shape;111;p8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112" name="Google Shape;112;p8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3" name="Google Shape;113;p8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83"/>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6" name="Google Shape;116;p83"/>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83"/>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8" name="Google Shape;118;p8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19" name="Google Shape;119;p8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Quattrocento Sans"/>
              <a:buNone/>
              <a:defRPr/>
            </a:lvl1pPr>
            <a:lvl2pPr lvl="1" algn="l">
              <a:lnSpc>
                <a:spcPct val="100000"/>
              </a:lnSpc>
              <a:spcBef>
                <a:spcPts val="0"/>
              </a:spcBef>
              <a:spcAft>
                <a:spcPts val="0"/>
              </a:spcAft>
              <a:buClr>
                <a:schemeClr val="dk1"/>
              </a:buClr>
              <a:buSzPts val="1400"/>
              <a:buFont typeface="Quattrocento Sans"/>
              <a:buNone/>
              <a:defRPr/>
            </a:lvl2pPr>
            <a:lvl3pPr lvl="2" algn="l">
              <a:lnSpc>
                <a:spcPct val="100000"/>
              </a:lnSpc>
              <a:spcBef>
                <a:spcPts val="0"/>
              </a:spcBef>
              <a:spcAft>
                <a:spcPts val="0"/>
              </a:spcAft>
              <a:buClr>
                <a:schemeClr val="dk1"/>
              </a:buClr>
              <a:buSzPts val="1400"/>
              <a:buFont typeface="Quattrocento Sans"/>
              <a:buNone/>
              <a:defRPr/>
            </a:lvl3pPr>
            <a:lvl4pPr lvl="3" algn="l">
              <a:lnSpc>
                <a:spcPct val="100000"/>
              </a:lnSpc>
              <a:spcBef>
                <a:spcPts val="0"/>
              </a:spcBef>
              <a:spcAft>
                <a:spcPts val="0"/>
              </a:spcAft>
              <a:buClr>
                <a:schemeClr val="dk1"/>
              </a:buClr>
              <a:buSzPts val="1400"/>
              <a:buFont typeface="Quattrocento Sans"/>
              <a:buNone/>
              <a:defRPr/>
            </a:lvl4pPr>
            <a:lvl5pPr lvl="4" algn="l">
              <a:lnSpc>
                <a:spcPct val="100000"/>
              </a:lnSpc>
              <a:spcBef>
                <a:spcPts val="0"/>
              </a:spcBef>
              <a:spcAft>
                <a:spcPts val="0"/>
              </a:spcAft>
              <a:buClr>
                <a:schemeClr val="dk1"/>
              </a:buClr>
              <a:buSzPts val="1400"/>
              <a:buFont typeface="Quattrocento Sans"/>
              <a:buNone/>
              <a:defRPr/>
            </a:lvl5pPr>
            <a:lvl6pPr lvl="5" algn="l">
              <a:lnSpc>
                <a:spcPct val="100000"/>
              </a:lnSpc>
              <a:spcBef>
                <a:spcPts val="0"/>
              </a:spcBef>
              <a:spcAft>
                <a:spcPts val="0"/>
              </a:spcAft>
              <a:buClr>
                <a:schemeClr val="dk1"/>
              </a:buClr>
              <a:buSzPts val="1400"/>
              <a:buFont typeface="Quattrocento Sans"/>
              <a:buNone/>
              <a:defRPr/>
            </a:lvl6pPr>
            <a:lvl7pPr lvl="6" algn="l">
              <a:lnSpc>
                <a:spcPct val="100000"/>
              </a:lnSpc>
              <a:spcBef>
                <a:spcPts val="0"/>
              </a:spcBef>
              <a:spcAft>
                <a:spcPts val="0"/>
              </a:spcAft>
              <a:buClr>
                <a:schemeClr val="dk1"/>
              </a:buClr>
              <a:buSzPts val="1400"/>
              <a:buFont typeface="Quattrocento Sans"/>
              <a:buNone/>
              <a:defRPr/>
            </a:lvl7pPr>
            <a:lvl8pPr lvl="7" algn="l">
              <a:lnSpc>
                <a:spcPct val="100000"/>
              </a:lnSpc>
              <a:spcBef>
                <a:spcPts val="0"/>
              </a:spcBef>
              <a:spcAft>
                <a:spcPts val="0"/>
              </a:spcAft>
              <a:buClr>
                <a:schemeClr val="dk1"/>
              </a:buClr>
              <a:buSzPts val="1400"/>
              <a:buFont typeface="Quattrocento Sans"/>
              <a:buNone/>
              <a:defRPr/>
            </a:lvl8pPr>
            <a:lvl9pPr lvl="8" algn="l">
              <a:lnSpc>
                <a:spcPct val="100000"/>
              </a:lnSpc>
              <a:spcBef>
                <a:spcPts val="0"/>
              </a:spcBef>
              <a:spcAft>
                <a:spcPts val="0"/>
              </a:spcAft>
              <a:buClr>
                <a:schemeClr val="dk1"/>
              </a:buClr>
              <a:buSzPts val="1400"/>
              <a:buFont typeface="Quattrocento Sans"/>
              <a:buNone/>
              <a:defRPr/>
            </a:lvl9pPr>
          </a:lstStyle>
          <a:p/>
        </p:txBody>
      </p:sp>
      <p:sp>
        <p:nvSpPr>
          <p:cNvPr id="120" name="Google Shape;120;p8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
        <p:nvSpPr>
          <p:cNvPr id="121" name="Google Shape;121;p83"/>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2" name="Shape 122"/>
        <p:cNvGrpSpPr/>
        <p:nvPr/>
      </p:nvGrpSpPr>
      <p:grpSpPr>
        <a:xfrm>
          <a:off x="0" y="0"/>
          <a:ext cx="0" cy="0"/>
          <a:chOff x="0" y="0"/>
          <a:chExt cx="0" cy="0"/>
        </a:xfrm>
      </p:grpSpPr>
      <p:sp>
        <p:nvSpPr>
          <p:cNvPr id="123" name="Google Shape;123;p8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 name="Google Shape;124;p8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125" name="Google Shape;125;p8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26" name="Shape 126"/>
        <p:cNvGrpSpPr/>
        <p:nvPr/>
      </p:nvGrpSpPr>
      <p:grpSpPr>
        <a:xfrm>
          <a:off x="0" y="0"/>
          <a:ext cx="0" cy="0"/>
          <a:chOff x="0" y="0"/>
          <a:chExt cx="0" cy="0"/>
        </a:xfrm>
      </p:grpSpPr>
      <p:sp>
        <p:nvSpPr>
          <p:cNvPr id="127" name="Google Shape;127;p8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8" name="Google Shape;128;p85"/>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129" name="Google Shape;129;p8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36" name="Shape 136"/>
        <p:cNvGrpSpPr/>
        <p:nvPr/>
      </p:nvGrpSpPr>
      <p:grpSpPr>
        <a:xfrm>
          <a:off x="0" y="0"/>
          <a:ext cx="0" cy="0"/>
          <a:chOff x="0" y="0"/>
          <a:chExt cx="0" cy="0"/>
        </a:xfrm>
      </p:grpSpPr>
      <p:sp>
        <p:nvSpPr>
          <p:cNvPr id="137" name="Google Shape;137;p7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138" name="Google Shape;138;p7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latin typeface="Arial"/>
                <a:ea typeface="Arial"/>
                <a:cs typeface="Arial"/>
                <a:sym typeface="Aria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40" name="Google Shape;140;p7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1" name="Google Shape;141;p7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2" name="Google Shape;142;p7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
        <p:nvSpPr>
          <p:cNvPr id="143" name="Google Shape;143;p7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pic>
        <p:nvPicPr>
          <p:cNvPr id="144" name="Google Shape;144;p7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45" name="Shape 145"/>
        <p:cNvGrpSpPr/>
        <p:nvPr/>
      </p:nvGrpSpPr>
      <p:grpSpPr>
        <a:xfrm>
          <a:off x="0" y="0"/>
          <a:ext cx="0" cy="0"/>
          <a:chOff x="0" y="0"/>
          <a:chExt cx="0" cy="0"/>
        </a:xfrm>
      </p:grpSpPr>
      <p:sp>
        <p:nvSpPr>
          <p:cNvPr id="146" name="Google Shape;146;p8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8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8" name="Google Shape;148;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51" name="Shape 151"/>
        <p:cNvGrpSpPr/>
        <p:nvPr/>
      </p:nvGrpSpPr>
      <p:grpSpPr>
        <a:xfrm>
          <a:off x="0" y="0"/>
          <a:ext cx="0" cy="0"/>
          <a:chOff x="0" y="0"/>
          <a:chExt cx="0" cy="0"/>
        </a:xfrm>
      </p:grpSpPr>
      <p:sp>
        <p:nvSpPr>
          <p:cNvPr id="152" name="Google Shape;152;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157" name="Shape 157"/>
        <p:cNvGrpSpPr/>
        <p:nvPr/>
      </p:nvGrpSpPr>
      <p:grpSpPr>
        <a:xfrm>
          <a:off x="0" y="0"/>
          <a:ext cx="0" cy="0"/>
          <a:chOff x="0" y="0"/>
          <a:chExt cx="0" cy="0"/>
        </a:xfrm>
      </p:grpSpPr>
      <p:sp>
        <p:nvSpPr>
          <p:cNvPr id="158" name="Google Shape;158;p8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8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0" name="Google Shape;160;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163" name="Shape 163"/>
        <p:cNvGrpSpPr/>
        <p:nvPr/>
      </p:nvGrpSpPr>
      <p:grpSpPr>
        <a:xfrm>
          <a:off x="0" y="0"/>
          <a:ext cx="0" cy="0"/>
          <a:chOff x="0" y="0"/>
          <a:chExt cx="0" cy="0"/>
        </a:xfrm>
      </p:grpSpPr>
      <p:sp>
        <p:nvSpPr>
          <p:cNvPr id="164" name="Google Shape;164;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8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8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170" name="Shape 170"/>
        <p:cNvGrpSpPr/>
        <p:nvPr/>
      </p:nvGrpSpPr>
      <p:grpSpPr>
        <a:xfrm>
          <a:off x="0" y="0"/>
          <a:ext cx="0" cy="0"/>
          <a:chOff x="0" y="0"/>
          <a:chExt cx="0" cy="0"/>
        </a:xfrm>
      </p:grpSpPr>
      <p:sp>
        <p:nvSpPr>
          <p:cNvPr id="171" name="Google Shape;171;p9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9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3" name="Google Shape;173;p9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9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5" name="Google Shape;175;p9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79" name="Shape 179"/>
        <p:cNvGrpSpPr/>
        <p:nvPr/>
      </p:nvGrpSpPr>
      <p:grpSpPr>
        <a:xfrm>
          <a:off x="0" y="0"/>
          <a:ext cx="0" cy="0"/>
          <a:chOff x="0" y="0"/>
          <a:chExt cx="0" cy="0"/>
        </a:xfrm>
      </p:grpSpPr>
      <p:sp>
        <p:nvSpPr>
          <p:cNvPr id="180" name="Google Shape;180;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84" name="Shape 184"/>
        <p:cNvGrpSpPr/>
        <p:nvPr/>
      </p:nvGrpSpPr>
      <p:grpSpPr>
        <a:xfrm>
          <a:off x="0" y="0"/>
          <a:ext cx="0" cy="0"/>
          <a:chOff x="0" y="0"/>
          <a:chExt cx="0" cy="0"/>
        </a:xfrm>
      </p:grpSpPr>
      <p:sp>
        <p:nvSpPr>
          <p:cNvPr id="185" name="Google Shape;185;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188" name="Shape 188"/>
        <p:cNvGrpSpPr/>
        <p:nvPr/>
      </p:nvGrpSpPr>
      <p:grpSpPr>
        <a:xfrm>
          <a:off x="0" y="0"/>
          <a:ext cx="0" cy="0"/>
          <a:chOff x="0" y="0"/>
          <a:chExt cx="0" cy="0"/>
        </a:xfrm>
      </p:grpSpPr>
      <p:sp>
        <p:nvSpPr>
          <p:cNvPr id="189" name="Google Shape;189;p9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9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1" name="Google Shape;191;p9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2" name="Google Shape;192;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95" name="Shape 195"/>
        <p:cNvGrpSpPr/>
        <p:nvPr/>
      </p:nvGrpSpPr>
      <p:grpSpPr>
        <a:xfrm>
          <a:off x="0" y="0"/>
          <a:ext cx="0" cy="0"/>
          <a:chOff x="0" y="0"/>
          <a:chExt cx="0" cy="0"/>
        </a:xfrm>
      </p:grpSpPr>
      <p:sp>
        <p:nvSpPr>
          <p:cNvPr id="196" name="Google Shape;196;p9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94"/>
          <p:cNvSpPr/>
          <p:nvPr>
            <p:ph idx="2" type="pic"/>
          </p:nvPr>
        </p:nvSpPr>
        <p:spPr>
          <a:xfrm>
            <a:off x="5183188" y="987425"/>
            <a:ext cx="6172200" cy="4873625"/>
          </a:xfrm>
          <a:prstGeom prst="rect">
            <a:avLst/>
          </a:prstGeom>
          <a:noFill/>
          <a:ln>
            <a:noFill/>
          </a:ln>
        </p:spPr>
      </p:sp>
      <p:sp>
        <p:nvSpPr>
          <p:cNvPr id="198" name="Google Shape;198;p9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9" name="Google Shape;199;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202" name="Shape 202"/>
        <p:cNvGrpSpPr/>
        <p:nvPr/>
      </p:nvGrpSpPr>
      <p:grpSpPr>
        <a:xfrm>
          <a:off x="0" y="0"/>
          <a:ext cx="0" cy="0"/>
          <a:chOff x="0" y="0"/>
          <a:chExt cx="0" cy="0"/>
        </a:xfrm>
      </p:grpSpPr>
      <p:sp>
        <p:nvSpPr>
          <p:cNvPr id="203" name="Google Shape;203;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9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08" name="Shape 208"/>
        <p:cNvGrpSpPr/>
        <p:nvPr/>
      </p:nvGrpSpPr>
      <p:grpSpPr>
        <a:xfrm>
          <a:off x="0" y="0"/>
          <a:ext cx="0" cy="0"/>
          <a:chOff x="0" y="0"/>
          <a:chExt cx="0" cy="0"/>
        </a:xfrm>
      </p:grpSpPr>
      <p:sp>
        <p:nvSpPr>
          <p:cNvPr id="209" name="Google Shape;209;p9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9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214" name="Shape 214"/>
        <p:cNvGrpSpPr/>
        <p:nvPr/>
      </p:nvGrpSpPr>
      <p:grpSpPr>
        <a:xfrm>
          <a:off x="0" y="0"/>
          <a:ext cx="0" cy="0"/>
          <a:chOff x="0" y="0"/>
          <a:chExt cx="0" cy="0"/>
        </a:xfrm>
      </p:grpSpPr>
      <p:sp>
        <p:nvSpPr>
          <p:cNvPr id="215" name="Google Shape;215;p97"/>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Arial"/>
              <a:ea typeface="Arial"/>
              <a:cs typeface="Arial"/>
              <a:sym typeface="Arial"/>
            </a:endParaRPr>
          </a:p>
        </p:txBody>
      </p:sp>
      <p:sp>
        <p:nvSpPr>
          <p:cNvPr id="216" name="Google Shape;216;p97"/>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800"/>
              <a:buFont typeface="Quattrocento Sans"/>
              <a:buNone/>
              <a:defRPr sz="4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9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18" name="Google Shape;218;p9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19" name="Google Shape;219;p9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3.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6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6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6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 name="Google Shape;132;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3" name="Google Shape;133;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5" name="Google Shape;135;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s://community.acer.com/en/discussion/567703/t3-710-motherboard-diagram-schemati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hyperlink" Target="https://en.wikipedia.org/wiki/Instruction_cycle" TargetMode="Externa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3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25.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20.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2.jp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7.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SzPct val="100000"/>
              <a:buNone/>
            </a:pPr>
            <a:br>
              <a:rPr lang="en-CA"/>
            </a:br>
            <a:r>
              <a:rPr lang="en-CA"/>
              <a:t>Technical Support (420-1N6-AB)</a:t>
            </a:r>
            <a:br>
              <a:rPr lang="en-CA"/>
            </a:br>
            <a:r>
              <a:rPr lang="en-CA"/>
              <a:t>Data Prioritization: Chipsets, CPU and RAM</a:t>
            </a:r>
            <a:endParaRPr/>
          </a:p>
        </p:txBody>
      </p:sp>
      <p:sp>
        <p:nvSpPr>
          <p:cNvPr id="226" name="Google Shape;226;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CA"/>
              <a:t>Fall 2023</a:t>
            </a:r>
            <a:br>
              <a:rPr lang="en-CA"/>
            </a:br>
            <a:r>
              <a:rPr lang="en-CA"/>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0ff5fb7937_1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Outline</a:t>
            </a:r>
            <a:endParaRPr/>
          </a:p>
        </p:txBody>
      </p:sp>
      <p:sp>
        <p:nvSpPr>
          <p:cNvPr id="232" name="Google Shape;232;g30ff5fb7937_1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19100" lvl="0" marL="457200" rtl="0" algn="l">
              <a:lnSpc>
                <a:spcPct val="115000"/>
              </a:lnSpc>
              <a:spcBef>
                <a:spcPts val="0"/>
              </a:spcBef>
              <a:spcAft>
                <a:spcPts val="0"/>
              </a:spcAft>
              <a:buSzPts val="3000"/>
              <a:buChar char="-"/>
            </a:pPr>
            <a:r>
              <a:rPr lang="en-CA"/>
              <a:t>Test 1 review</a:t>
            </a:r>
            <a:endParaRPr/>
          </a:p>
          <a:p>
            <a:pPr indent="-419100" lvl="0" marL="457200" rtl="0" algn="l">
              <a:lnSpc>
                <a:spcPct val="115000"/>
              </a:lnSpc>
              <a:spcBef>
                <a:spcPts val="0"/>
              </a:spcBef>
              <a:spcAft>
                <a:spcPts val="0"/>
              </a:spcAft>
              <a:buSzPts val="3000"/>
              <a:buChar char="-"/>
            </a:pPr>
            <a:r>
              <a:rPr lang="en-CA"/>
              <a:t>The main hardware components:</a:t>
            </a:r>
            <a:endParaRPr/>
          </a:p>
          <a:p>
            <a:pPr indent="-393700" lvl="1" marL="914400" rtl="0" algn="l">
              <a:lnSpc>
                <a:spcPct val="115000"/>
              </a:lnSpc>
              <a:spcBef>
                <a:spcPts val="0"/>
              </a:spcBef>
              <a:spcAft>
                <a:spcPts val="0"/>
              </a:spcAft>
              <a:buSzPts val="2600"/>
              <a:buChar char="-"/>
            </a:pPr>
            <a:r>
              <a:rPr lang="en-CA"/>
              <a:t>CPU</a:t>
            </a:r>
            <a:endParaRPr/>
          </a:p>
          <a:p>
            <a:pPr indent="-393700" lvl="1" marL="914400" rtl="0" algn="l">
              <a:lnSpc>
                <a:spcPct val="115000"/>
              </a:lnSpc>
              <a:spcBef>
                <a:spcPts val="0"/>
              </a:spcBef>
              <a:spcAft>
                <a:spcPts val="0"/>
              </a:spcAft>
              <a:buSzPts val="2600"/>
              <a:buChar char="-"/>
            </a:pPr>
            <a:r>
              <a:rPr lang="en-CA"/>
              <a:t>RAM</a:t>
            </a:r>
            <a:endParaRPr/>
          </a:p>
          <a:p>
            <a:pPr indent="-393700" lvl="1" marL="914400" rtl="0" algn="l">
              <a:lnSpc>
                <a:spcPct val="115000"/>
              </a:lnSpc>
              <a:spcBef>
                <a:spcPts val="0"/>
              </a:spcBef>
              <a:spcAft>
                <a:spcPts val="0"/>
              </a:spcAft>
              <a:buSzPts val="2600"/>
              <a:buChar char="-"/>
            </a:pPr>
            <a:r>
              <a:rPr lang="en-CA"/>
              <a:t>Storage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0ff5fb7937_1_5"/>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CA"/>
              <a:t>Test 1 review</a:t>
            </a:r>
            <a:endParaRPr/>
          </a:p>
        </p:txBody>
      </p:sp>
      <p:sp>
        <p:nvSpPr>
          <p:cNvPr id="239" name="Google Shape;239;g30ff5fb7937_1_5"/>
          <p:cNvSpPr txBox="1"/>
          <p:nvPr>
            <p:ph idx="1" type="body"/>
          </p:nvPr>
        </p:nvSpPr>
        <p:spPr>
          <a:xfrm>
            <a:off x="838200" y="1825625"/>
            <a:ext cx="10515600" cy="602400"/>
          </a:xfrm>
          <a:prstGeom prst="rect">
            <a:avLst/>
          </a:prstGeom>
        </p:spPr>
        <p:txBody>
          <a:bodyPr anchorCtr="0" anchor="t" bIns="45700" lIns="91425" spcFirstLastPara="1" rIns="91425" wrap="square" tIns="45700">
            <a:noAutofit/>
          </a:bodyPr>
          <a:lstStyle/>
          <a:p>
            <a:pPr indent="0" lvl="0" marL="0" rtl="0" algn="l">
              <a:lnSpc>
                <a:spcPct val="70000"/>
              </a:lnSpc>
              <a:spcBef>
                <a:spcPts val="900"/>
              </a:spcBef>
              <a:spcAft>
                <a:spcPts val="0"/>
              </a:spcAft>
              <a:buSzPts val="605"/>
              <a:buNone/>
            </a:pPr>
            <a:r>
              <a:rPr lang="en-CA" sz="2750"/>
              <a:t>(on whiteboard in-class). Questions covered/average grade:</a:t>
            </a:r>
            <a:endParaRPr sz="2750"/>
          </a:p>
          <a:p>
            <a:pPr indent="0" lvl="0" marL="0" rtl="0" algn="l">
              <a:lnSpc>
                <a:spcPct val="70000"/>
              </a:lnSpc>
              <a:spcBef>
                <a:spcPts val="900"/>
              </a:spcBef>
              <a:spcAft>
                <a:spcPts val="0"/>
              </a:spcAft>
              <a:buSzPts val="605"/>
              <a:buNone/>
            </a:pPr>
            <a:r>
              <a:t/>
            </a:r>
            <a:endParaRPr sz="1650"/>
          </a:p>
        </p:txBody>
      </p:sp>
      <p:graphicFrame>
        <p:nvGraphicFramePr>
          <p:cNvPr id="240" name="Google Shape;240;g30ff5fb7937_1_5"/>
          <p:cNvGraphicFramePr/>
          <p:nvPr/>
        </p:nvGraphicFramePr>
        <p:xfrm>
          <a:off x="952500" y="2667000"/>
          <a:ext cx="3000000" cy="3000000"/>
        </p:xfrm>
        <a:graphic>
          <a:graphicData uri="http://schemas.openxmlformats.org/drawingml/2006/table">
            <a:tbl>
              <a:tblPr>
                <a:noFill/>
                <a:tableStyleId>{FA7DB0F2-971A-4FC8-8272-F45E869B8854}</a:tableStyleId>
              </a:tblPr>
              <a:tblGrid>
                <a:gridCol w="3429000"/>
                <a:gridCol w="3429000"/>
                <a:gridCol w="3429000"/>
              </a:tblGrid>
              <a:tr h="381000">
                <a:tc>
                  <a:txBody>
                    <a:bodyPr/>
                    <a:lstStyle/>
                    <a:p>
                      <a:pPr indent="0" lvl="0" marL="0" rtl="0" algn="l">
                        <a:spcBef>
                          <a:spcPts val="0"/>
                        </a:spcBef>
                        <a:spcAft>
                          <a:spcPts val="0"/>
                        </a:spcAft>
                        <a:buNone/>
                      </a:pPr>
                      <a:r>
                        <a:rPr lang="en-CA" sz="2200"/>
                        <a:t>1.3: 50%</a:t>
                      </a:r>
                      <a:endParaRPr sz="2200"/>
                    </a:p>
                  </a:txBody>
                  <a:tcPr marT="91425" marB="91425" marR="91425" marL="91425"/>
                </a:tc>
                <a:tc>
                  <a:txBody>
                    <a:bodyPr/>
                    <a:lstStyle/>
                    <a:p>
                      <a:pPr indent="0" lvl="0" marL="0" rtl="0" algn="l">
                        <a:spcBef>
                          <a:spcPts val="0"/>
                        </a:spcBef>
                        <a:spcAft>
                          <a:spcPts val="0"/>
                        </a:spcAft>
                        <a:buNone/>
                      </a:pPr>
                      <a:r>
                        <a:rPr lang="en-CA" sz="2200"/>
                        <a:t>5.3: 44%</a:t>
                      </a:r>
                      <a:endParaRPr sz="2200"/>
                    </a:p>
                  </a:txBody>
                  <a:tcPr marT="91425" marB="91425" marR="91425" marL="91425"/>
                </a:tc>
                <a:tc>
                  <a:txBody>
                    <a:bodyPr/>
                    <a:lstStyle/>
                    <a:p>
                      <a:pPr indent="0" lvl="0" marL="0" rtl="0" algn="l">
                        <a:spcBef>
                          <a:spcPts val="0"/>
                        </a:spcBef>
                        <a:spcAft>
                          <a:spcPts val="0"/>
                        </a:spcAft>
                        <a:buNone/>
                      </a:pPr>
                      <a:r>
                        <a:rPr lang="en-CA" sz="2200"/>
                        <a:t>1.9</a:t>
                      </a:r>
                      <a:endParaRPr sz="2200"/>
                    </a:p>
                  </a:txBody>
                  <a:tcPr marT="91425" marB="91425" marR="91425" marL="91425"/>
                </a:tc>
              </a:tr>
              <a:tr h="381000">
                <a:tc>
                  <a:txBody>
                    <a:bodyPr/>
                    <a:lstStyle/>
                    <a:p>
                      <a:pPr indent="0" lvl="0" marL="0" rtl="0" algn="l">
                        <a:spcBef>
                          <a:spcPts val="0"/>
                        </a:spcBef>
                        <a:spcAft>
                          <a:spcPts val="0"/>
                        </a:spcAft>
                        <a:buNone/>
                      </a:pPr>
                      <a:r>
                        <a:rPr lang="en-CA" sz="2200"/>
                        <a:t>1.4: 57%</a:t>
                      </a:r>
                      <a:endParaRPr sz="2200"/>
                    </a:p>
                  </a:txBody>
                  <a:tcPr marT="91425" marB="91425" marR="91425" marL="91425"/>
                </a:tc>
                <a:tc>
                  <a:txBody>
                    <a:bodyPr/>
                    <a:lstStyle/>
                    <a:p>
                      <a:pPr indent="0" lvl="0" marL="0" rtl="0" algn="l">
                        <a:spcBef>
                          <a:spcPts val="0"/>
                        </a:spcBef>
                        <a:spcAft>
                          <a:spcPts val="0"/>
                        </a:spcAft>
                        <a:buNone/>
                      </a:pPr>
                      <a:r>
                        <a:rPr lang="en-CA" sz="2200"/>
                        <a:t>5.4a: 26%</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r>
              <a:tr h="381000">
                <a:tc>
                  <a:txBody>
                    <a:bodyPr/>
                    <a:lstStyle/>
                    <a:p>
                      <a:pPr indent="0" lvl="0" marL="0" rtl="0" algn="l">
                        <a:spcBef>
                          <a:spcPts val="0"/>
                        </a:spcBef>
                        <a:spcAft>
                          <a:spcPts val="0"/>
                        </a:spcAft>
                        <a:buNone/>
                      </a:pPr>
                      <a:r>
                        <a:rPr lang="en-CA" sz="2200"/>
                        <a:t>1.5: 57%</a:t>
                      </a:r>
                      <a:endParaRPr sz="2200"/>
                    </a:p>
                  </a:txBody>
                  <a:tcPr marT="91425" marB="91425" marR="91425" marL="91425"/>
                </a:tc>
                <a:tc>
                  <a:txBody>
                    <a:bodyPr/>
                    <a:lstStyle/>
                    <a:p>
                      <a:pPr indent="0" lvl="0" marL="0" rtl="0" algn="l">
                        <a:spcBef>
                          <a:spcPts val="0"/>
                        </a:spcBef>
                        <a:spcAft>
                          <a:spcPts val="0"/>
                        </a:spcAft>
                        <a:buNone/>
                      </a:pPr>
                      <a:r>
                        <a:rPr lang="en-CA" sz="2200"/>
                        <a:t>5.4b: 16%</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r>
              <a:tr h="381000">
                <a:tc>
                  <a:txBody>
                    <a:bodyPr/>
                    <a:lstStyle/>
                    <a:p>
                      <a:pPr indent="0" lvl="0" marL="0" rtl="0" algn="l">
                        <a:spcBef>
                          <a:spcPts val="0"/>
                        </a:spcBef>
                        <a:spcAft>
                          <a:spcPts val="0"/>
                        </a:spcAft>
                        <a:buNone/>
                      </a:pPr>
                      <a:r>
                        <a:rPr lang="en-CA" sz="2200"/>
                        <a:t>1.7: 50%</a:t>
                      </a:r>
                      <a:endParaRPr sz="2200"/>
                    </a:p>
                  </a:txBody>
                  <a:tcPr marT="91425" marB="91425" marR="91425" marL="91425"/>
                </a:tc>
                <a:tc>
                  <a:txBody>
                    <a:bodyPr/>
                    <a:lstStyle/>
                    <a:p>
                      <a:pPr indent="0" lvl="0" marL="0" rtl="0" algn="l">
                        <a:spcBef>
                          <a:spcPts val="0"/>
                        </a:spcBef>
                        <a:spcAft>
                          <a:spcPts val="0"/>
                        </a:spcAft>
                        <a:buNone/>
                      </a:pPr>
                      <a:r>
                        <a:rPr lang="en-CA" sz="2200"/>
                        <a:t>5.5: 59%</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r>
              <a:tr h="381000">
                <a:tc>
                  <a:txBody>
                    <a:bodyPr/>
                    <a:lstStyle/>
                    <a:p>
                      <a:pPr indent="0" lvl="0" marL="0" rtl="0" algn="l">
                        <a:spcBef>
                          <a:spcPts val="0"/>
                        </a:spcBef>
                        <a:spcAft>
                          <a:spcPts val="0"/>
                        </a:spcAft>
                        <a:buNone/>
                      </a:pPr>
                      <a:r>
                        <a:rPr lang="en-CA" sz="2200"/>
                        <a:t>1.10: 33%</a:t>
                      </a:r>
                      <a:endParaRPr sz="2200"/>
                    </a:p>
                  </a:txBody>
                  <a:tcPr marT="91425" marB="91425" marR="91425" marL="91425"/>
                </a:tc>
                <a:tc>
                  <a:txBody>
                    <a:bodyPr/>
                    <a:lstStyle/>
                    <a:p>
                      <a:pPr indent="0" lvl="0" marL="0" rtl="0" algn="l">
                        <a:spcBef>
                          <a:spcPts val="0"/>
                        </a:spcBef>
                        <a:spcAft>
                          <a:spcPts val="0"/>
                        </a:spcAft>
                        <a:buNone/>
                      </a:pPr>
                      <a:r>
                        <a:rPr lang="en-CA" sz="2200"/>
                        <a:t>Anything else?</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r>
              <a:tr h="381000">
                <a:tc>
                  <a:txBody>
                    <a:bodyPr/>
                    <a:lstStyle/>
                    <a:p>
                      <a:pPr indent="0" lvl="0" marL="0" rtl="0" algn="l">
                        <a:spcBef>
                          <a:spcPts val="0"/>
                        </a:spcBef>
                        <a:spcAft>
                          <a:spcPts val="0"/>
                        </a:spcAft>
                        <a:buNone/>
                      </a:pPr>
                      <a:r>
                        <a:rPr lang="en-CA" sz="2200"/>
                        <a:t>2.3: 67%</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c>
                  <a:txBody>
                    <a:bodyPr/>
                    <a:lstStyle/>
                    <a:p>
                      <a:pPr indent="0" lvl="0" marL="0" rtl="0" algn="l">
                        <a:spcBef>
                          <a:spcPts val="0"/>
                        </a:spcBef>
                        <a:spcAft>
                          <a:spcPts val="0"/>
                        </a:spcAft>
                        <a:buNone/>
                      </a:pPr>
                      <a:r>
                        <a:t/>
                      </a:r>
                      <a:endParaRPr sz="22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Overview: How Hardware uses Logical Circuits</a:t>
            </a:r>
            <a:endParaRPr/>
          </a:p>
        </p:txBody>
      </p:sp>
      <p:sp>
        <p:nvSpPr>
          <p:cNvPr id="246" name="Google Shape;246;p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15000"/>
              </a:lnSpc>
              <a:spcBef>
                <a:spcPts val="0"/>
              </a:spcBef>
              <a:spcAft>
                <a:spcPts val="0"/>
              </a:spcAft>
              <a:buSzPct val="181818"/>
              <a:buNone/>
            </a:pPr>
            <a:r>
              <a:rPr lang="en-CA"/>
              <a:t>Last week we learned about how information is represented in computer systems (binary, logical circuits). </a:t>
            </a:r>
            <a:endParaRPr/>
          </a:p>
          <a:p>
            <a:pPr indent="0" lvl="0" marL="0" rtl="0" algn="l">
              <a:lnSpc>
                <a:spcPct val="115000"/>
              </a:lnSpc>
              <a:spcBef>
                <a:spcPts val="0"/>
              </a:spcBef>
              <a:spcAft>
                <a:spcPts val="0"/>
              </a:spcAft>
              <a:buSzPct val="181818"/>
              <a:buNone/>
            </a:pPr>
            <a:r>
              <a:t/>
            </a:r>
            <a:endParaRPr/>
          </a:p>
          <a:p>
            <a:pPr indent="0" lvl="0" marL="0" rtl="0" algn="l">
              <a:lnSpc>
                <a:spcPct val="115000"/>
              </a:lnSpc>
              <a:spcBef>
                <a:spcPts val="0"/>
              </a:spcBef>
              <a:spcAft>
                <a:spcPts val="0"/>
              </a:spcAft>
              <a:buSzPct val="181818"/>
              <a:buNone/>
            </a:pPr>
            <a:r>
              <a:rPr lang="en-CA"/>
              <a:t>In particular, we saw how simple switches could be used to represent AND, OR, XOR, NOT, and similar logic in electrical devices.</a:t>
            </a:r>
            <a:endParaRPr/>
          </a:p>
          <a:p>
            <a:pPr indent="0" lvl="0" marL="0" rtl="0" algn="l">
              <a:lnSpc>
                <a:spcPct val="115000"/>
              </a:lnSpc>
              <a:spcBef>
                <a:spcPts val="0"/>
              </a:spcBef>
              <a:spcAft>
                <a:spcPts val="0"/>
              </a:spcAft>
              <a:buSzPct val="181818"/>
              <a:buNone/>
            </a:pPr>
            <a:r>
              <a:t/>
            </a:r>
            <a:endParaRPr/>
          </a:p>
          <a:p>
            <a:pPr indent="0" lvl="0" marL="0" rtl="0" algn="l">
              <a:lnSpc>
                <a:spcPct val="115000"/>
              </a:lnSpc>
              <a:spcBef>
                <a:spcPts val="0"/>
              </a:spcBef>
              <a:spcAft>
                <a:spcPts val="0"/>
              </a:spcAft>
              <a:buSzPct val="181818"/>
              <a:buNone/>
            </a:pPr>
            <a:r>
              <a:rPr lang="en-CA"/>
              <a:t>Combining these simple “gates” to produce more sophisticated devices allows computer engineers to created </a:t>
            </a:r>
            <a:r>
              <a:rPr b="1" lang="en-CA"/>
              <a:t>Integrated Circuits (ICs)</a:t>
            </a:r>
            <a:r>
              <a:rPr lang="en-CA"/>
              <a:t>, or, as we more commonly call them, </a:t>
            </a:r>
            <a:r>
              <a:rPr b="1" lang="en-CA"/>
              <a:t>Chips</a:t>
            </a:r>
            <a:r>
              <a:rPr lang="en-CA"/>
              <a:t>.</a:t>
            </a:r>
            <a:endParaRPr/>
          </a:p>
          <a:p>
            <a:pPr indent="0" lvl="0" marL="0" rtl="0" algn="l">
              <a:lnSpc>
                <a:spcPct val="115000"/>
              </a:lnSpc>
              <a:spcBef>
                <a:spcPts val="0"/>
              </a:spcBef>
              <a:spcAft>
                <a:spcPts val="0"/>
              </a:spcAft>
              <a:buSzPct val="181818"/>
              <a:buNone/>
            </a:pPr>
            <a:r>
              <a:t/>
            </a:r>
            <a:endParaRPr/>
          </a:p>
          <a:p>
            <a:pPr indent="0" lvl="0" marL="0" rtl="0" algn="l">
              <a:lnSpc>
                <a:spcPct val="115000"/>
              </a:lnSpc>
              <a:spcBef>
                <a:spcPts val="0"/>
              </a:spcBef>
              <a:spcAft>
                <a:spcPts val="0"/>
              </a:spcAft>
              <a:buSzPct val="181818"/>
              <a:buNone/>
            </a:pPr>
            <a:r>
              <a:rPr lang="en-CA"/>
              <a:t>We now know enough to learn finish learning about some of the most important computer hardware components:</a:t>
            </a:r>
            <a:endParaRPr/>
          </a:p>
          <a:p>
            <a:pPr indent="0" lvl="0" marL="0" rtl="0" algn="l">
              <a:lnSpc>
                <a:spcPct val="115000"/>
              </a:lnSpc>
              <a:spcBef>
                <a:spcPts val="0"/>
              </a:spcBef>
              <a:spcAft>
                <a:spcPts val="0"/>
              </a:spcAft>
              <a:buSzPct val="181818"/>
              <a:buNone/>
            </a:pPr>
            <a:r>
              <a:t/>
            </a:r>
            <a:endParaRPr/>
          </a:p>
          <a:p>
            <a:pPr indent="-157161" lvl="0" marL="228600" rtl="0" algn="l">
              <a:lnSpc>
                <a:spcPct val="115000"/>
              </a:lnSpc>
              <a:spcBef>
                <a:spcPts val="0"/>
              </a:spcBef>
              <a:spcAft>
                <a:spcPts val="0"/>
              </a:spcAft>
              <a:buSzPct val="100000"/>
              <a:buChar char="•"/>
            </a:pPr>
            <a:r>
              <a:rPr lang="en-CA"/>
              <a:t>Chipsets </a:t>
            </a:r>
            <a:endParaRPr/>
          </a:p>
          <a:p>
            <a:pPr indent="-157161" lvl="0" marL="228600" rtl="0" algn="l">
              <a:lnSpc>
                <a:spcPct val="115000"/>
              </a:lnSpc>
              <a:spcBef>
                <a:spcPts val="0"/>
              </a:spcBef>
              <a:spcAft>
                <a:spcPts val="0"/>
              </a:spcAft>
              <a:buSzPct val="100000"/>
              <a:buChar char="•"/>
            </a:pPr>
            <a:r>
              <a:rPr lang="en-CA"/>
              <a:t>Central Processing Unit (CPU)</a:t>
            </a:r>
            <a:endParaRPr/>
          </a:p>
          <a:p>
            <a:pPr indent="-157161" lvl="0" marL="228600" rtl="0" algn="l">
              <a:lnSpc>
                <a:spcPct val="115000"/>
              </a:lnSpc>
              <a:spcBef>
                <a:spcPts val="0"/>
              </a:spcBef>
              <a:spcAft>
                <a:spcPts val="0"/>
              </a:spcAft>
              <a:buSzPct val="100000"/>
              <a:buChar char="•"/>
            </a:pPr>
            <a:r>
              <a:rPr lang="en-CA"/>
              <a:t>Random Access Memory (RAM)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3600"/>
              <a:buNone/>
            </a:pPr>
            <a:r>
              <a:rPr lang="en-CA"/>
              <a:t>Logic Gates -&gt; Integrated Components (Chips)</a:t>
            </a:r>
            <a:endParaRPr/>
          </a:p>
        </p:txBody>
      </p:sp>
      <p:pic>
        <p:nvPicPr>
          <p:cNvPr id="253" name="Google Shape;253;p3"/>
          <p:cNvPicPr preferRelativeResize="0"/>
          <p:nvPr/>
        </p:nvPicPr>
        <p:blipFill rotWithShape="1">
          <a:blip r:embed="rId3">
            <a:alphaModFix/>
          </a:blip>
          <a:srcRect b="0" l="0" r="0" t="0"/>
          <a:stretch/>
        </p:blipFill>
        <p:spPr>
          <a:xfrm>
            <a:off x="152400" y="1380901"/>
            <a:ext cx="9466131" cy="5324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3600"/>
              <a:buNone/>
            </a:pPr>
            <a:r>
              <a:rPr lang="en-CA"/>
              <a:t>Integrated Components (Chips) -&gt; Motherboard</a:t>
            </a:r>
            <a:endParaRPr/>
          </a:p>
        </p:txBody>
      </p:sp>
      <p:pic>
        <p:nvPicPr>
          <p:cNvPr id="260" name="Google Shape;260;p4"/>
          <p:cNvPicPr preferRelativeResize="0"/>
          <p:nvPr/>
        </p:nvPicPr>
        <p:blipFill rotWithShape="1">
          <a:blip r:embed="rId3">
            <a:alphaModFix/>
          </a:blip>
          <a:srcRect b="43112" l="0" r="0" t="0"/>
          <a:stretch/>
        </p:blipFill>
        <p:spPr>
          <a:xfrm>
            <a:off x="152400" y="1380900"/>
            <a:ext cx="6434625" cy="5250699"/>
          </a:xfrm>
          <a:prstGeom prst="rect">
            <a:avLst/>
          </a:prstGeom>
          <a:noFill/>
          <a:ln>
            <a:noFill/>
          </a:ln>
        </p:spPr>
      </p:pic>
      <p:pic>
        <p:nvPicPr>
          <p:cNvPr id="261" name="Google Shape;261;p4"/>
          <p:cNvPicPr preferRelativeResize="0"/>
          <p:nvPr/>
        </p:nvPicPr>
        <p:blipFill rotWithShape="1">
          <a:blip r:embed="rId3">
            <a:alphaModFix/>
          </a:blip>
          <a:srcRect b="0" l="0" r="0" t="56711"/>
          <a:stretch/>
        </p:blipFill>
        <p:spPr>
          <a:xfrm>
            <a:off x="6776475" y="1751000"/>
            <a:ext cx="4994976" cy="3101726"/>
          </a:xfrm>
          <a:prstGeom prst="rect">
            <a:avLst/>
          </a:prstGeom>
          <a:noFill/>
          <a:ln>
            <a:noFill/>
          </a:ln>
        </p:spPr>
      </p:pic>
      <p:sp>
        <p:nvSpPr>
          <p:cNvPr id="262" name="Google Shape;262;p4"/>
          <p:cNvSpPr txBox="1"/>
          <p:nvPr/>
        </p:nvSpPr>
        <p:spPr>
          <a:xfrm>
            <a:off x="6688925" y="5410425"/>
            <a:ext cx="5336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hlink"/>
              </a:buClr>
              <a:buSzPts val="1800"/>
              <a:buFont typeface="Quattrocento Sans"/>
              <a:buNone/>
            </a:pPr>
            <a:r>
              <a:rPr b="0" i="0" lang="en-CA" sz="1800" u="sng" cap="none" strike="noStrike">
                <a:solidFill>
                  <a:schemeClr val="hlink"/>
                </a:solidFill>
                <a:latin typeface="Quattrocento Sans"/>
                <a:ea typeface="Quattrocento Sans"/>
                <a:cs typeface="Quattrocento Sans"/>
                <a:sym typeface="Quattrocento Sans"/>
                <a:hlinkClick r:id="rId4"/>
              </a:rPr>
              <a:t>Acer T3-710 Motherboard Schematic</a:t>
            </a:r>
            <a:r>
              <a:rPr b="0" i="0" lang="en-CA" sz="1800" u="none" cap="none" strike="noStrike">
                <a:solidFill>
                  <a:schemeClr val="dk1"/>
                </a:solidFill>
                <a:latin typeface="Quattrocento Sans"/>
                <a:ea typeface="Quattrocento Sans"/>
                <a:cs typeface="Quattrocento Sans"/>
                <a:sym typeface="Quattrocento Sans"/>
              </a:rPr>
              <a:t> -- composed of many integrated components</a:t>
            </a:r>
            <a:endParaRPr b="0" i="0" sz="18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Chipsets -- How Motherboards control computer communication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8"/>
          <p:cNvSpPr txBox="1"/>
          <p:nvPr>
            <p:ph idx="1" type="body"/>
          </p:nvPr>
        </p:nvSpPr>
        <p:spPr>
          <a:xfrm>
            <a:off x="838200" y="1825625"/>
            <a:ext cx="5181600" cy="48252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rgbClr val="7F7F7F"/>
              </a:buClr>
              <a:buSzPts val="2200"/>
              <a:buChar char="•"/>
            </a:pPr>
            <a:r>
              <a:rPr lang="en-CA"/>
              <a:t>Older motherboards were designed with a lot of </a:t>
            </a:r>
            <a:r>
              <a:rPr b="1" lang="en-CA"/>
              <a:t>different chips scattered all over the motherboard.</a:t>
            </a:r>
            <a:endParaRPr b="1"/>
          </a:p>
          <a:p>
            <a:pPr indent="-228600" lvl="0" marL="228600" rtl="0" algn="l">
              <a:lnSpc>
                <a:spcPct val="90000"/>
              </a:lnSpc>
              <a:spcBef>
                <a:spcPts val="660"/>
              </a:spcBef>
              <a:spcAft>
                <a:spcPts val="0"/>
              </a:spcAft>
              <a:buSzPts val="2200"/>
              <a:buChar char="•"/>
            </a:pPr>
            <a:r>
              <a:rPr lang="en-CA"/>
              <a:t>There would be a separate component for each hardware device connected to a motherboard:</a:t>
            </a:r>
            <a:endParaRPr/>
          </a:p>
          <a:p>
            <a:pPr indent="-228600" lvl="1" marL="685800" rtl="0" algn="l">
              <a:lnSpc>
                <a:spcPct val="90000"/>
              </a:lnSpc>
              <a:spcBef>
                <a:spcPts val="540"/>
              </a:spcBef>
              <a:spcAft>
                <a:spcPts val="0"/>
              </a:spcAft>
              <a:buClr>
                <a:srgbClr val="7F7F7F"/>
              </a:buClr>
              <a:buSzPts val="1800"/>
              <a:buChar char="•"/>
            </a:pPr>
            <a:r>
              <a:rPr lang="en-CA"/>
              <a:t>CPU controllers</a:t>
            </a:r>
            <a:endParaRPr/>
          </a:p>
          <a:p>
            <a:pPr indent="-228600" lvl="1" marL="685800" rtl="0" algn="l">
              <a:lnSpc>
                <a:spcPct val="90000"/>
              </a:lnSpc>
              <a:spcBef>
                <a:spcPts val="540"/>
              </a:spcBef>
              <a:spcAft>
                <a:spcPts val="0"/>
              </a:spcAft>
              <a:buClr>
                <a:srgbClr val="7F7F7F"/>
              </a:buClr>
              <a:buSzPts val="1800"/>
              <a:buChar char="•"/>
            </a:pPr>
            <a:r>
              <a:rPr lang="en-CA"/>
              <a:t>RAM controllers</a:t>
            </a:r>
            <a:endParaRPr/>
          </a:p>
          <a:p>
            <a:pPr indent="-228600" lvl="1" marL="685800" rtl="0" algn="l">
              <a:lnSpc>
                <a:spcPct val="90000"/>
              </a:lnSpc>
              <a:spcBef>
                <a:spcPts val="540"/>
              </a:spcBef>
              <a:spcAft>
                <a:spcPts val="0"/>
              </a:spcAft>
              <a:buClr>
                <a:srgbClr val="7F7F7F"/>
              </a:buClr>
              <a:buSzPts val="1800"/>
              <a:buChar char="•"/>
            </a:pPr>
            <a:r>
              <a:rPr lang="en-CA"/>
              <a:t>keyboard/mouse controllers</a:t>
            </a:r>
            <a:endParaRPr/>
          </a:p>
          <a:p>
            <a:pPr indent="-228600" lvl="1" marL="685800" rtl="0" algn="l">
              <a:lnSpc>
                <a:spcPct val="90000"/>
              </a:lnSpc>
              <a:spcBef>
                <a:spcPts val="540"/>
              </a:spcBef>
              <a:spcAft>
                <a:spcPts val="0"/>
              </a:spcAft>
              <a:buSzPts val="1800"/>
              <a:buChar char="•"/>
            </a:pPr>
            <a:r>
              <a:rPr lang="en-CA"/>
              <a:t>Graphics controllers</a:t>
            </a:r>
            <a:endParaRPr/>
          </a:p>
          <a:p>
            <a:pPr indent="-228600" lvl="1" marL="685800" rtl="0" algn="l">
              <a:lnSpc>
                <a:spcPct val="90000"/>
              </a:lnSpc>
              <a:spcBef>
                <a:spcPts val="540"/>
              </a:spcBef>
              <a:spcAft>
                <a:spcPts val="0"/>
              </a:spcAft>
              <a:buSzPts val="1800"/>
              <a:buChar char="•"/>
            </a:pPr>
            <a:r>
              <a:rPr lang="en-CA"/>
              <a:t>Speaker controllers</a:t>
            </a:r>
            <a:endParaRPr/>
          </a:p>
          <a:p>
            <a:pPr indent="-228600" lvl="1" marL="685800" rtl="0" algn="l">
              <a:lnSpc>
                <a:spcPct val="90000"/>
              </a:lnSpc>
              <a:spcBef>
                <a:spcPts val="540"/>
              </a:spcBef>
              <a:spcAft>
                <a:spcPts val="0"/>
              </a:spcAft>
              <a:buSzPts val="1800"/>
              <a:buChar char="•"/>
            </a:pPr>
            <a:r>
              <a:rPr lang="en-CA"/>
              <a:t>etc!</a:t>
            </a:r>
            <a:endParaRPr/>
          </a:p>
          <a:p>
            <a:pPr indent="0" lvl="0" marL="457200" rtl="0" algn="l">
              <a:lnSpc>
                <a:spcPct val="90000"/>
              </a:lnSpc>
              <a:spcBef>
                <a:spcPts val="540"/>
              </a:spcBef>
              <a:spcAft>
                <a:spcPts val="0"/>
              </a:spcAft>
              <a:buSzPts val="2200"/>
              <a:buNone/>
            </a:pPr>
            <a:r>
              <a:t/>
            </a:r>
            <a:endParaRPr/>
          </a:p>
          <a:p>
            <a:pPr indent="-368300" lvl="0" marL="457200" rtl="0" algn="l">
              <a:lnSpc>
                <a:spcPct val="90000"/>
              </a:lnSpc>
              <a:spcBef>
                <a:spcPts val="540"/>
              </a:spcBef>
              <a:spcAft>
                <a:spcPts val="0"/>
              </a:spcAft>
              <a:buSzPts val="2200"/>
              <a:buChar char="-"/>
            </a:pPr>
            <a:r>
              <a:rPr lang="en-CA"/>
              <a:t>Most of these chips do the same thing! (process requests for hardware commands)</a:t>
            </a:r>
            <a:endParaRPr/>
          </a:p>
          <a:p>
            <a:pPr indent="0" lvl="0" marL="0" rtl="0" algn="l">
              <a:lnSpc>
                <a:spcPct val="90000"/>
              </a:lnSpc>
              <a:spcBef>
                <a:spcPts val="540"/>
              </a:spcBef>
              <a:spcAft>
                <a:spcPts val="0"/>
              </a:spcAft>
              <a:buSzPts val="2200"/>
              <a:buNone/>
            </a:pPr>
            <a:r>
              <a:t/>
            </a:r>
            <a:endParaRPr/>
          </a:p>
        </p:txBody>
      </p:sp>
      <p:sp>
        <p:nvSpPr>
          <p:cNvPr id="273" name="Google Shape;273;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History</a:t>
            </a:r>
            <a:endParaRPr/>
          </a:p>
        </p:txBody>
      </p:sp>
      <p:pic>
        <p:nvPicPr>
          <p:cNvPr descr="Related image" id="274" name="Google Shape;274;p8"/>
          <p:cNvPicPr preferRelativeResize="0"/>
          <p:nvPr>
            <p:ph idx="2" type="body"/>
          </p:nvPr>
        </p:nvPicPr>
        <p:blipFill rotWithShape="1">
          <a:blip r:embed="rId3">
            <a:alphaModFix/>
          </a:blip>
          <a:srcRect b="0" l="0" r="0" t="0"/>
          <a:stretch/>
        </p:blipFill>
        <p:spPr>
          <a:xfrm>
            <a:off x="5981700" y="1825625"/>
            <a:ext cx="5773723" cy="41312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How did Chipsets Evolve?</a:t>
            </a:r>
            <a:endParaRPr/>
          </a:p>
        </p:txBody>
      </p:sp>
      <p:sp>
        <p:nvSpPr>
          <p:cNvPr id="280" name="Google Shape;28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As technology progressed, computer engineers decided to </a:t>
            </a:r>
            <a:r>
              <a:rPr lang="en-CA">
                <a:solidFill>
                  <a:srgbClr val="0055A4"/>
                </a:solidFill>
              </a:rPr>
              <a:t>reduce</a:t>
            </a:r>
            <a:r>
              <a:rPr lang="en-CA"/>
              <a:t> the number of chips and have them more in a </a:t>
            </a:r>
            <a:r>
              <a:rPr lang="en-CA">
                <a:solidFill>
                  <a:srgbClr val="0055A4"/>
                </a:solidFill>
              </a:rPr>
              <a:t>centralized</a:t>
            </a:r>
            <a:r>
              <a:rPr lang="en-CA"/>
              <a:t> location so instead of having these different chips scattered all over the motherboard controlling different functions.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CA"/>
              <a:t>The number of chips was reduced to few chips that do the same job or what's now called a </a:t>
            </a:r>
            <a:r>
              <a:rPr lang="en-CA">
                <a:solidFill>
                  <a:srgbClr val="0055A4"/>
                </a:solidFill>
              </a:rPr>
              <a:t>chipset</a:t>
            </a:r>
            <a:r>
              <a:rPr lang="en-CA"/>
              <a:t>.</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6"/>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The chipset</a:t>
            </a:r>
            <a:endParaRPr/>
          </a:p>
        </p:txBody>
      </p:sp>
      <p:pic>
        <p:nvPicPr>
          <p:cNvPr descr="Chipset" id="286" name="Google Shape;286;p6"/>
          <p:cNvPicPr preferRelativeResize="0"/>
          <p:nvPr/>
        </p:nvPicPr>
        <p:blipFill rotWithShape="1">
          <a:blip r:embed="rId3">
            <a:alphaModFix/>
          </a:blip>
          <a:srcRect b="0" l="0" r="0" t="0"/>
          <a:stretch/>
        </p:blipFill>
        <p:spPr>
          <a:xfrm>
            <a:off x="6160602" y="1437975"/>
            <a:ext cx="4961451" cy="4929050"/>
          </a:xfrm>
          <a:prstGeom prst="rect">
            <a:avLst/>
          </a:prstGeom>
          <a:noFill/>
          <a:ln>
            <a:noFill/>
          </a:ln>
        </p:spPr>
      </p:pic>
      <p:sp>
        <p:nvSpPr>
          <p:cNvPr id="287" name="Google Shape;287;p6"/>
          <p:cNvSpPr txBox="1"/>
          <p:nvPr/>
        </p:nvSpPr>
        <p:spPr>
          <a:xfrm>
            <a:off x="518200" y="6275850"/>
            <a:ext cx="8754300" cy="46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chemeClr val="dk1"/>
                </a:solidFill>
                <a:latin typeface="Quattrocento Sans"/>
                <a:ea typeface="Quattrocento Sans"/>
                <a:cs typeface="Quattrocento Sans"/>
                <a:sym typeface="Quattrocento Sans"/>
              </a:rPr>
              <a:t>https://www.baeldung.com/cs/chipset</a:t>
            </a:r>
            <a:endParaRPr b="0" i="0" sz="1300" u="none" cap="none" strike="noStrike">
              <a:solidFill>
                <a:schemeClr val="dk1"/>
              </a:solidFill>
              <a:latin typeface="Quattrocento Sans"/>
              <a:ea typeface="Quattrocento Sans"/>
              <a:cs typeface="Quattrocento Sans"/>
              <a:sym typeface="Quattrocento Sans"/>
            </a:endParaRPr>
          </a:p>
        </p:txBody>
      </p:sp>
      <p:sp>
        <p:nvSpPr>
          <p:cNvPr id="288" name="Google Shape;288;p6"/>
          <p:cNvSpPr txBox="1"/>
          <p:nvPr/>
        </p:nvSpPr>
        <p:spPr>
          <a:xfrm>
            <a:off x="385875" y="1503000"/>
            <a:ext cx="5215200" cy="434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n-CA" sz="2600" u="none" cap="none" strike="noStrike">
                <a:solidFill>
                  <a:schemeClr val="dk1"/>
                </a:solidFill>
                <a:latin typeface="Quattrocento Sans"/>
                <a:ea typeface="Quattrocento Sans"/>
                <a:cs typeface="Quattrocento Sans"/>
                <a:sym typeface="Quattrocento Sans"/>
              </a:rPr>
              <a:t>Result: the motherboard </a:t>
            </a:r>
            <a:r>
              <a:rPr b="1" i="0" lang="en-CA" sz="2600" u="none" cap="none" strike="noStrike">
                <a:solidFill>
                  <a:schemeClr val="dk1"/>
                </a:solidFill>
                <a:latin typeface="Quattrocento Sans"/>
                <a:ea typeface="Quattrocento Sans"/>
                <a:cs typeface="Quattrocento Sans"/>
                <a:sym typeface="Quattrocento Sans"/>
              </a:rPr>
              <a:t>chipset</a:t>
            </a:r>
            <a:r>
              <a:rPr b="0" i="0" lang="en-CA" sz="2600" u="none" cap="none" strike="noStrike">
                <a:solidFill>
                  <a:schemeClr val="dk1"/>
                </a:solidFill>
                <a:latin typeface="Quattrocento Sans"/>
                <a:ea typeface="Quattrocento Sans"/>
                <a:cs typeface="Quattrocento Sans"/>
                <a:sym typeface="Quattrocento Sans"/>
              </a:rPr>
              <a:t>, grouped into two main components:</a:t>
            </a:r>
            <a:endParaRPr b="0" i="0" sz="2600" u="none" cap="none" strike="noStrike">
              <a:solidFill>
                <a:schemeClr val="dk1"/>
              </a:solidFill>
              <a:latin typeface="Quattrocento Sans"/>
              <a:ea typeface="Quattrocento Sans"/>
              <a:cs typeface="Quattrocento Sans"/>
              <a:sym typeface="Quattrocento Sans"/>
            </a:endParaRPr>
          </a:p>
          <a:p>
            <a:pPr indent="-393700" lvl="0" marL="457200" marR="0" rtl="0" algn="l">
              <a:lnSpc>
                <a:spcPct val="100000"/>
              </a:lnSpc>
              <a:spcBef>
                <a:spcPts val="0"/>
              </a:spcBef>
              <a:spcAft>
                <a:spcPts val="0"/>
              </a:spcAft>
              <a:buClr>
                <a:schemeClr val="dk1"/>
              </a:buClr>
              <a:buSzPts val="2600"/>
              <a:buFont typeface="Quattrocento Sans"/>
              <a:buChar char="-"/>
            </a:pPr>
            <a:r>
              <a:rPr b="0" i="0" lang="en-CA" sz="2600" u="none" cap="none" strike="noStrike">
                <a:solidFill>
                  <a:schemeClr val="dk1"/>
                </a:solidFill>
                <a:latin typeface="Quattrocento Sans"/>
                <a:ea typeface="Quattrocento Sans"/>
                <a:cs typeface="Quattrocento Sans"/>
                <a:sym typeface="Quattrocento Sans"/>
              </a:rPr>
              <a:t>Northbridge (high speed)</a:t>
            </a:r>
            <a:endParaRPr b="0" i="0" sz="2600" u="none" cap="none" strike="noStrike">
              <a:solidFill>
                <a:schemeClr val="dk1"/>
              </a:solidFill>
              <a:latin typeface="Quattrocento Sans"/>
              <a:ea typeface="Quattrocento Sans"/>
              <a:cs typeface="Quattrocento Sans"/>
              <a:sym typeface="Quattrocento Sans"/>
            </a:endParaRPr>
          </a:p>
          <a:p>
            <a:pPr indent="-393700" lvl="0" marL="457200" marR="0" rtl="0" algn="l">
              <a:lnSpc>
                <a:spcPct val="100000"/>
              </a:lnSpc>
              <a:spcBef>
                <a:spcPts val="0"/>
              </a:spcBef>
              <a:spcAft>
                <a:spcPts val="0"/>
              </a:spcAft>
              <a:buClr>
                <a:schemeClr val="dk1"/>
              </a:buClr>
              <a:buSzPts val="2600"/>
              <a:buFont typeface="Quattrocento Sans"/>
              <a:buChar char="-"/>
            </a:pPr>
            <a:r>
              <a:rPr b="0" i="0" lang="en-CA" sz="2600" u="none" cap="none" strike="noStrike">
                <a:solidFill>
                  <a:schemeClr val="dk1"/>
                </a:solidFill>
                <a:latin typeface="Quattrocento Sans"/>
                <a:ea typeface="Quattrocento Sans"/>
                <a:cs typeface="Quattrocento Sans"/>
                <a:sym typeface="Quattrocento Sans"/>
              </a:rPr>
              <a:t>Southbridge (everything else)</a:t>
            </a:r>
            <a:endParaRPr b="0" i="0" sz="26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So.. What is Chipset?</a:t>
            </a:r>
            <a:endParaRPr/>
          </a:p>
        </p:txBody>
      </p:sp>
      <p:sp>
        <p:nvSpPr>
          <p:cNvPr id="294" name="Google Shape;294;p10"/>
          <p:cNvSpPr txBox="1"/>
          <p:nvPr>
            <p:ph idx="1" type="body"/>
          </p:nvPr>
        </p:nvSpPr>
        <p:spPr>
          <a:xfrm>
            <a:off x="838200" y="1669409"/>
            <a:ext cx="10515600" cy="489078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Clr>
                <a:srgbClr val="7F7F7F"/>
              </a:buClr>
              <a:buSzPct val="100000"/>
              <a:buChar char="•"/>
            </a:pPr>
            <a:r>
              <a:rPr lang="en-CA"/>
              <a:t>A chipset is a smaller set of chips that has replaced a larger amount of chips.</a:t>
            </a:r>
            <a:endParaRPr/>
          </a:p>
          <a:p>
            <a:pPr indent="-66675" lvl="0" marL="228600" rtl="0" algn="l">
              <a:lnSpc>
                <a:spcPct val="110000"/>
              </a:lnSpc>
              <a:spcBef>
                <a:spcPts val="765"/>
              </a:spcBef>
              <a:spcAft>
                <a:spcPts val="0"/>
              </a:spcAft>
              <a:buClr>
                <a:srgbClr val="7F7F7F"/>
              </a:buClr>
              <a:buSzPct val="100000"/>
              <a:buNone/>
            </a:pPr>
            <a:r>
              <a:t/>
            </a:r>
            <a:endParaRPr/>
          </a:p>
          <a:p>
            <a:pPr indent="-228600" lvl="0" marL="228600" rtl="0" algn="l">
              <a:lnSpc>
                <a:spcPct val="110000"/>
              </a:lnSpc>
              <a:spcBef>
                <a:spcPts val="765"/>
              </a:spcBef>
              <a:spcAft>
                <a:spcPts val="0"/>
              </a:spcAft>
              <a:buClr>
                <a:srgbClr val="7F7F7F"/>
              </a:buClr>
              <a:buSzPct val="100000"/>
              <a:buChar char="•"/>
            </a:pPr>
            <a:r>
              <a:rPr lang="en-CA"/>
              <a:t>Chipsets job is to control data flow between the CPU, the peripherals, bus slots, and memory.</a:t>
            </a:r>
            <a:endParaRPr/>
          </a:p>
          <a:p>
            <a:pPr indent="-228600" lvl="1" marL="685800" rtl="0" algn="l">
              <a:lnSpc>
                <a:spcPct val="110000"/>
              </a:lnSpc>
              <a:spcBef>
                <a:spcPts val="663"/>
              </a:spcBef>
              <a:spcAft>
                <a:spcPts val="0"/>
              </a:spcAft>
              <a:buClr>
                <a:srgbClr val="7F7F7F"/>
              </a:buClr>
              <a:buSzPct val="100000"/>
              <a:buChar char="•"/>
            </a:pPr>
            <a:r>
              <a:rPr lang="en-CA"/>
              <a:t>All the different computer hardware components communicate with the CPU through the chipset.</a:t>
            </a:r>
            <a:endParaRPr/>
          </a:p>
          <a:p>
            <a:pPr indent="-66675" lvl="0" marL="228600" rtl="0" algn="l">
              <a:lnSpc>
                <a:spcPct val="110000"/>
              </a:lnSpc>
              <a:spcBef>
                <a:spcPts val="765"/>
              </a:spcBef>
              <a:spcAft>
                <a:spcPts val="0"/>
              </a:spcAft>
              <a:buClr>
                <a:srgbClr val="7F7F7F"/>
              </a:buClr>
              <a:buSzPct val="100000"/>
              <a:buNone/>
            </a:pPr>
            <a:r>
              <a:t/>
            </a:r>
            <a:endParaRPr/>
          </a:p>
          <a:p>
            <a:pPr indent="-228600" lvl="0" marL="228600" rtl="0" algn="l">
              <a:lnSpc>
                <a:spcPct val="110000"/>
              </a:lnSpc>
              <a:spcBef>
                <a:spcPts val="765"/>
              </a:spcBef>
              <a:spcAft>
                <a:spcPts val="0"/>
              </a:spcAft>
              <a:buClr>
                <a:srgbClr val="7F7F7F"/>
              </a:buClr>
              <a:buSzPct val="100000"/>
              <a:buChar char="•"/>
            </a:pPr>
            <a:r>
              <a:rPr lang="en-CA"/>
              <a:t>Most chipsets are divided into two distinct components:</a:t>
            </a:r>
            <a:endParaRPr/>
          </a:p>
          <a:p>
            <a:pPr indent="-228600" lvl="1" marL="685800" rtl="0" algn="l">
              <a:lnSpc>
                <a:spcPct val="110000"/>
              </a:lnSpc>
              <a:spcBef>
                <a:spcPts val="663"/>
              </a:spcBef>
              <a:spcAft>
                <a:spcPts val="0"/>
              </a:spcAft>
              <a:buClr>
                <a:srgbClr val="7F7F7F"/>
              </a:buClr>
              <a:buSzPct val="100000"/>
              <a:buChar char="•"/>
            </a:pPr>
            <a:r>
              <a:rPr lang="en-CA"/>
              <a:t>Northbridge</a:t>
            </a:r>
            <a:endParaRPr/>
          </a:p>
          <a:p>
            <a:pPr indent="-228600" lvl="1" marL="685800" rtl="0" algn="l">
              <a:lnSpc>
                <a:spcPct val="110000"/>
              </a:lnSpc>
              <a:spcBef>
                <a:spcPts val="663"/>
              </a:spcBef>
              <a:spcAft>
                <a:spcPts val="0"/>
              </a:spcAft>
              <a:buClr>
                <a:srgbClr val="7F7F7F"/>
              </a:buClr>
              <a:buSzPct val="100000"/>
              <a:buChar char="•"/>
            </a:pPr>
            <a:r>
              <a:rPr lang="en-CA"/>
              <a:t>Southbridge</a:t>
            </a:r>
            <a:endParaRPr/>
          </a:p>
          <a:p>
            <a:pPr indent="-66675" lvl="0" marL="228600" rtl="0" algn="l">
              <a:lnSpc>
                <a:spcPct val="110000"/>
              </a:lnSpc>
              <a:spcBef>
                <a:spcPts val="765"/>
              </a:spcBef>
              <a:spcAft>
                <a:spcPts val="0"/>
              </a:spcAft>
              <a:buClr>
                <a:srgbClr val="7F7F7F"/>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1"/>
          <p:cNvSpPr txBox="1"/>
          <p:nvPr>
            <p:ph idx="1" type="body"/>
          </p:nvPr>
        </p:nvSpPr>
        <p:spPr>
          <a:xfrm>
            <a:off x="838200" y="1825625"/>
            <a:ext cx="6174300" cy="4383900"/>
          </a:xfrm>
          <a:prstGeom prst="rect">
            <a:avLst/>
          </a:prstGeom>
          <a:noFill/>
          <a:ln>
            <a:noFill/>
          </a:ln>
        </p:spPr>
        <p:txBody>
          <a:bodyPr anchorCtr="0" anchor="t" bIns="45700" lIns="91425" spcFirstLastPara="1" rIns="91425" wrap="square" tIns="45700">
            <a:normAutofit fontScale="55000" lnSpcReduction="20000"/>
          </a:bodyPr>
          <a:lstStyle/>
          <a:p>
            <a:pPr indent="-171450" lvl="0" marL="228600" rtl="0" algn="l">
              <a:lnSpc>
                <a:spcPct val="110000"/>
              </a:lnSpc>
              <a:spcBef>
                <a:spcPts val="0"/>
              </a:spcBef>
              <a:spcAft>
                <a:spcPts val="0"/>
              </a:spcAft>
              <a:buClr>
                <a:srgbClr val="7F7F7F"/>
              </a:buClr>
              <a:buSzPct val="100000"/>
              <a:buChar char="•"/>
            </a:pPr>
            <a:r>
              <a:rPr lang="en-CA"/>
              <a:t>Directly connected to the </a:t>
            </a:r>
            <a:r>
              <a:rPr lang="en-CA">
                <a:solidFill>
                  <a:srgbClr val="0055A4"/>
                </a:solidFill>
              </a:rPr>
              <a:t>CPU</a:t>
            </a:r>
            <a:r>
              <a:rPr lang="en-CA"/>
              <a:t>, </a:t>
            </a:r>
            <a:r>
              <a:rPr lang="en-CA">
                <a:solidFill>
                  <a:srgbClr val="0055A4"/>
                </a:solidFill>
              </a:rPr>
              <a:t>main memory</a:t>
            </a:r>
            <a:r>
              <a:rPr lang="en-CA"/>
              <a:t>, </a:t>
            </a:r>
            <a:r>
              <a:rPr lang="en-CA">
                <a:solidFill>
                  <a:srgbClr val="0055A4"/>
                </a:solidFill>
              </a:rPr>
              <a:t>graphics card</a:t>
            </a:r>
            <a:r>
              <a:rPr lang="en-CA"/>
              <a:t> and </a:t>
            </a:r>
            <a:r>
              <a:rPr lang="en-CA">
                <a:solidFill>
                  <a:srgbClr val="0055A4"/>
                </a:solidFill>
              </a:rPr>
              <a:t>PCI-Express</a:t>
            </a:r>
            <a:r>
              <a:rPr lang="en-CA"/>
              <a:t>.</a:t>
            </a:r>
            <a:endParaRPr/>
          </a:p>
          <a:p>
            <a:pPr indent="-179069" lvl="1" marL="685800" rtl="0" algn="l">
              <a:lnSpc>
                <a:spcPct val="110000"/>
              </a:lnSpc>
              <a:spcBef>
                <a:spcPts val="663"/>
              </a:spcBef>
              <a:spcAft>
                <a:spcPts val="0"/>
              </a:spcAft>
              <a:buClr>
                <a:srgbClr val="7F7F7F"/>
              </a:buClr>
              <a:buSzPct val="100000"/>
              <a:buChar char="•"/>
            </a:pPr>
            <a:r>
              <a:rPr lang="en-CA"/>
              <a:t>Connection between the northbridge and CPU is known as the </a:t>
            </a:r>
            <a:r>
              <a:rPr lang="en-CA">
                <a:solidFill>
                  <a:srgbClr val="0055A4"/>
                </a:solidFill>
              </a:rPr>
              <a:t>frontside bus</a:t>
            </a:r>
            <a:r>
              <a:rPr lang="en-CA"/>
              <a:t>.</a:t>
            </a:r>
            <a:endParaRPr/>
          </a:p>
          <a:p>
            <a:pPr indent="-171450" lvl="0" marL="228600" rtl="0" algn="l">
              <a:lnSpc>
                <a:spcPct val="110000"/>
              </a:lnSpc>
              <a:spcBef>
                <a:spcPts val="765"/>
              </a:spcBef>
              <a:spcAft>
                <a:spcPts val="0"/>
              </a:spcAft>
              <a:buClr>
                <a:srgbClr val="7F7F7F"/>
              </a:buClr>
              <a:buSzPct val="100000"/>
              <a:buChar char="•"/>
            </a:pPr>
            <a:r>
              <a:rPr lang="en-CA"/>
              <a:t>Any communication between the above components must go through the northbridge first.</a:t>
            </a:r>
            <a:endParaRPr/>
          </a:p>
          <a:p>
            <a:pPr indent="-171450" lvl="0" marL="228600" rtl="0" algn="l">
              <a:lnSpc>
                <a:spcPct val="110000"/>
              </a:lnSpc>
              <a:spcBef>
                <a:spcPts val="765"/>
              </a:spcBef>
              <a:spcAft>
                <a:spcPts val="0"/>
              </a:spcAft>
              <a:buClr>
                <a:srgbClr val="7F7F7F"/>
              </a:buClr>
              <a:buSzPct val="100000"/>
              <a:buChar char="•"/>
            </a:pPr>
            <a:r>
              <a:rPr lang="en-CA"/>
              <a:t>To communicate with any other components, the communication goes through the northbridge then the southbridge.</a:t>
            </a:r>
            <a:endParaRPr/>
          </a:p>
          <a:p>
            <a:pPr indent="-171450" lvl="0" marL="228600" rtl="0" algn="l">
              <a:lnSpc>
                <a:spcPct val="110000"/>
              </a:lnSpc>
              <a:spcBef>
                <a:spcPts val="765"/>
              </a:spcBef>
              <a:spcAft>
                <a:spcPts val="0"/>
              </a:spcAft>
              <a:buClr>
                <a:srgbClr val="7F7F7F"/>
              </a:buClr>
              <a:buSzPct val="100000"/>
              <a:buChar char="•"/>
            </a:pPr>
            <a:r>
              <a:rPr lang="en-CA"/>
              <a:t>Northbridge is faster than the southbridge.</a:t>
            </a:r>
            <a:endParaRPr/>
          </a:p>
          <a:p>
            <a:pPr indent="-179069" lvl="1" marL="685800" rtl="0" algn="l">
              <a:lnSpc>
                <a:spcPct val="110000"/>
              </a:lnSpc>
              <a:spcBef>
                <a:spcPts val="663"/>
              </a:spcBef>
              <a:spcAft>
                <a:spcPts val="0"/>
              </a:spcAft>
              <a:buClr>
                <a:srgbClr val="0055A4"/>
              </a:buClr>
              <a:buSzPct val="100000"/>
              <a:buChar char="•"/>
            </a:pPr>
            <a:r>
              <a:rPr lang="en-CA">
                <a:solidFill>
                  <a:srgbClr val="0055A4"/>
                </a:solidFill>
              </a:rPr>
              <a:t>Why? </a:t>
            </a:r>
            <a:r>
              <a:rPr lang="en-CA"/>
              <a:t>Northbridge is optimized for </a:t>
            </a:r>
            <a:r>
              <a:rPr b="1" lang="en-CA"/>
              <a:t>speed</a:t>
            </a:r>
            <a:r>
              <a:rPr lang="en-CA"/>
              <a:t> (actions per second) since it connects the most used and most important components of the motherboard.</a:t>
            </a:r>
            <a:endParaRPr/>
          </a:p>
          <a:p>
            <a:pPr indent="-179069" lvl="1" marL="685800" rtl="0" algn="l">
              <a:lnSpc>
                <a:spcPct val="110000"/>
              </a:lnSpc>
              <a:spcBef>
                <a:spcPts val="663"/>
              </a:spcBef>
              <a:spcAft>
                <a:spcPts val="0"/>
              </a:spcAft>
              <a:buSzPct val="100000"/>
              <a:buChar char="•"/>
            </a:pPr>
            <a:r>
              <a:rPr lang="en-CA"/>
              <a:t>Faster actions per section comes at a cost! The Northbridge is a source of heat and needs to be placed by heatsinks and fans.</a:t>
            </a:r>
            <a:endParaRPr/>
          </a:p>
          <a:p>
            <a:pPr indent="-179069" lvl="1" marL="685800" rtl="0" algn="l">
              <a:lnSpc>
                <a:spcPct val="110000"/>
              </a:lnSpc>
              <a:spcBef>
                <a:spcPts val="663"/>
              </a:spcBef>
              <a:spcAft>
                <a:spcPts val="0"/>
              </a:spcAft>
              <a:buSzPct val="100000"/>
              <a:buChar char="•"/>
            </a:pPr>
            <a:r>
              <a:rPr lang="en-CA"/>
              <a:t>These days, the Northbridge is often directly a part of the CPU, while the Southbridge remains separate.</a:t>
            </a:r>
            <a:endParaRPr/>
          </a:p>
        </p:txBody>
      </p:sp>
      <p:sp>
        <p:nvSpPr>
          <p:cNvPr id="300" name="Google Shape;300;p1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Northbridge Chipset</a:t>
            </a:r>
            <a:endParaRPr/>
          </a:p>
        </p:txBody>
      </p:sp>
      <p:pic>
        <p:nvPicPr>
          <p:cNvPr descr="Chipset" id="301" name="Google Shape;301;p11"/>
          <p:cNvPicPr preferRelativeResize="0"/>
          <p:nvPr/>
        </p:nvPicPr>
        <p:blipFill rotWithShape="1">
          <a:blip r:embed="rId3">
            <a:alphaModFix/>
          </a:blip>
          <a:srcRect b="35178" l="0" r="0" t="0"/>
          <a:stretch/>
        </p:blipFill>
        <p:spPr>
          <a:xfrm>
            <a:off x="6844200" y="1426950"/>
            <a:ext cx="4961451" cy="3195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Southbridge Chipset</a:t>
            </a:r>
            <a:endParaRPr/>
          </a:p>
        </p:txBody>
      </p:sp>
      <p:sp>
        <p:nvSpPr>
          <p:cNvPr id="307" name="Google Shape;307;p13"/>
          <p:cNvSpPr txBox="1"/>
          <p:nvPr>
            <p:ph idx="1" type="body"/>
          </p:nvPr>
        </p:nvSpPr>
        <p:spPr>
          <a:xfrm>
            <a:off x="838200" y="1825625"/>
            <a:ext cx="6560100" cy="4350900"/>
          </a:xfrm>
          <a:prstGeom prst="rect">
            <a:avLst/>
          </a:prstGeom>
          <a:noFill/>
          <a:ln>
            <a:noFill/>
          </a:ln>
        </p:spPr>
        <p:txBody>
          <a:bodyPr anchorCtr="0" anchor="t" bIns="45700" lIns="91425" spcFirstLastPara="1" rIns="91425" wrap="square" tIns="45700">
            <a:normAutofit fontScale="62500" lnSpcReduction="10000"/>
          </a:bodyPr>
          <a:lstStyle/>
          <a:p>
            <a:pPr indent="-200025" lvl="0" marL="228600" rtl="0" algn="l">
              <a:lnSpc>
                <a:spcPct val="120000"/>
              </a:lnSpc>
              <a:spcBef>
                <a:spcPts val="0"/>
              </a:spcBef>
              <a:spcAft>
                <a:spcPts val="0"/>
              </a:spcAft>
              <a:buClr>
                <a:srgbClr val="7F7F7F"/>
              </a:buClr>
              <a:buSzPct val="100000"/>
              <a:buChar char="•"/>
            </a:pPr>
            <a:r>
              <a:rPr lang="en-CA"/>
              <a:t>Connected to the northbridge.</a:t>
            </a:r>
            <a:endParaRPr/>
          </a:p>
          <a:p>
            <a:pPr indent="-200025" lvl="0" marL="228600" rtl="0" algn="l">
              <a:lnSpc>
                <a:spcPct val="120000"/>
              </a:lnSpc>
              <a:spcBef>
                <a:spcPts val="698"/>
              </a:spcBef>
              <a:spcAft>
                <a:spcPts val="0"/>
              </a:spcAft>
              <a:buClr>
                <a:srgbClr val="7F7F7F"/>
              </a:buClr>
              <a:buSzPct val="100000"/>
              <a:buChar char="•"/>
            </a:pPr>
            <a:r>
              <a:rPr lang="en-CA"/>
              <a:t>Acts as a communication hub for less performance sensitive components.</a:t>
            </a:r>
            <a:endParaRPr/>
          </a:p>
          <a:p>
            <a:pPr indent="-203834" lvl="1" marL="685800" rtl="0" algn="l">
              <a:lnSpc>
                <a:spcPct val="120000"/>
              </a:lnSpc>
              <a:spcBef>
                <a:spcPts val="605"/>
              </a:spcBef>
              <a:spcAft>
                <a:spcPts val="0"/>
              </a:spcAft>
              <a:buClr>
                <a:srgbClr val="7F7F7F"/>
              </a:buClr>
              <a:buSzPct val="100000"/>
              <a:buChar char="•"/>
            </a:pPr>
            <a:r>
              <a:rPr lang="en-CA"/>
              <a:t>Storage devices (SATA and IDE connectors).</a:t>
            </a:r>
            <a:endParaRPr/>
          </a:p>
          <a:p>
            <a:pPr indent="-203834" lvl="1" marL="685800" rtl="0" algn="l">
              <a:lnSpc>
                <a:spcPct val="120000"/>
              </a:lnSpc>
              <a:spcBef>
                <a:spcPts val="605"/>
              </a:spcBef>
              <a:spcAft>
                <a:spcPts val="0"/>
              </a:spcAft>
              <a:buClr>
                <a:srgbClr val="7F7F7F"/>
              </a:buClr>
              <a:buSzPct val="100000"/>
              <a:buChar char="•"/>
            </a:pPr>
            <a:r>
              <a:rPr lang="en-CA"/>
              <a:t>PCI bus slots.</a:t>
            </a:r>
            <a:endParaRPr/>
          </a:p>
          <a:p>
            <a:pPr indent="-203834" lvl="1" marL="685800" rtl="0" algn="l">
              <a:lnSpc>
                <a:spcPct val="120000"/>
              </a:lnSpc>
              <a:spcBef>
                <a:spcPts val="605"/>
              </a:spcBef>
              <a:spcAft>
                <a:spcPts val="0"/>
              </a:spcAft>
              <a:buClr>
                <a:srgbClr val="7F7F7F"/>
              </a:buClr>
              <a:buSzPct val="100000"/>
              <a:buChar char="•"/>
            </a:pPr>
            <a:r>
              <a:rPr lang="en-CA"/>
              <a:t>I/O Ports (USB ports, networking, sound card, etc.)</a:t>
            </a:r>
            <a:endParaRPr/>
          </a:p>
          <a:p>
            <a:pPr indent="-200025" lvl="0" marL="228600" rtl="0" algn="l">
              <a:lnSpc>
                <a:spcPct val="120000"/>
              </a:lnSpc>
              <a:spcBef>
                <a:spcPts val="698"/>
              </a:spcBef>
              <a:spcAft>
                <a:spcPts val="0"/>
              </a:spcAft>
              <a:buClr>
                <a:srgbClr val="7F7F7F"/>
              </a:buClr>
              <a:buSzPct val="100000"/>
              <a:buChar char="•"/>
            </a:pPr>
            <a:r>
              <a:rPr lang="en-CA"/>
              <a:t>Southbridge does not require high speed communication like the northbridge.</a:t>
            </a:r>
            <a:endParaRPr/>
          </a:p>
          <a:p>
            <a:pPr indent="-200025" lvl="0" marL="228600" rtl="0" algn="l">
              <a:lnSpc>
                <a:spcPct val="120000"/>
              </a:lnSpc>
              <a:spcBef>
                <a:spcPts val="698"/>
              </a:spcBef>
              <a:spcAft>
                <a:spcPts val="0"/>
              </a:spcAft>
              <a:buClr>
                <a:srgbClr val="7F7F7F"/>
              </a:buClr>
              <a:buSzPct val="100000"/>
              <a:buChar char="•"/>
            </a:pPr>
            <a:r>
              <a:rPr lang="en-CA"/>
              <a:t>To send data from the hard drive to the main memory:</a:t>
            </a:r>
            <a:endParaRPr/>
          </a:p>
          <a:p>
            <a:pPr indent="-203834" lvl="1" marL="685800" rtl="0" algn="l">
              <a:lnSpc>
                <a:spcPct val="120000"/>
              </a:lnSpc>
              <a:spcBef>
                <a:spcPts val="605"/>
              </a:spcBef>
              <a:spcAft>
                <a:spcPts val="0"/>
              </a:spcAft>
              <a:buClr>
                <a:srgbClr val="7F7F7F"/>
              </a:buClr>
              <a:buSzPct val="100000"/>
              <a:buChar char="•"/>
            </a:pPr>
            <a:r>
              <a:rPr lang="en-CA"/>
              <a:t>Data goes to the southbridge.</a:t>
            </a:r>
            <a:endParaRPr/>
          </a:p>
          <a:p>
            <a:pPr indent="-203834" lvl="1" marL="685800" rtl="0" algn="l">
              <a:lnSpc>
                <a:spcPct val="120000"/>
              </a:lnSpc>
              <a:spcBef>
                <a:spcPts val="605"/>
              </a:spcBef>
              <a:spcAft>
                <a:spcPts val="0"/>
              </a:spcAft>
              <a:buClr>
                <a:srgbClr val="7F7F7F"/>
              </a:buClr>
              <a:buSzPct val="100000"/>
              <a:buChar char="•"/>
            </a:pPr>
            <a:r>
              <a:rPr lang="en-CA"/>
              <a:t>Southbridge sends the data to the northbridge. </a:t>
            </a:r>
            <a:endParaRPr/>
          </a:p>
          <a:p>
            <a:pPr indent="-203834" lvl="1" marL="685800" rtl="0" algn="l">
              <a:lnSpc>
                <a:spcPct val="120000"/>
              </a:lnSpc>
              <a:spcBef>
                <a:spcPts val="605"/>
              </a:spcBef>
              <a:spcAft>
                <a:spcPts val="0"/>
              </a:spcAft>
              <a:buClr>
                <a:srgbClr val="7F7F7F"/>
              </a:buClr>
              <a:buSzPct val="100000"/>
              <a:buChar char="•"/>
            </a:pPr>
            <a:r>
              <a:rPr lang="en-CA"/>
              <a:t>Northbridge will send the data to the main memory.</a:t>
            </a:r>
            <a:endParaRPr/>
          </a:p>
        </p:txBody>
      </p:sp>
      <p:pic>
        <p:nvPicPr>
          <p:cNvPr descr="Chipset" id="308" name="Google Shape;308;p13"/>
          <p:cNvPicPr preferRelativeResize="0"/>
          <p:nvPr/>
        </p:nvPicPr>
        <p:blipFill rotWithShape="1">
          <a:blip r:embed="rId3">
            <a:alphaModFix/>
          </a:blip>
          <a:srcRect b="0" l="0" r="0" t="64373"/>
          <a:stretch/>
        </p:blipFill>
        <p:spPr>
          <a:xfrm>
            <a:off x="6844175" y="2086050"/>
            <a:ext cx="4961451" cy="1756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Modern Motherboards and Chipsets</a:t>
            </a:r>
            <a:endParaRPr/>
          </a:p>
        </p:txBody>
      </p:sp>
      <p:sp>
        <p:nvSpPr>
          <p:cNvPr id="314" name="Google Shape;314;p14"/>
          <p:cNvSpPr txBox="1"/>
          <p:nvPr>
            <p:ph idx="1" type="body"/>
          </p:nvPr>
        </p:nvSpPr>
        <p:spPr>
          <a:xfrm>
            <a:off x="838199" y="1825625"/>
            <a:ext cx="11090945"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Modern chipsets integrate the northbridge chips within the CPU chip. </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CA"/>
              <a:t>New design advantages: </a:t>
            </a:r>
            <a:endParaRPr/>
          </a:p>
          <a:p>
            <a:pPr indent="-228600" lvl="1" marL="685800" rtl="0" algn="l">
              <a:lnSpc>
                <a:spcPct val="90000"/>
              </a:lnSpc>
              <a:spcBef>
                <a:spcPts val="780"/>
              </a:spcBef>
              <a:spcAft>
                <a:spcPts val="0"/>
              </a:spcAft>
              <a:buClr>
                <a:srgbClr val="7F7F7F"/>
              </a:buClr>
              <a:buSzPts val="2600"/>
              <a:buChar char="•"/>
            </a:pPr>
            <a:r>
              <a:rPr lang="en-CA"/>
              <a:t>Sensitive hardware components communicate directly with the CPU.</a:t>
            </a:r>
            <a:endParaRPr/>
          </a:p>
          <a:p>
            <a:pPr indent="-228600" lvl="1" marL="685800" rtl="0" algn="l">
              <a:lnSpc>
                <a:spcPct val="90000"/>
              </a:lnSpc>
              <a:spcBef>
                <a:spcPts val="780"/>
              </a:spcBef>
              <a:spcAft>
                <a:spcPts val="0"/>
              </a:spcAft>
              <a:buClr>
                <a:srgbClr val="7F7F7F"/>
              </a:buClr>
              <a:buSzPts val="2600"/>
              <a:buChar char="•"/>
            </a:pPr>
            <a:r>
              <a:rPr lang="en-CA"/>
              <a:t>Reduces system latency.</a:t>
            </a:r>
            <a:endParaRPr/>
          </a:p>
          <a:p>
            <a:pPr indent="-228600" lvl="1" marL="685800" rtl="0" algn="l">
              <a:lnSpc>
                <a:spcPct val="90000"/>
              </a:lnSpc>
              <a:spcBef>
                <a:spcPts val="780"/>
              </a:spcBef>
              <a:spcAft>
                <a:spcPts val="0"/>
              </a:spcAft>
              <a:buClr>
                <a:srgbClr val="7F7F7F"/>
              </a:buClr>
              <a:buSzPts val="2600"/>
              <a:buChar char="•"/>
            </a:pPr>
            <a:r>
              <a:rPr lang="en-CA"/>
              <a:t>Increases system responsiveness. </a:t>
            </a:r>
            <a:endParaRPr/>
          </a:p>
          <a:p>
            <a:pPr indent="-228600" lvl="1" marL="685800" rtl="0" algn="l">
              <a:lnSpc>
                <a:spcPct val="90000"/>
              </a:lnSpc>
              <a:spcBef>
                <a:spcPts val="780"/>
              </a:spcBef>
              <a:spcAft>
                <a:spcPts val="0"/>
              </a:spcAft>
              <a:buClr>
                <a:srgbClr val="7F7F7F"/>
              </a:buClr>
              <a:buSzPts val="2600"/>
              <a:buChar char="•"/>
            </a:pPr>
            <a:r>
              <a:rPr lang="en-CA"/>
              <a:t>Less sensitive hardware components will increase in performance.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 Bus Width: x86  versus x64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6"/>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The chipset</a:t>
            </a:r>
            <a:endParaRPr/>
          </a:p>
        </p:txBody>
      </p:sp>
      <p:pic>
        <p:nvPicPr>
          <p:cNvPr id="325" name="Google Shape;325;p16"/>
          <p:cNvPicPr preferRelativeResize="0"/>
          <p:nvPr/>
        </p:nvPicPr>
        <p:blipFill rotWithShape="1">
          <a:blip r:embed="rId3">
            <a:alphaModFix/>
          </a:blip>
          <a:srcRect b="0" l="0" r="0" t="0"/>
          <a:stretch/>
        </p:blipFill>
        <p:spPr>
          <a:xfrm>
            <a:off x="2876534" y="1501451"/>
            <a:ext cx="6438900" cy="4787900"/>
          </a:xfrm>
          <a:prstGeom prst="rect">
            <a:avLst/>
          </a:prstGeom>
          <a:noFill/>
          <a:ln>
            <a:noFill/>
          </a:ln>
        </p:spPr>
      </p:pic>
      <p:sp>
        <p:nvSpPr>
          <p:cNvPr id="326" name="Google Shape;326;p16"/>
          <p:cNvSpPr/>
          <p:nvPr/>
        </p:nvSpPr>
        <p:spPr>
          <a:xfrm>
            <a:off x="3871783" y="2253820"/>
            <a:ext cx="1822621" cy="679621"/>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27" name="Google Shape;327;p16"/>
          <p:cNvSpPr txBox="1"/>
          <p:nvPr/>
        </p:nvSpPr>
        <p:spPr>
          <a:xfrm>
            <a:off x="303770" y="1992526"/>
            <a:ext cx="274319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When we speak about the motherboard bus width, we often refer to the frontside bus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Why is the bus important?</a:t>
            </a:r>
            <a:endParaRPr/>
          </a:p>
        </p:txBody>
      </p:sp>
      <p:sp>
        <p:nvSpPr>
          <p:cNvPr id="333" name="Google Shape;333;p17"/>
          <p:cNvSpPr txBox="1"/>
          <p:nvPr/>
        </p:nvSpPr>
        <p:spPr>
          <a:xfrm>
            <a:off x="8328725" y="1621275"/>
            <a:ext cx="3914559" cy="489361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Quattrocento Sans"/>
              <a:buNone/>
            </a:pPr>
            <a:r>
              <a:rPr b="0" i="0" lang="en-CA" sz="1800" u="none" cap="none" strike="noStrike">
                <a:solidFill>
                  <a:schemeClr val="dk1"/>
                </a:solidFill>
                <a:latin typeface="Quattrocento Sans"/>
                <a:ea typeface="Quattrocento Sans"/>
                <a:cs typeface="Quattrocento Sans"/>
                <a:sym typeface="Quattrocento Sans"/>
              </a:rPr>
              <a:t>You can double check that you understand a scientific concept by checking what </a:t>
            </a:r>
            <a:r>
              <a:rPr b="1" i="0" lang="en-CA" sz="1800" u="none" cap="none" strike="noStrike">
                <a:solidFill>
                  <a:schemeClr val="dk1"/>
                </a:solidFill>
                <a:latin typeface="Quattrocento Sans"/>
                <a:ea typeface="Quattrocento Sans"/>
                <a:cs typeface="Quattrocento Sans"/>
                <a:sym typeface="Quattrocento Sans"/>
              </a:rPr>
              <a:t>units of measurement</a:t>
            </a:r>
            <a:r>
              <a:rPr b="0" i="0" lang="en-CA" sz="1800" u="none" cap="none" strike="noStrike">
                <a:solidFill>
                  <a:schemeClr val="dk1"/>
                </a:solidFill>
                <a:latin typeface="Quattrocento Sans"/>
                <a:ea typeface="Quattrocento Sans"/>
                <a:cs typeface="Quattrocento Sans"/>
                <a:sym typeface="Quattrocento Sans"/>
              </a:rPr>
              <a:t> that concept is measured by:</a:t>
            </a:r>
            <a:endParaRPr b="0" i="0" sz="18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a:p>
            <a:pPr indent="-317500" lvl="0" marL="457200" marR="0" rtl="0" algn="l">
              <a:lnSpc>
                <a:spcPct val="100000"/>
              </a:lnSpc>
              <a:spcBef>
                <a:spcPts val="0"/>
              </a:spcBef>
              <a:spcAft>
                <a:spcPts val="0"/>
              </a:spcAft>
              <a:buClr>
                <a:schemeClr val="dk1"/>
              </a:buClr>
              <a:buSzPts val="1400"/>
              <a:buFont typeface="Quattrocento Sans"/>
              <a:buChar char="●"/>
            </a:pPr>
            <a:r>
              <a:rPr b="0" i="0" lang="en-CA" sz="1800" u="none" cap="none" strike="noStrike">
                <a:solidFill>
                  <a:schemeClr val="dk1"/>
                </a:solidFill>
                <a:latin typeface="Quattrocento Sans"/>
                <a:ea typeface="Quattrocento Sans"/>
                <a:cs typeface="Quattrocento Sans"/>
                <a:sym typeface="Quattrocento Sans"/>
              </a:rPr>
              <a:t>Highway</a:t>
            </a:r>
            <a:endParaRPr b="0" i="0" sz="18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00000"/>
              </a:lnSpc>
              <a:spcBef>
                <a:spcPts val="0"/>
              </a:spcBef>
              <a:spcAft>
                <a:spcPts val="0"/>
              </a:spcAft>
              <a:buClr>
                <a:schemeClr val="dk1"/>
              </a:buClr>
              <a:buSzPts val="1400"/>
              <a:buFont typeface="Quattrocento Sans"/>
              <a:buChar char="○"/>
            </a:pPr>
            <a:r>
              <a:rPr b="1" i="0" lang="en-CA" sz="1800" u="none" cap="none" strike="noStrike">
                <a:solidFill>
                  <a:schemeClr val="dk1"/>
                </a:solidFill>
                <a:latin typeface="Quattrocento Sans"/>
                <a:ea typeface="Quattrocento Sans"/>
                <a:cs typeface="Quattrocento Sans"/>
                <a:sym typeface="Quattrocento Sans"/>
              </a:rPr>
              <a:t>Number of lanes: </a:t>
            </a:r>
            <a:r>
              <a:rPr b="0" i="0" lang="en-CA" sz="1800" u="none" cap="none" strike="noStrike">
                <a:solidFill>
                  <a:schemeClr val="dk1"/>
                </a:solidFill>
                <a:latin typeface="Quattrocento Sans"/>
                <a:ea typeface="Quattrocento Sans"/>
                <a:cs typeface="Quattrocento Sans"/>
                <a:sym typeface="Quattrocento Sans"/>
              </a:rPr>
              <a:t>(a number)</a:t>
            </a:r>
            <a:endParaRPr b="0" i="0" sz="18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00000"/>
              </a:lnSpc>
              <a:spcBef>
                <a:spcPts val="0"/>
              </a:spcBef>
              <a:spcAft>
                <a:spcPts val="0"/>
              </a:spcAft>
              <a:buClr>
                <a:schemeClr val="dk1"/>
              </a:buClr>
              <a:buSzPts val="1400"/>
              <a:buFont typeface="Quattrocento Sans"/>
              <a:buChar char="○"/>
            </a:pPr>
            <a:r>
              <a:rPr b="1" i="0" lang="en-CA" sz="1800" u="none" cap="none" strike="noStrike">
                <a:solidFill>
                  <a:schemeClr val="dk1"/>
                </a:solidFill>
                <a:latin typeface="Quattrocento Sans"/>
                <a:ea typeface="Quattrocento Sans"/>
                <a:cs typeface="Quattrocento Sans"/>
                <a:sym typeface="Quattrocento Sans"/>
              </a:rPr>
              <a:t>Speed limit:</a:t>
            </a:r>
            <a:r>
              <a:rPr b="0" i="0" lang="en-CA" sz="1800" u="none" cap="none" strike="noStrike">
                <a:solidFill>
                  <a:schemeClr val="dk1"/>
                </a:solidFill>
                <a:latin typeface="Quattrocento Sans"/>
                <a:ea typeface="Quattrocento Sans"/>
                <a:cs typeface="Quattrocento Sans"/>
                <a:sym typeface="Quattrocento Sans"/>
              </a:rPr>
              <a:t> (unit distance per time elapsed, e.g. km/h)</a:t>
            </a:r>
            <a:br>
              <a:rPr b="0" i="0" lang="en-CA" sz="1800" u="none" cap="none" strike="noStrike">
                <a:solidFill>
                  <a:schemeClr val="dk1"/>
                </a:solidFill>
                <a:latin typeface="Quattrocento Sans"/>
                <a:ea typeface="Quattrocento Sans"/>
                <a:cs typeface="Quattrocento Sans"/>
                <a:sym typeface="Quattrocento Sans"/>
              </a:rPr>
            </a:br>
            <a:endParaRPr b="0" i="0" sz="1800" u="none" cap="none" strike="noStrike">
              <a:solidFill>
                <a:schemeClr val="dk1"/>
              </a:solidFill>
              <a:latin typeface="Quattrocento Sans"/>
              <a:ea typeface="Quattrocento Sans"/>
              <a:cs typeface="Quattrocento Sans"/>
              <a:sym typeface="Quattrocento Sans"/>
            </a:endParaRPr>
          </a:p>
          <a:p>
            <a:pPr indent="-317500" lvl="0" marL="457200" marR="0" rtl="0" algn="l">
              <a:lnSpc>
                <a:spcPct val="100000"/>
              </a:lnSpc>
              <a:spcBef>
                <a:spcPts val="0"/>
              </a:spcBef>
              <a:spcAft>
                <a:spcPts val="0"/>
              </a:spcAft>
              <a:buClr>
                <a:schemeClr val="dk1"/>
              </a:buClr>
              <a:buSzPts val="1400"/>
              <a:buFont typeface="Quattrocento Sans"/>
              <a:buChar char="●"/>
            </a:pPr>
            <a:r>
              <a:rPr b="0" i="0" lang="en-CA" sz="1800" u="none" cap="none" strike="noStrike">
                <a:solidFill>
                  <a:schemeClr val="dk1"/>
                </a:solidFill>
                <a:latin typeface="Quattrocento Sans"/>
                <a:ea typeface="Quattrocento Sans"/>
                <a:cs typeface="Quattrocento Sans"/>
                <a:sym typeface="Quattrocento Sans"/>
              </a:rPr>
              <a:t>System bus</a:t>
            </a:r>
            <a:endParaRPr b="0" i="0" sz="18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00000"/>
              </a:lnSpc>
              <a:spcBef>
                <a:spcPts val="0"/>
              </a:spcBef>
              <a:spcAft>
                <a:spcPts val="0"/>
              </a:spcAft>
              <a:buClr>
                <a:schemeClr val="dk1"/>
              </a:buClr>
              <a:buSzPts val="1400"/>
              <a:buFont typeface="Quattrocento Sans"/>
              <a:buChar char="○"/>
            </a:pPr>
            <a:r>
              <a:rPr b="1" i="0" lang="en-CA" sz="1800" u="none" cap="none" strike="noStrike">
                <a:solidFill>
                  <a:schemeClr val="dk1"/>
                </a:solidFill>
                <a:latin typeface="Quattrocento Sans"/>
                <a:ea typeface="Quattrocento Sans"/>
                <a:cs typeface="Quattrocento Sans"/>
                <a:sym typeface="Quattrocento Sans"/>
              </a:rPr>
              <a:t>Bus width: </a:t>
            </a:r>
            <a:r>
              <a:rPr b="0" i="0" lang="en-CA" sz="1800" u="none" cap="none" strike="noStrike">
                <a:solidFill>
                  <a:schemeClr val="dk1"/>
                </a:solidFill>
                <a:latin typeface="Quattrocento Sans"/>
                <a:ea typeface="Quattrocento Sans"/>
                <a:cs typeface="Quattrocento Sans"/>
                <a:sym typeface="Quattrocento Sans"/>
              </a:rPr>
              <a:t>(a number of bits, eg a 32-bit processor)</a:t>
            </a:r>
            <a:endParaRPr b="0" i="0" sz="1800" u="none" cap="none" strike="noStrike">
              <a:solidFill>
                <a:schemeClr val="dk1"/>
              </a:solidFill>
              <a:latin typeface="Quattrocento Sans"/>
              <a:ea typeface="Quattrocento Sans"/>
              <a:cs typeface="Quattrocento Sans"/>
              <a:sym typeface="Quattrocento Sans"/>
            </a:endParaRPr>
          </a:p>
          <a:p>
            <a:pPr indent="-317500" lvl="1" marL="914400" marR="0" rtl="0" algn="l">
              <a:lnSpc>
                <a:spcPct val="100000"/>
              </a:lnSpc>
              <a:spcBef>
                <a:spcPts val="0"/>
              </a:spcBef>
              <a:spcAft>
                <a:spcPts val="0"/>
              </a:spcAft>
              <a:buClr>
                <a:schemeClr val="dk1"/>
              </a:buClr>
              <a:buSzPts val="1400"/>
              <a:buFont typeface="Quattrocento Sans"/>
              <a:buChar char="○"/>
            </a:pPr>
            <a:r>
              <a:rPr b="1" i="0" lang="en-CA" sz="1800" u="none" cap="none" strike="noStrike">
                <a:solidFill>
                  <a:schemeClr val="dk1"/>
                </a:solidFill>
                <a:latin typeface="Quattrocento Sans"/>
                <a:ea typeface="Quattrocento Sans"/>
                <a:cs typeface="Quattrocento Sans"/>
                <a:sym typeface="Quattrocento Sans"/>
              </a:rPr>
              <a:t>Bus speed: </a:t>
            </a:r>
            <a:r>
              <a:rPr b="0" i="0" lang="en-CA" sz="1800" u="none" cap="none" strike="noStrike">
                <a:solidFill>
                  <a:schemeClr val="dk1"/>
                </a:solidFill>
                <a:latin typeface="Quattrocento Sans"/>
                <a:ea typeface="Quattrocento Sans"/>
                <a:cs typeface="Quattrocento Sans"/>
                <a:sym typeface="Quattrocento Sans"/>
              </a:rPr>
              <a:t>(unit information per time elapsed, e.g. bits/second)</a:t>
            </a:r>
            <a:endParaRPr b="0" i="0" sz="1800" u="none" cap="none" strike="noStrike">
              <a:solidFill>
                <a:schemeClr val="dk1"/>
              </a:solidFill>
              <a:latin typeface="Quattrocento Sans"/>
              <a:ea typeface="Quattrocento Sans"/>
              <a:cs typeface="Quattrocento Sans"/>
              <a:sym typeface="Quattrocento Sans"/>
            </a:endParaRPr>
          </a:p>
        </p:txBody>
      </p:sp>
      <p:pic>
        <p:nvPicPr>
          <p:cNvPr id="334" name="Google Shape;334;p17"/>
          <p:cNvPicPr preferRelativeResize="0"/>
          <p:nvPr>
            <p:ph idx="1" type="body"/>
          </p:nvPr>
        </p:nvPicPr>
        <p:blipFill rotWithShape="1">
          <a:blip r:embed="rId3">
            <a:alphaModFix/>
          </a:blip>
          <a:srcRect b="0" l="0" r="0" t="0"/>
          <a:stretch/>
        </p:blipFill>
        <p:spPr>
          <a:xfrm>
            <a:off x="283006" y="1440643"/>
            <a:ext cx="8087100" cy="525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Highway analogy</a:t>
            </a:r>
            <a:endParaRPr/>
          </a:p>
        </p:txBody>
      </p:sp>
      <p:sp>
        <p:nvSpPr>
          <p:cNvPr id="341" name="Google Shape;341;p18"/>
          <p:cNvSpPr txBox="1"/>
          <p:nvPr>
            <p:ph idx="1" type="body"/>
          </p:nvPr>
        </p:nvSpPr>
        <p:spPr>
          <a:xfrm>
            <a:off x="838200" y="1825625"/>
            <a:ext cx="5783675"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There's 6 lanes (6 cars can pass together)</a:t>
            </a:r>
            <a:endParaRPr/>
          </a:p>
          <a:p>
            <a:pPr indent="-419100" lvl="0" marL="457200" rtl="0" algn="l">
              <a:lnSpc>
                <a:spcPct val="90000"/>
              </a:lnSpc>
              <a:spcBef>
                <a:spcPts val="900"/>
              </a:spcBef>
              <a:spcAft>
                <a:spcPts val="0"/>
              </a:spcAft>
              <a:buClr>
                <a:srgbClr val="7F7F7F"/>
              </a:buClr>
              <a:buSzPts val="3000"/>
              <a:buChar char="•"/>
            </a:pPr>
            <a:r>
              <a:rPr lang="en-CA"/>
              <a:t>On each lane, 3 cars are passing per second</a:t>
            </a:r>
            <a:endParaRPr/>
          </a:p>
          <a:p>
            <a:pPr indent="-419100" lvl="0" marL="457200" rtl="0" algn="l">
              <a:lnSpc>
                <a:spcPct val="90000"/>
              </a:lnSpc>
              <a:spcBef>
                <a:spcPts val="900"/>
              </a:spcBef>
              <a:spcAft>
                <a:spcPts val="0"/>
              </a:spcAft>
              <a:buClr>
                <a:srgbClr val="7F7F7F"/>
              </a:buClr>
              <a:buSzPts val="3000"/>
              <a:buChar char="•"/>
            </a:pPr>
            <a:r>
              <a:rPr lang="en-CA"/>
              <a:t>How many cars are passing per second on this highway?</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A traffic jam on a highway&#10;&#10;Description automatically generated" id="342" name="Google Shape;342;p18"/>
          <p:cNvPicPr preferRelativeResize="0"/>
          <p:nvPr/>
        </p:nvPicPr>
        <p:blipFill rotWithShape="1">
          <a:blip r:embed="rId3">
            <a:alphaModFix/>
          </a:blip>
          <a:srcRect b="0" l="0" r="0" t="0"/>
          <a:stretch/>
        </p:blipFill>
        <p:spPr>
          <a:xfrm>
            <a:off x="7000992" y="2038515"/>
            <a:ext cx="4549422" cy="30443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9"/>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sz="4800"/>
              <a:t> x86  versus x64</a:t>
            </a:r>
            <a:endParaRPr/>
          </a:p>
        </p:txBody>
      </p:sp>
      <p:sp>
        <p:nvSpPr>
          <p:cNvPr id="348" name="Google Shape;348;p19"/>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p>
            <a:pPr indent="-228600" lvl="0" marL="457200" rtl="0" algn="l">
              <a:lnSpc>
                <a:spcPct val="90000"/>
              </a:lnSpc>
              <a:spcBef>
                <a:spcPts val="720"/>
              </a:spcBef>
              <a:spcAft>
                <a:spcPts val="0"/>
              </a:spcAft>
              <a:buClr>
                <a:schemeClr val="dk1"/>
              </a:buClr>
              <a:buSzPts val="2400"/>
              <a:buNone/>
            </a:pPr>
            <a:r>
              <a:rPr lang="en-CA"/>
              <a:t>x86</a:t>
            </a:r>
            <a:endParaRPr/>
          </a:p>
        </p:txBody>
      </p:sp>
      <p:sp>
        <p:nvSpPr>
          <p:cNvPr id="349" name="Google Shape;349;p19"/>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CA" sz="2400"/>
              <a:t>32 bits can travel at once in our system components</a:t>
            </a:r>
            <a:endParaRPr/>
          </a:p>
          <a:p>
            <a:pPr indent="-330200" lvl="0" marL="457200" rtl="0" algn="l">
              <a:lnSpc>
                <a:spcPct val="90000"/>
              </a:lnSpc>
              <a:spcBef>
                <a:spcPts val="480"/>
              </a:spcBef>
              <a:spcAft>
                <a:spcPts val="0"/>
              </a:spcAft>
              <a:buClr>
                <a:srgbClr val="7F7F7F"/>
              </a:buClr>
              <a:buSzPts val="1600"/>
              <a:buChar char="•"/>
            </a:pPr>
            <a:r>
              <a:rPr lang="en-CA" sz="2400"/>
              <a:t>2^32   ≈ 4 Billions bits at once</a:t>
            </a:r>
            <a:endParaRPr/>
          </a:p>
        </p:txBody>
      </p:sp>
      <p:sp>
        <p:nvSpPr>
          <p:cNvPr id="350" name="Google Shape;350;p19"/>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p>
            <a:pPr indent="-228600" lvl="0" marL="457200" rtl="0" algn="l">
              <a:lnSpc>
                <a:spcPct val="90000"/>
              </a:lnSpc>
              <a:spcBef>
                <a:spcPts val="720"/>
              </a:spcBef>
              <a:spcAft>
                <a:spcPts val="0"/>
              </a:spcAft>
              <a:buClr>
                <a:schemeClr val="dk1"/>
              </a:buClr>
              <a:buSzPts val="2400"/>
              <a:buNone/>
            </a:pPr>
            <a:r>
              <a:rPr lang="en-CA"/>
              <a:t>x64</a:t>
            </a:r>
            <a:endParaRPr/>
          </a:p>
        </p:txBody>
      </p:sp>
      <p:sp>
        <p:nvSpPr>
          <p:cNvPr id="351" name="Google Shape;351;p19"/>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CA" sz="2400"/>
              <a:t>64 bits can travel at once in our system components.</a:t>
            </a:r>
            <a:endParaRPr/>
          </a:p>
          <a:p>
            <a:pPr indent="-330200" lvl="0" marL="457200" rtl="0" algn="l">
              <a:lnSpc>
                <a:spcPct val="90000"/>
              </a:lnSpc>
              <a:spcBef>
                <a:spcPts val="480"/>
              </a:spcBef>
              <a:spcAft>
                <a:spcPts val="0"/>
              </a:spcAft>
              <a:buClr>
                <a:srgbClr val="7F7F7F"/>
              </a:buClr>
              <a:buSzPts val="1600"/>
              <a:buChar char="•"/>
            </a:pPr>
            <a:r>
              <a:rPr lang="en-CA" sz="2400"/>
              <a:t>X64: 2^64   ≈ 4 Billions x 4 Billions bits at once.7</a:t>
            </a:r>
            <a:endParaRPr/>
          </a:p>
        </p:txBody>
      </p:sp>
      <p:pic>
        <p:nvPicPr>
          <p:cNvPr descr="A green ram with black squares&#10;&#10;Description automatically generated" id="352" name="Google Shape;352;p19"/>
          <p:cNvPicPr preferRelativeResize="0"/>
          <p:nvPr/>
        </p:nvPicPr>
        <p:blipFill rotWithShape="1">
          <a:blip r:embed="rId3">
            <a:alphaModFix/>
          </a:blip>
          <a:srcRect b="0" l="0" r="0" t="0"/>
          <a:stretch/>
        </p:blipFill>
        <p:spPr>
          <a:xfrm>
            <a:off x="871268" y="3866904"/>
            <a:ext cx="5072332" cy="2531627"/>
          </a:xfrm>
          <a:prstGeom prst="rect">
            <a:avLst/>
          </a:prstGeom>
          <a:noFill/>
          <a:ln>
            <a:noFill/>
          </a:ln>
        </p:spPr>
      </p:pic>
      <p:pic>
        <p:nvPicPr>
          <p:cNvPr id="353" name="Google Shape;353;p19"/>
          <p:cNvPicPr preferRelativeResize="0"/>
          <p:nvPr/>
        </p:nvPicPr>
        <p:blipFill rotWithShape="1">
          <a:blip r:embed="rId4">
            <a:alphaModFix/>
          </a:blip>
          <a:srcRect b="0" l="0" r="0" t="0"/>
          <a:stretch/>
        </p:blipFill>
        <p:spPr>
          <a:xfrm>
            <a:off x="6593456" y="3728654"/>
            <a:ext cx="4756030" cy="27937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x64</a:t>
            </a:r>
            <a:endParaRPr/>
          </a:p>
        </p:txBody>
      </p:sp>
      <p:sp>
        <p:nvSpPr>
          <p:cNvPr id="359" name="Google Shape;35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Almost all modern hardware and software are x64 </a:t>
            </a:r>
            <a:endParaRPr/>
          </a:p>
          <a:p>
            <a:pPr indent="-419100" lvl="0" marL="457200" rtl="0" algn="l">
              <a:lnSpc>
                <a:spcPct val="90000"/>
              </a:lnSpc>
              <a:spcBef>
                <a:spcPts val="900"/>
              </a:spcBef>
              <a:spcAft>
                <a:spcPts val="0"/>
              </a:spcAft>
              <a:buClr>
                <a:srgbClr val="7F7F7F"/>
              </a:buClr>
              <a:buSzPts val="3000"/>
              <a:buChar char="•"/>
            </a:pPr>
            <a:r>
              <a:rPr lang="en-CA"/>
              <a:t>64-bits system offer better system security</a:t>
            </a:r>
            <a:endParaRPr/>
          </a:p>
          <a:p>
            <a:pPr indent="-419100" lvl="0" marL="457200" rtl="0" algn="l">
              <a:lnSpc>
                <a:spcPct val="90000"/>
              </a:lnSpc>
              <a:spcBef>
                <a:spcPts val="900"/>
              </a:spcBef>
              <a:spcAft>
                <a:spcPts val="0"/>
              </a:spcAft>
              <a:buClr>
                <a:srgbClr val="7F7F7F"/>
              </a:buClr>
              <a:buSzPts val="3000"/>
              <a:buChar char="•"/>
            </a:pPr>
            <a:r>
              <a:rPr lang="en-CA"/>
              <a:t>64-bits system offer better graphics performance </a:t>
            </a:r>
            <a:endParaRPr/>
          </a:p>
          <a:p>
            <a:pPr indent="-419100" lvl="0" marL="457200" rtl="0" algn="l">
              <a:lnSpc>
                <a:spcPct val="90000"/>
              </a:lnSpc>
              <a:spcBef>
                <a:spcPts val="900"/>
              </a:spcBef>
              <a:spcAft>
                <a:spcPts val="0"/>
              </a:spcAft>
              <a:buClr>
                <a:srgbClr val="7F7F7F"/>
              </a:buClr>
              <a:buSzPts val="3000"/>
              <a:buChar char="•"/>
            </a:pPr>
            <a:r>
              <a:rPr lang="en-CA"/>
              <a:t>But! You might still need to support 32-bits (old softwares,etc).</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Central Processing Unit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Central Processing Unit (CPU) - Reminder</a:t>
            </a:r>
            <a:endParaRPr/>
          </a:p>
        </p:txBody>
      </p:sp>
      <p:sp>
        <p:nvSpPr>
          <p:cNvPr id="370" name="Google Shape;370;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120000"/>
              </a:lnSpc>
              <a:spcBef>
                <a:spcPts val="0"/>
              </a:spcBef>
              <a:spcAft>
                <a:spcPts val="0"/>
              </a:spcAft>
              <a:buClr>
                <a:srgbClr val="7F7F7F"/>
              </a:buClr>
              <a:buSzPct val="100000"/>
              <a:buChar char="•"/>
            </a:pPr>
            <a:r>
              <a:rPr lang="en-CA"/>
              <a:t>Most important element of the computer in terms of computing power.</a:t>
            </a:r>
            <a:endParaRPr/>
          </a:p>
          <a:p>
            <a:pPr indent="-228600" lvl="1" marL="685800" rtl="0" algn="l">
              <a:lnSpc>
                <a:spcPct val="120000"/>
              </a:lnSpc>
              <a:spcBef>
                <a:spcPts val="663"/>
              </a:spcBef>
              <a:spcAft>
                <a:spcPts val="0"/>
              </a:spcAft>
              <a:buClr>
                <a:srgbClr val="7F7F7F"/>
              </a:buClr>
              <a:buSzPct val="100000"/>
              <a:buChar char="•"/>
            </a:pPr>
            <a:r>
              <a:rPr lang="en-CA"/>
              <a:t>Brains of the computer.</a:t>
            </a:r>
            <a:endParaRPr/>
          </a:p>
          <a:p>
            <a:pPr indent="-228600" lvl="1" marL="685800" rtl="0" algn="l">
              <a:lnSpc>
                <a:spcPct val="120000"/>
              </a:lnSpc>
              <a:spcBef>
                <a:spcPts val="663"/>
              </a:spcBef>
              <a:spcAft>
                <a:spcPts val="0"/>
              </a:spcAft>
              <a:buClr>
                <a:srgbClr val="7F7F7F"/>
              </a:buClr>
              <a:buSzPct val="100000"/>
              <a:buChar char="•"/>
            </a:pPr>
            <a:r>
              <a:rPr lang="en-CA"/>
              <a:t>Responsible for interpreting and executing the commands from the software.</a:t>
            </a:r>
            <a:endParaRPr/>
          </a:p>
          <a:p>
            <a:pPr indent="-228600" lvl="1" marL="685800" rtl="0" algn="l">
              <a:lnSpc>
                <a:spcPct val="120000"/>
              </a:lnSpc>
              <a:spcBef>
                <a:spcPts val="663"/>
              </a:spcBef>
              <a:spcAft>
                <a:spcPts val="0"/>
              </a:spcAft>
              <a:buClr>
                <a:srgbClr val="7F7F7F"/>
              </a:buClr>
              <a:buSzPct val="100000"/>
              <a:buChar char="•"/>
            </a:pPr>
            <a:r>
              <a:rPr lang="en-CA"/>
              <a:t>The processor executes a program (sequence of stored instructions).</a:t>
            </a:r>
            <a:endParaRPr/>
          </a:p>
          <a:p>
            <a:pPr indent="-228600" lvl="2" marL="1143000" rtl="0" algn="l">
              <a:lnSpc>
                <a:spcPct val="120000"/>
              </a:lnSpc>
              <a:spcBef>
                <a:spcPts val="510"/>
              </a:spcBef>
              <a:spcAft>
                <a:spcPts val="0"/>
              </a:spcAft>
              <a:buClr>
                <a:srgbClr val="7F7F7F"/>
              </a:buClr>
              <a:buSzPct val="100000"/>
              <a:buChar char="•"/>
            </a:pPr>
            <a:r>
              <a:rPr lang="en-CA"/>
              <a:t>While the CPU is processing one step of the program, the remaining instructions and the data are stored in a special memory called cache.</a:t>
            </a:r>
            <a:endParaRPr/>
          </a:p>
          <a:p>
            <a:pPr indent="-228600" lvl="0" marL="228600" rtl="0" algn="l">
              <a:lnSpc>
                <a:spcPct val="120000"/>
              </a:lnSpc>
              <a:spcBef>
                <a:spcPts val="765"/>
              </a:spcBef>
              <a:spcAft>
                <a:spcPts val="0"/>
              </a:spcAft>
              <a:buClr>
                <a:srgbClr val="7F7F7F"/>
              </a:buClr>
              <a:buSzPct val="100000"/>
              <a:buChar char="•"/>
            </a:pPr>
            <a:r>
              <a:rPr lang="en-CA"/>
              <a:t>Almost all modern devices include a CPU:</a:t>
            </a:r>
            <a:endParaRPr/>
          </a:p>
          <a:p>
            <a:pPr indent="-228600" lvl="1" marL="685800" rtl="0" algn="l">
              <a:lnSpc>
                <a:spcPct val="120000"/>
              </a:lnSpc>
              <a:spcBef>
                <a:spcPts val="663"/>
              </a:spcBef>
              <a:spcAft>
                <a:spcPts val="0"/>
              </a:spcAft>
              <a:buClr>
                <a:srgbClr val="7F7F7F"/>
              </a:buClr>
              <a:buSzPct val="100000"/>
              <a:buChar char="•"/>
            </a:pPr>
            <a:r>
              <a:rPr lang="en-CA"/>
              <a:t>Desktops, laptops, tablets, smartphones, TVs, TV boxes, Vending machines, traffic lights, Smart devices (Fridge, washer, light bulbs)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Reminder (Lecture 4)</a:t>
            </a:r>
            <a:endParaRPr/>
          </a:p>
        </p:txBody>
      </p:sp>
      <p:sp>
        <p:nvSpPr>
          <p:cNvPr id="376" name="Google Shape;376;p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20000"/>
              </a:lnSpc>
              <a:spcBef>
                <a:spcPts val="0"/>
              </a:spcBef>
              <a:spcAft>
                <a:spcPts val="0"/>
              </a:spcAft>
              <a:buClr>
                <a:srgbClr val="0055A4"/>
              </a:buClr>
              <a:buSzPct val="100000"/>
              <a:buNone/>
            </a:pPr>
            <a:r>
              <a:rPr lang="en-CA">
                <a:solidFill>
                  <a:srgbClr val="0055A4"/>
                </a:solidFill>
              </a:rPr>
              <a:t>10000000	</a:t>
            </a:r>
            <a:r>
              <a:rPr lang="en-CA"/>
              <a:t>The next line is a number, put it in the AX register</a:t>
            </a:r>
            <a:br>
              <a:rPr lang="en-CA"/>
            </a:br>
            <a:r>
              <a:rPr lang="en-CA">
                <a:solidFill>
                  <a:srgbClr val="0055A4"/>
                </a:solidFill>
              </a:rPr>
              <a:t>00000010</a:t>
            </a:r>
            <a:r>
              <a:rPr lang="en-CA"/>
              <a:t> 	The number 2</a:t>
            </a:r>
            <a:br>
              <a:rPr lang="en-CA"/>
            </a:br>
            <a:r>
              <a:rPr lang="en-CA">
                <a:solidFill>
                  <a:srgbClr val="0055A4"/>
                </a:solidFill>
              </a:rPr>
              <a:t>10010000</a:t>
            </a:r>
            <a:r>
              <a:rPr lang="en-CA"/>
              <a:t> 	The next line is a number, put it in the BX register</a:t>
            </a:r>
            <a:br>
              <a:rPr lang="en-CA"/>
            </a:br>
            <a:r>
              <a:rPr lang="en-CA">
                <a:solidFill>
                  <a:srgbClr val="0055A4"/>
                </a:solidFill>
              </a:rPr>
              <a:t>00000011</a:t>
            </a:r>
            <a:r>
              <a:rPr lang="en-CA"/>
              <a:t> 	The number 3</a:t>
            </a:r>
            <a:br>
              <a:rPr lang="en-CA"/>
            </a:br>
            <a:r>
              <a:rPr lang="en-CA">
                <a:solidFill>
                  <a:srgbClr val="0055A4"/>
                </a:solidFill>
              </a:rPr>
              <a:t>10110000</a:t>
            </a:r>
            <a:r>
              <a:rPr lang="en-CA"/>
              <a:t> 	Add AX to BX and put the result in AX</a:t>
            </a:r>
            <a:br>
              <a:rPr lang="en-CA"/>
            </a:br>
            <a:r>
              <a:rPr lang="en-CA">
                <a:solidFill>
                  <a:srgbClr val="0055A4"/>
                </a:solidFill>
              </a:rPr>
              <a:t>11000000</a:t>
            </a:r>
            <a:r>
              <a:rPr lang="en-CA"/>
              <a:t> 	Place the value of AX on the external data bus</a:t>
            </a:r>
            <a:endParaRPr/>
          </a:p>
          <a:p>
            <a:pPr indent="0" lvl="0" marL="0" rtl="0" algn="l">
              <a:lnSpc>
                <a:spcPct val="120000"/>
              </a:lnSpc>
              <a:spcBef>
                <a:spcPts val="630"/>
              </a:spcBef>
              <a:spcAft>
                <a:spcPts val="0"/>
              </a:spcAft>
              <a:buClr>
                <a:srgbClr val="7F7F7F"/>
              </a:buClr>
              <a:buSzPct val="100000"/>
              <a:buNone/>
            </a:pPr>
            <a:r>
              <a:t/>
            </a:r>
            <a:endParaRPr/>
          </a:p>
          <a:p>
            <a:pPr indent="0" lvl="0" marL="0" rtl="0" algn="l">
              <a:lnSpc>
                <a:spcPct val="120000"/>
              </a:lnSpc>
              <a:spcBef>
                <a:spcPts val="630"/>
              </a:spcBef>
              <a:spcAft>
                <a:spcPts val="0"/>
              </a:spcAft>
              <a:buClr>
                <a:srgbClr val="7F7F7F"/>
              </a:buClr>
              <a:buSzPct val="100000"/>
              <a:buNone/>
            </a:pPr>
            <a:r>
              <a:rPr lang="en-CA"/>
              <a:t>A set of commands such as this is called a </a:t>
            </a:r>
            <a:r>
              <a:rPr lang="en-CA">
                <a:solidFill>
                  <a:srgbClr val="0055A4"/>
                </a:solidFill>
              </a:rPr>
              <a:t>program</a:t>
            </a:r>
            <a:r>
              <a:rPr lang="en-CA"/>
              <a:t>.</a:t>
            </a:r>
            <a:br>
              <a:rPr lang="en-CA"/>
            </a:br>
            <a:br>
              <a:rPr lang="en-CA"/>
            </a:br>
            <a:r>
              <a:rPr lang="en-CA"/>
              <a:t>A </a:t>
            </a:r>
            <a:r>
              <a:rPr b="1" lang="en-CA"/>
              <a:t>program</a:t>
            </a:r>
            <a:r>
              <a:rPr lang="en-CA"/>
              <a:t> is a series of command sent to a </a:t>
            </a:r>
            <a:r>
              <a:rPr b="1" lang="en-CA"/>
              <a:t>CPU</a:t>
            </a:r>
            <a:r>
              <a:rPr lang="en-CA"/>
              <a:t> in a specific order for the CPU to perform work.</a:t>
            </a:r>
            <a:br>
              <a:rPr lang="en-CA"/>
            </a:br>
            <a:endParaRPr/>
          </a:p>
        </p:txBody>
      </p:sp>
      <p:sp>
        <p:nvSpPr>
          <p:cNvPr id="377" name="Google Shape;377;p23"/>
          <p:cNvSpPr txBox="1"/>
          <p:nvPr>
            <p:ph idx="12" type="sldNum"/>
          </p:nvPr>
        </p:nvSpPr>
        <p:spPr>
          <a:xfrm>
            <a:off x="8077200" y="6356352"/>
            <a:ext cx="3276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CA"/>
              <a:t>‹#›</a:t>
            </a:fld>
            <a:endParaRPr/>
          </a:p>
        </p:txBody>
      </p:sp>
      <p:pic>
        <p:nvPicPr>
          <p:cNvPr descr="https://lh3.googleusercontent.com/w4YxRfJav6FGL_fsQZkrEWGSnDB29KUw2nkdHil7oqhnLHgOOZK4mSHDDteUtsTmk5e0ckykZp5lR43vhS_MYdLQcbzCSoWNrbUBXvjSh5EsfieGBq-fkNK7tSxnItkhnft_tvDgBUw" id="378" name="Google Shape;378;p23"/>
          <p:cNvPicPr preferRelativeResize="0"/>
          <p:nvPr/>
        </p:nvPicPr>
        <p:blipFill rotWithShape="1">
          <a:blip r:embed="rId3">
            <a:alphaModFix/>
          </a:blip>
          <a:srcRect b="0" l="0" r="0" t="0"/>
          <a:stretch/>
        </p:blipFill>
        <p:spPr>
          <a:xfrm>
            <a:off x="8711998" y="1029952"/>
            <a:ext cx="3060775" cy="3618474"/>
          </a:xfrm>
          <a:prstGeom prst="rect">
            <a:avLst/>
          </a:prstGeom>
          <a:noFill/>
          <a:ln cap="flat" cmpd="sng" w="9525">
            <a:solidFill>
              <a:srgbClr val="4A66AC"/>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3600"/>
              <a:buNone/>
            </a:pPr>
            <a:r>
              <a:rPr lang="en-CA">
                <a:latin typeface="Calibri"/>
                <a:ea typeface="Calibri"/>
                <a:cs typeface="Calibri"/>
                <a:sym typeface="Calibri"/>
              </a:rPr>
              <a:t>Pipelining - Reminder</a:t>
            </a:r>
            <a:endParaRPr>
              <a:latin typeface="Calibri"/>
              <a:ea typeface="Calibri"/>
              <a:cs typeface="Calibri"/>
              <a:sym typeface="Calibri"/>
            </a:endParaRPr>
          </a:p>
        </p:txBody>
      </p:sp>
      <p:sp>
        <p:nvSpPr>
          <p:cNvPr id="384" name="Google Shape;384;p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Char char="•"/>
            </a:pPr>
            <a:r>
              <a:rPr lang="en-CA" sz="2400">
                <a:latin typeface="Calibri"/>
                <a:ea typeface="Calibri"/>
                <a:cs typeface="Calibri"/>
                <a:sym typeface="Calibri"/>
              </a:rPr>
              <a:t>The CPU takes at least four stages (</a:t>
            </a:r>
            <a:r>
              <a:rPr b="1" lang="en-CA" sz="2400">
                <a:latin typeface="Calibri"/>
                <a:ea typeface="Calibri"/>
                <a:cs typeface="Calibri"/>
                <a:sym typeface="Calibri"/>
              </a:rPr>
              <a:t>fetch, decode, execute, write/repeat</a:t>
            </a:r>
            <a:r>
              <a:rPr lang="en-CA" sz="2400">
                <a:latin typeface="Calibri"/>
                <a:ea typeface="Calibri"/>
                <a:cs typeface="Calibri"/>
                <a:sym typeface="Calibri"/>
              </a:rPr>
              <a:t>) to do something. See </a:t>
            </a:r>
            <a:r>
              <a:rPr lang="en-CA" sz="2400" u="sng">
                <a:solidFill>
                  <a:schemeClr val="hlink"/>
                </a:solidFill>
                <a:latin typeface="Calibri"/>
                <a:ea typeface="Calibri"/>
                <a:cs typeface="Calibri"/>
                <a:sym typeface="Calibri"/>
                <a:hlinkClick r:id="rId3"/>
              </a:rPr>
              <a:t>https://en.wikipedia.org/wiki/Instruction_cycle</a:t>
            </a:r>
            <a:r>
              <a:rPr lang="en-CA" sz="2400">
                <a:latin typeface="Calibri"/>
                <a:ea typeface="Calibri"/>
                <a:cs typeface="Calibri"/>
                <a:sym typeface="Calibri"/>
              </a:rPr>
              <a:t> for more detail</a:t>
            </a:r>
            <a:br>
              <a:rPr lang="en-CA" sz="2400">
                <a:latin typeface="Calibri"/>
                <a:ea typeface="Calibri"/>
                <a:cs typeface="Calibri"/>
                <a:sym typeface="Calibri"/>
              </a:rPr>
            </a:br>
            <a:br>
              <a:rPr lang="en-CA" sz="2400">
                <a:latin typeface="Calibri"/>
                <a:ea typeface="Calibri"/>
                <a:cs typeface="Calibri"/>
                <a:sym typeface="Calibri"/>
              </a:rPr>
            </a:br>
            <a:r>
              <a:rPr lang="en-CA" sz="2400">
                <a:latin typeface="Calibri"/>
                <a:ea typeface="Calibri"/>
                <a:cs typeface="Calibri"/>
                <a:sym typeface="Calibri"/>
              </a:rPr>
              <a:t>Small discrete circuits inside the CPU handle each of these stages.</a:t>
            </a:r>
            <a:endParaRPr>
              <a:latin typeface="Calibri"/>
              <a:ea typeface="Calibri"/>
              <a:cs typeface="Calibri"/>
              <a:sym typeface="Calibri"/>
            </a:endParaRPr>
          </a:p>
          <a:p>
            <a:pPr indent="-228600" lvl="0" marL="228600" rtl="0" algn="l">
              <a:lnSpc>
                <a:spcPct val="90000"/>
              </a:lnSpc>
              <a:spcBef>
                <a:spcPts val="720"/>
              </a:spcBef>
              <a:spcAft>
                <a:spcPts val="0"/>
              </a:spcAft>
              <a:buClr>
                <a:srgbClr val="7F7F7F"/>
              </a:buClr>
              <a:buSzPts val="2400"/>
              <a:buChar char="•"/>
            </a:pPr>
            <a:r>
              <a:rPr lang="en-CA" sz="2400">
                <a:latin typeface="Calibri"/>
                <a:ea typeface="Calibri"/>
                <a:cs typeface="Calibri"/>
                <a:sym typeface="Calibri"/>
              </a:rPr>
              <a:t>By organizing these circuits in a conveyor-belt fashion (called pipelining), our “man-in-a-box” becomes “men-in-a-box”, thus improving efficiency.</a:t>
            </a:r>
            <a:endParaRPr>
              <a:latin typeface="Calibri"/>
              <a:ea typeface="Calibri"/>
              <a:cs typeface="Calibri"/>
              <a:sym typeface="Calibri"/>
            </a:endParaRPr>
          </a:p>
          <a:p>
            <a:pPr indent="-228600" lvl="0" marL="228600" rtl="0" algn="l">
              <a:lnSpc>
                <a:spcPct val="90000"/>
              </a:lnSpc>
              <a:spcBef>
                <a:spcPts val="720"/>
              </a:spcBef>
              <a:spcAft>
                <a:spcPts val="0"/>
              </a:spcAft>
              <a:buClr>
                <a:srgbClr val="7F7F7F"/>
              </a:buClr>
              <a:buSzPts val="2400"/>
              <a:buChar char="•"/>
            </a:pPr>
            <a:r>
              <a:rPr lang="en-CA" sz="2400">
                <a:latin typeface="Calibri"/>
                <a:ea typeface="Calibri"/>
                <a:cs typeface="Calibri"/>
                <a:sym typeface="Calibri"/>
              </a:rPr>
              <a:t>Helps system to run faster.</a:t>
            </a:r>
            <a:br>
              <a:rPr lang="en-CA" sz="2400">
                <a:latin typeface="Calibri"/>
                <a:ea typeface="Calibri"/>
                <a:cs typeface="Calibri"/>
                <a:sym typeface="Calibri"/>
              </a:rPr>
            </a:br>
            <a:r>
              <a:rPr lang="en-CA" sz="2400">
                <a:latin typeface="Calibri"/>
                <a:ea typeface="Calibri"/>
                <a:cs typeface="Calibri"/>
                <a:sym typeface="Calibri"/>
              </a:rPr>
              <a:t>Not perfect and sometimes stalls.</a:t>
            </a:r>
            <a:br>
              <a:rPr lang="en-CA" sz="2400">
                <a:latin typeface="Calibri"/>
                <a:ea typeface="Calibri"/>
                <a:cs typeface="Calibri"/>
                <a:sym typeface="Calibri"/>
              </a:rPr>
            </a:br>
            <a:r>
              <a:rPr lang="en-CA" sz="2400">
                <a:latin typeface="Calibri"/>
                <a:ea typeface="Calibri"/>
                <a:cs typeface="Calibri"/>
                <a:sym typeface="Calibri"/>
              </a:rPr>
              <a:t>Some CPUs therefore have multiple pipelines.</a:t>
            </a:r>
            <a:br>
              <a:rPr lang="en-CA" sz="2400">
                <a:latin typeface="Calibri"/>
                <a:ea typeface="Calibri"/>
                <a:cs typeface="Calibri"/>
                <a:sym typeface="Calibri"/>
              </a:rPr>
            </a:br>
            <a:endParaRPr sz="2400">
              <a:latin typeface="Calibri"/>
              <a:ea typeface="Calibri"/>
              <a:cs typeface="Calibri"/>
              <a:sym typeface="Calibri"/>
            </a:endParaRPr>
          </a:p>
        </p:txBody>
      </p:sp>
      <p:pic>
        <p:nvPicPr>
          <p:cNvPr descr="https://lh3.googleusercontent.com/_wM5v4nrSto_qrnc9xYRO-jDdnxdImaErzwUjdaPinQtEM-2SAYRsVy4Dsiz3basYGzswHKJ3FuqNbHVw-IC9kQdC1NQNPd1h34K48ciJyeK9-gTvUUHZf0Y3OiJhGVHWo-CmlMT2Q" id="385" name="Google Shape;385;p24"/>
          <p:cNvPicPr preferRelativeResize="0"/>
          <p:nvPr/>
        </p:nvPicPr>
        <p:blipFill rotWithShape="1">
          <a:blip r:embed="rId4">
            <a:alphaModFix/>
          </a:blip>
          <a:srcRect b="0" l="0" r="0" t="0"/>
          <a:stretch/>
        </p:blipFill>
        <p:spPr>
          <a:xfrm>
            <a:off x="7729600" y="4414071"/>
            <a:ext cx="4286250" cy="1724025"/>
          </a:xfrm>
          <a:prstGeom prst="rect">
            <a:avLst/>
          </a:prstGeom>
          <a:noFill/>
          <a:ln cap="flat" cmpd="sng" w="9525">
            <a:solidFill>
              <a:schemeClr val="accent1"/>
            </a:solidFill>
            <a:prstDash val="solid"/>
            <a:round/>
            <a:headEnd len="sm" w="sm" type="none"/>
            <a:tailEnd len="sm" w="sm" type="none"/>
          </a:ln>
        </p:spPr>
      </p:pic>
      <p:sp>
        <p:nvSpPr>
          <p:cNvPr id="386" name="Google Shape;386;p24"/>
          <p:cNvSpPr txBox="1"/>
          <p:nvPr>
            <p:ph idx="12" type="sldNum"/>
          </p:nvPr>
        </p:nvSpPr>
        <p:spPr>
          <a:xfrm>
            <a:off x="8077200" y="6356352"/>
            <a:ext cx="3276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CA">
                <a:latin typeface="Calibri"/>
                <a:ea typeface="Calibri"/>
                <a:cs typeface="Calibri"/>
                <a:sym typeface="Calibri"/>
              </a:rPr>
              <a:t>‹#›</a:t>
            </a:fld>
            <a:endParaRPr>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History - Reminder</a:t>
            </a:r>
            <a:endParaRPr/>
          </a:p>
        </p:txBody>
      </p:sp>
      <p:sp>
        <p:nvSpPr>
          <p:cNvPr id="392" name="Google Shape;39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First CPU: Intel 4004 processor:</a:t>
            </a:r>
            <a:endParaRPr/>
          </a:p>
          <a:p>
            <a:pPr indent="-228600" lvl="1" marL="685800" rtl="0" algn="l">
              <a:lnSpc>
                <a:spcPct val="90000"/>
              </a:lnSpc>
              <a:spcBef>
                <a:spcPts val="780"/>
              </a:spcBef>
              <a:spcAft>
                <a:spcPts val="0"/>
              </a:spcAft>
              <a:buClr>
                <a:srgbClr val="7F7F7F"/>
              </a:buClr>
              <a:buSzPts val="2600"/>
              <a:buChar char="•"/>
            </a:pPr>
            <a:r>
              <a:rPr lang="en-CA"/>
              <a:t>Developed at </a:t>
            </a:r>
            <a:r>
              <a:rPr lang="en-CA">
                <a:solidFill>
                  <a:srgbClr val="0055A4"/>
                </a:solidFill>
              </a:rPr>
              <a:t>Intel Corp </a:t>
            </a:r>
            <a:r>
              <a:rPr lang="en-CA"/>
              <a:t>by Ted Hoff. </a:t>
            </a:r>
            <a:endParaRPr/>
          </a:p>
          <a:p>
            <a:pPr indent="-228600" lvl="1" marL="685800" rtl="0" algn="l">
              <a:lnSpc>
                <a:spcPct val="90000"/>
              </a:lnSpc>
              <a:spcBef>
                <a:spcPts val="780"/>
              </a:spcBef>
              <a:spcAft>
                <a:spcPts val="0"/>
              </a:spcAft>
              <a:buClr>
                <a:srgbClr val="7F7F7F"/>
              </a:buClr>
              <a:buSzPts val="2600"/>
              <a:buChar char="•"/>
            </a:pPr>
            <a:r>
              <a:rPr lang="en-CA"/>
              <a:t>Introduced in 1971.</a:t>
            </a:r>
            <a:endParaRPr/>
          </a:p>
          <a:p>
            <a:pPr indent="-228600" lvl="1" marL="685800" rtl="0" algn="l">
              <a:lnSpc>
                <a:spcPct val="90000"/>
              </a:lnSpc>
              <a:spcBef>
                <a:spcPts val="780"/>
              </a:spcBef>
              <a:spcAft>
                <a:spcPts val="0"/>
              </a:spcAft>
              <a:buClr>
                <a:srgbClr val="7F7F7F"/>
              </a:buClr>
              <a:buSzPts val="2600"/>
              <a:buChar char="•"/>
            </a:pPr>
            <a:r>
              <a:rPr lang="en-CA"/>
              <a:t>Design:</a:t>
            </a:r>
            <a:endParaRPr/>
          </a:p>
          <a:p>
            <a:pPr indent="-228600" lvl="2" marL="1143000" rtl="0" algn="l">
              <a:lnSpc>
                <a:spcPct val="90000"/>
              </a:lnSpc>
              <a:spcBef>
                <a:spcPts val="600"/>
              </a:spcBef>
              <a:spcAft>
                <a:spcPts val="0"/>
              </a:spcAft>
              <a:buClr>
                <a:srgbClr val="7F7F7F"/>
              </a:buClr>
              <a:buSzPts val="2000"/>
              <a:buChar char="•"/>
            </a:pPr>
            <a:r>
              <a:rPr lang="en-CA"/>
              <a:t>108 kHz (2,300 transistors).</a:t>
            </a:r>
            <a:endParaRPr/>
          </a:p>
          <a:p>
            <a:pPr indent="-228600" lvl="2" marL="1143000" rtl="0" algn="l">
              <a:lnSpc>
                <a:spcPct val="90000"/>
              </a:lnSpc>
              <a:spcBef>
                <a:spcPts val="600"/>
              </a:spcBef>
              <a:spcAft>
                <a:spcPts val="0"/>
              </a:spcAft>
              <a:buClr>
                <a:srgbClr val="7F7F7F"/>
              </a:buClr>
              <a:buSzPts val="2000"/>
              <a:buChar char="•"/>
            </a:pPr>
            <a:r>
              <a:rPr lang="en-CA"/>
              <a:t>Performed 60,000 OPS (operations per second)</a:t>
            </a:r>
            <a:endParaRPr/>
          </a:p>
          <a:p>
            <a:pPr indent="-228600" lvl="2" marL="1143000" rtl="0" algn="l">
              <a:lnSpc>
                <a:spcPct val="90000"/>
              </a:lnSpc>
              <a:spcBef>
                <a:spcPts val="600"/>
              </a:spcBef>
              <a:spcAft>
                <a:spcPts val="0"/>
              </a:spcAft>
              <a:buClr>
                <a:srgbClr val="7F7F7F"/>
              </a:buClr>
              <a:buSzPts val="2000"/>
              <a:buChar char="•"/>
            </a:pPr>
            <a:r>
              <a:rPr lang="en-CA"/>
              <a:t>Addressed 640 bytes of memory.</a:t>
            </a:r>
            <a:endParaRPr/>
          </a:p>
          <a:p>
            <a:pPr indent="-228600" lvl="2" marL="1143000" rtl="0" algn="l">
              <a:lnSpc>
                <a:spcPct val="90000"/>
              </a:lnSpc>
              <a:spcBef>
                <a:spcPts val="600"/>
              </a:spcBef>
              <a:spcAft>
                <a:spcPts val="0"/>
              </a:spcAft>
              <a:buClr>
                <a:srgbClr val="7F7F7F"/>
              </a:buClr>
              <a:buSzPts val="2000"/>
              <a:buChar char="•"/>
            </a:pPr>
            <a:r>
              <a:rPr lang="en-CA"/>
              <a:t>Cost $200.00.</a:t>
            </a:r>
            <a:endParaRPr/>
          </a:p>
          <a:p>
            <a:pPr indent="-63500" lvl="1" marL="685800" rtl="0" algn="l">
              <a:lnSpc>
                <a:spcPct val="90000"/>
              </a:lnSpc>
              <a:spcBef>
                <a:spcPts val="780"/>
              </a:spcBef>
              <a:spcAft>
                <a:spcPts val="0"/>
              </a:spcAft>
              <a:buClr>
                <a:srgbClr val="7F7F7F"/>
              </a:buClr>
              <a:buSzPts val="2600"/>
              <a:buNone/>
            </a:pPr>
            <a:r>
              <a:t/>
            </a:r>
            <a:endParaRPr/>
          </a:p>
        </p:txBody>
      </p:sp>
      <p:pic>
        <p:nvPicPr>
          <p:cNvPr id="393" name="Google Shape;393;p25"/>
          <p:cNvPicPr preferRelativeResize="0"/>
          <p:nvPr/>
        </p:nvPicPr>
        <p:blipFill rotWithShape="1">
          <a:blip r:embed="rId3">
            <a:alphaModFix/>
          </a:blip>
          <a:srcRect b="0" l="0" r="0" t="0"/>
          <a:stretch/>
        </p:blipFill>
        <p:spPr>
          <a:xfrm>
            <a:off x="9127222" y="1598103"/>
            <a:ext cx="2006600" cy="22098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descr="Intel 4004 processor" id="394" name="Google Shape;394;p25"/>
          <p:cNvPicPr preferRelativeResize="0"/>
          <p:nvPr/>
        </p:nvPicPr>
        <p:blipFill rotWithShape="1">
          <a:blip r:embed="rId4">
            <a:alphaModFix/>
          </a:blip>
          <a:srcRect b="6935" l="0" r="0" t="0"/>
          <a:stretch/>
        </p:blipFill>
        <p:spPr>
          <a:xfrm>
            <a:off x="8039624" y="4405091"/>
            <a:ext cx="1972495" cy="208047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Manufacturers - Reminder</a:t>
            </a:r>
            <a:endParaRPr/>
          </a:p>
        </p:txBody>
      </p:sp>
      <p:sp>
        <p:nvSpPr>
          <p:cNvPr id="400" name="Google Shape;40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Intel and AMD are the two most popular manufacturers of CPUs for desktops, laptops, and servers.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CA"/>
              <a:t>NVIDIA, Qualcomm, Samsung and Apple are major manufacturers of mobile CPUs.</a:t>
            </a:r>
            <a:endParaRPr/>
          </a:p>
          <a:p>
            <a:pPr indent="-228600" lvl="1" marL="685800" rtl="0" algn="l">
              <a:lnSpc>
                <a:spcPct val="90000"/>
              </a:lnSpc>
              <a:spcBef>
                <a:spcPts val="780"/>
              </a:spcBef>
              <a:spcAft>
                <a:spcPts val="0"/>
              </a:spcAft>
              <a:buClr>
                <a:srgbClr val="7F7F7F"/>
              </a:buClr>
              <a:buSzPts val="2600"/>
              <a:buChar char="•"/>
            </a:pPr>
            <a:r>
              <a:rPr lang="en-CA"/>
              <a:t>Used in smartphone, tablets, TV boxes, etc.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Manufacturers - Reminder</a:t>
            </a:r>
            <a:endParaRPr/>
          </a:p>
        </p:txBody>
      </p:sp>
      <p:pic>
        <p:nvPicPr>
          <p:cNvPr id="407" name="Google Shape;407;p27"/>
          <p:cNvPicPr preferRelativeResize="0"/>
          <p:nvPr/>
        </p:nvPicPr>
        <p:blipFill rotWithShape="1">
          <a:blip r:embed="rId3">
            <a:alphaModFix/>
          </a:blip>
          <a:srcRect b="0" l="0" r="0" t="0"/>
          <a:stretch/>
        </p:blipFill>
        <p:spPr>
          <a:xfrm>
            <a:off x="2064590" y="2257312"/>
            <a:ext cx="7847161" cy="284658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8"/>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CPU Architecture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Components</a:t>
            </a:r>
            <a:endParaRPr/>
          </a:p>
        </p:txBody>
      </p:sp>
      <p:sp>
        <p:nvSpPr>
          <p:cNvPr id="418" name="Google Shape;41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There are two primary components for a CPU:</a:t>
            </a:r>
            <a:endParaRPr/>
          </a:p>
          <a:p>
            <a:pPr indent="-228600" lvl="1" marL="685800" rtl="0" algn="l">
              <a:lnSpc>
                <a:spcPct val="90000"/>
              </a:lnSpc>
              <a:spcBef>
                <a:spcPts val="780"/>
              </a:spcBef>
              <a:spcAft>
                <a:spcPts val="0"/>
              </a:spcAft>
              <a:buSzPts val="2600"/>
              <a:buChar char="•"/>
            </a:pPr>
            <a:r>
              <a:rPr lang="en-CA"/>
              <a:t>Arithmetic Logic Unit – </a:t>
            </a:r>
            <a:r>
              <a:rPr lang="en-CA">
                <a:solidFill>
                  <a:srgbClr val="0055A4"/>
                </a:solidFill>
              </a:rPr>
              <a:t>ALU (introduced in Lecture 5)</a:t>
            </a:r>
            <a:r>
              <a:rPr lang="en-CA"/>
              <a:t>: </a:t>
            </a:r>
            <a:endParaRPr/>
          </a:p>
          <a:p>
            <a:pPr indent="-228600" lvl="2" marL="1143000" rtl="0" algn="l">
              <a:lnSpc>
                <a:spcPct val="90000"/>
              </a:lnSpc>
              <a:spcBef>
                <a:spcPts val="600"/>
              </a:spcBef>
              <a:spcAft>
                <a:spcPts val="0"/>
              </a:spcAft>
              <a:buClr>
                <a:srgbClr val="7F7F7F"/>
              </a:buClr>
              <a:buSzPts val="2000"/>
              <a:buChar char="•"/>
            </a:pPr>
            <a:r>
              <a:rPr lang="en-CA"/>
              <a:t>Performs basic arithmetic calculations like adding, subtracting, multiplication and division of numbers.</a:t>
            </a:r>
            <a:endParaRPr/>
          </a:p>
          <a:p>
            <a:pPr indent="-228600" lvl="2" marL="1143000" rtl="0" algn="l">
              <a:lnSpc>
                <a:spcPct val="90000"/>
              </a:lnSpc>
              <a:spcBef>
                <a:spcPts val="600"/>
              </a:spcBef>
              <a:spcAft>
                <a:spcPts val="0"/>
              </a:spcAft>
              <a:buClr>
                <a:srgbClr val="7F7F7F"/>
              </a:buClr>
              <a:buSzPts val="2000"/>
              <a:buChar char="•"/>
            </a:pPr>
            <a:r>
              <a:rPr lang="en-CA"/>
              <a:t>Performs logical operations like the comparison.</a:t>
            </a:r>
            <a:endParaRPr/>
          </a:p>
          <a:p>
            <a:pPr indent="-228600" lvl="1" marL="685800" rtl="0" algn="l">
              <a:lnSpc>
                <a:spcPct val="90000"/>
              </a:lnSpc>
              <a:spcBef>
                <a:spcPts val="780"/>
              </a:spcBef>
              <a:spcAft>
                <a:spcPts val="0"/>
              </a:spcAft>
              <a:buSzPts val="2600"/>
              <a:buChar char="•"/>
            </a:pPr>
            <a:r>
              <a:rPr lang="en-CA"/>
              <a:t>Control Unit – </a:t>
            </a:r>
            <a:r>
              <a:rPr lang="en-CA">
                <a:solidFill>
                  <a:srgbClr val="0055A4"/>
                </a:solidFill>
              </a:rPr>
              <a:t>CU</a:t>
            </a:r>
            <a:r>
              <a:rPr lang="en-CA"/>
              <a:t>: </a:t>
            </a:r>
            <a:endParaRPr/>
          </a:p>
          <a:p>
            <a:pPr indent="-228600" lvl="2" marL="1143000" rtl="0" algn="l">
              <a:lnSpc>
                <a:spcPct val="90000"/>
              </a:lnSpc>
              <a:spcBef>
                <a:spcPts val="600"/>
              </a:spcBef>
              <a:spcAft>
                <a:spcPts val="0"/>
              </a:spcAft>
              <a:buClr>
                <a:srgbClr val="7F7F7F"/>
              </a:buClr>
              <a:buSzPts val="2600"/>
              <a:buChar char="•"/>
            </a:pPr>
            <a:r>
              <a:rPr lang="en-CA"/>
              <a:t>Controls all operations taking place within the processor.</a:t>
            </a:r>
            <a:endParaRPr/>
          </a:p>
          <a:p>
            <a:pPr indent="-228600" lvl="2" marL="1143000" rtl="0" algn="l">
              <a:lnSpc>
                <a:spcPct val="90000"/>
              </a:lnSpc>
              <a:spcBef>
                <a:spcPts val="600"/>
              </a:spcBef>
              <a:spcAft>
                <a:spcPts val="0"/>
              </a:spcAft>
              <a:buSzPts val="2000"/>
              <a:buChar char="•"/>
            </a:pPr>
            <a:r>
              <a:rPr lang="en-CA"/>
              <a:t>Instructs the ALU on which arithmetic/logical operation is to be performed. </a:t>
            </a:r>
            <a:endParaRPr/>
          </a:p>
          <a:p>
            <a:pPr indent="-228600" lvl="2" marL="1143000" rtl="0" algn="l">
              <a:lnSpc>
                <a:spcPct val="90000"/>
              </a:lnSpc>
              <a:spcBef>
                <a:spcPts val="600"/>
              </a:spcBef>
              <a:spcAft>
                <a:spcPts val="0"/>
              </a:spcAft>
              <a:buClr>
                <a:srgbClr val="7F7F7F"/>
              </a:buClr>
              <a:buSzPts val="2000"/>
              <a:buChar char="•"/>
            </a:pPr>
            <a:r>
              <a:rPr lang="en-CA"/>
              <a:t>Acts under the direction of the </a:t>
            </a:r>
            <a:r>
              <a:rPr b="1" lang="en-CA"/>
              <a:t>system clock</a:t>
            </a:r>
            <a:r>
              <a:rPr lang="en-CA"/>
              <a:t>.</a:t>
            </a:r>
            <a:endParaRPr/>
          </a:p>
          <a:p>
            <a:pPr indent="-228600" lvl="2" marL="1143000" rtl="0" algn="l">
              <a:lnSpc>
                <a:spcPct val="90000"/>
              </a:lnSpc>
              <a:spcBef>
                <a:spcPts val="600"/>
              </a:spcBef>
              <a:spcAft>
                <a:spcPts val="0"/>
              </a:spcAft>
              <a:buClr>
                <a:srgbClr val="7F7F7F"/>
              </a:buClr>
              <a:buSzPts val="2000"/>
              <a:buChar char="•"/>
            </a:pPr>
            <a:r>
              <a:rPr lang="en-CA"/>
              <a:t>Sorts out all the internal data paths inside the processor to make sure that data is fetched from the right place and delivered to the right place.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Other CPU Components</a:t>
            </a:r>
            <a:endParaRPr/>
          </a:p>
        </p:txBody>
      </p:sp>
      <p:sp>
        <p:nvSpPr>
          <p:cNvPr id="424" name="Google Shape;424;p30"/>
          <p:cNvSpPr txBox="1"/>
          <p:nvPr>
            <p:ph idx="1" type="body"/>
          </p:nvPr>
        </p:nvSpPr>
        <p:spPr>
          <a:xfrm>
            <a:off x="838200" y="1825625"/>
            <a:ext cx="7138341"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10000"/>
              </a:lnSpc>
              <a:spcBef>
                <a:spcPts val="0"/>
              </a:spcBef>
              <a:spcAft>
                <a:spcPts val="0"/>
              </a:spcAft>
              <a:buClr>
                <a:srgbClr val="0055A4"/>
              </a:buClr>
              <a:buSzPct val="100000"/>
              <a:buChar char="•"/>
            </a:pPr>
            <a:r>
              <a:rPr lang="en-CA">
                <a:solidFill>
                  <a:srgbClr val="0055A4"/>
                </a:solidFill>
              </a:rPr>
              <a:t>Registers</a:t>
            </a:r>
            <a:r>
              <a:rPr lang="en-CA"/>
              <a:t>: a temporary storage used to store data:</a:t>
            </a:r>
            <a:endParaRPr/>
          </a:p>
          <a:p>
            <a:pPr indent="-228600" lvl="1" marL="685800" rtl="0" algn="l">
              <a:lnSpc>
                <a:spcPct val="110000"/>
              </a:lnSpc>
              <a:spcBef>
                <a:spcPts val="663"/>
              </a:spcBef>
              <a:spcAft>
                <a:spcPts val="0"/>
              </a:spcAft>
              <a:buClr>
                <a:srgbClr val="7F7F7F"/>
              </a:buClr>
              <a:buSzPct val="100000"/>
              <a:buChar char="•"/>
            </a:pPr>
            <a:r>
              <a:rPr lang="en-CA"/>
              <a:t>Coming from memory heading to the processor for execution.</a:t>
            </a:r>
            <a:endParaRPr/>
          </a:p>
          <a:p>
            <a:pPr indent="-228600" lvl="1" marL="685800" rtl="0" algn="l">
              <a:lnSpc>
                <a:spcPct val="110000"/>
              </a:lnSpc>
              <a:spcBef>
                <a:spcPts val="663"/>
              </a:spcBef>
              <a:spcAft>
                <a:spcPts val="0"/>
              </a:spcAft>
              <a:buClr>
                <a:srgbClr val="7F7F7F"/>
              </a:buClr>
              <a:buSzPct val="100000"/>
              <a:buChar char="•"/>
            </a:pPr>
            <a:r>
              <a:rPr lang="en-CA"/>
              <a:t>Coming from the processor after processing</a:t>
            </a:r>
            <a:endParaRPr/>
          </a:p>
          <a:p>
            <a:pPr indent="-228600" lvl="1" marL="685800" rtl="0" algn="l">
              <a:lnSpc>
                <a:spcPct val="110000"/>
              </a:lnSpc>
              <a:spcBef>
                <a:spcPts val="663"/>
              </a:spcBef>
              <a:spcAft>
                <a:spcPts val="0"/>
              </a:spcAft>
              <a:buClr>
                <a:srgbClr val="7F7F7F"/>
              </a:buClr>
              <a:buSzPct val="100000"/>
              <a:buChar char="•"/>
            </a:pPr>
            <a:r>
              <a:rPr lang="en-CA"/>
              <a:t>Being worked on by the processor.</a:t>
            </a:r>
            <a:endParaRPr/>
          </a:p>
          <a:p>
            <a:pPr indent="-228600" lvl="0" marL="228600" rtl="0" algn="l">
              <a:lnSpc>
                <a:spcPct val="110000"/>
              </a:lnSpc>
              <a:spcBef>
                <a:spcPts val="765"/>
              </a:spcBef>
              <a:spcAft>
                <a:spcPts val="0"/>
              </a:spcAft>
              <a:buClr>
                <a:srgbClr val="0055A4"/>
              </a:buClr>
              <a:buSzPct val="100000"/>
              <a:buChar char="•"/>
            </a:pPr>
            <a:r>
              <a:rPr lang="en-CA">
                <a:solidFill>
                  <a:srgbClr val="0055A4"/>
                </a:solidFill>
              </a:rPr>
              <a:t>Internal Data Bus</a:t>
            </a:r>
            <a:r>
              <a:rPr lang="en-CA"/>
              <a:t>: connects the internal components of the processor to the motherboard. </a:t>
            </a:r>
            <a:endParaRPr/>
          </a:p>
          <a:p>
            <a:pPr indent="-228600" lvl="0" marL="228600" rtl="0" algn="l">
              <a:lnSpc>
                <a:spcPct val="110000"/>
              </a:lnSpc>
              <a:spcBef>
                <a:spcPts val="765"/>
              </a:spcBef>
              <a:spcAft>
                <a:spcPts val="0"/>
              </a:spcAft>
              <a:buClr>
                <a:srgbClr val="0055A4"/>
              </a:buClr>
              <a:buSzPct val="100000"/>
              <a:buChar char="•"/>
            </a:pPr>
            <a:r>
              <a:rPr lang="en-CA">
                <a:solidFill>
                  <a:srgbClr val="0055A4"/>
                </a:solidFill>
              </a:rPr>
              <a:t>External Data Path</a:t>
            </a:r>
            <a:r>
              <a:rPr lang="en-CA"/>
              <a:t>: used to fetch data from memory to the processor. </a:t>
            </a:r>
            <a:endParaRPr/>
          </a:p>
          <a:p>
            <a:pPr indent="-228600" lvl="0" marL="228600" rtl="0" algn="l">
              <a:lnSpc>
                <a:spcPct val="110000"/>
              </a:lnSpc>
              <a:spcBef>
                <a:spcPts val="765"/>
              </a:spcBef>
              <a:spcAft>
                <a:spcPts val="0"/>
              </a:spcAft>
              <a:buClr>
                <a:srgbClr val="0055A4"/>
              </a:buClr>
              <a:buSzPct val="100000"/>
              <a:buChar char="•"/>
            </a:pPr>
            <a:r>
              <a:rPr lang="en-CA">
                <a:solidFill>
                  <a:srgbClr val="0055A4"/>
                </a:solidFill>
              </a:rPr>
              <a:t>Address Lines</a:t>
            </a:r>
            <a:r>
              <a:rPr lang="en-CA"/>
              <a:t>: used to specify the exact location in memory where data can be found. </a:t>
            </a:r>
            <a:endParaRPr/>
          </a:p>
        </p:txBody>
      </p:sp>
      <p:pic>
        <p:nvPicPr>
          <p:cNvPr descr="Arithmetic Logic Unit | What Is Arithmetic And Logic Unit ? | ALU" id="425" name="Google Shape;425;p30"/>
          <p:cNvPicPr preferRelativeResize="0"/>
          <p:nvPr/>
        </p:nvPicPr>
        <p:blipFill rotWithShape="1">
          <a:blip r:embed="rId3">
            <a:alphaModFix/>
          </a:blip>
          <a:srcRect b="0" l="0" r="0" t="0"/>
          <a:stretch/>
        </p:blipFill>
        <p:spPr>
          <a:xfrm>
            <a:off x="8120475" y="1991296"/>
            <a:ext cx="3458162" cy="37220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CA">
                <a:latin typeface="Arial"/>
                <a:ea typeface="Arial"/>
                <a:cs typeface="Arial"/>
                <a:sym typeface="Arial"/>
              </a:rPr>
              <a:t>Pipelining</a:t>
            </a:r>
            <a:endParaRPr/>
          </a:p>
        </p:txBody>
      </p:sp>
      <p:sp>
        <p:nvSpPr>
          <p:cNvPr id="431" name="Google Shape;431;p31"/>
          <p:cNvSpPr txBox="1"/>
          <p:nvPr>
            <p:ph idx="1" type="body"/>
          </p:nvPr>
        </p:nvSpPr>
        <p:spPr>
          <a:xfrm>
            <a:off x="611659" y="1815328"/>
            <a:ext cx="3915031" cy="4351338"/>
          </a:xfrm>
          <a:prstGeom prst="rect">
            <a:avLst/>
          </a:prstGeom>
          <a:noFill/>
          <a:ln>
            <a:noFill/>
          </a:ln>
        </p:spPr>
        <p:txBody>
          <a:bodyPr anchorCtr="0" anchor="t" bIns="45700" lIns="91425" spcFirstLastPara="1" rIns="91425" wrap="square" tIns="45700">
            <a:normAutofit fontScale="62500" lnSpcReduction="20000"/>
          </a:bodyPr>
          <a:lstStyle/>
          <a:p>
            <a:pPr indent="0" lvl="0" marL="38100" rtl="0" algn="l">
              <a:lnSpc>
                <a:spcPct val="90000"/>
              </a:lnSpc>
              <a:spcBef>
                <a:spcPts val="900"/>
              </a:spcBef>
              <a:spcAft>
                <a:spcPts val="0"/>
              </a:spcAft>
              <a:buSzPct val="160000"/>
              <a:buNone/>
            </a:pPr>
            <a:r>
              <a:rPr lang="en-CA">
                <a:latin typeface="Arial"/>
                <a:ea typeface="Arial"/>
                <a:cs typeface="Arial"/>
                <a:sym typeface="Arial"/>
              </a:rPr>
              <a:t>A way for running multiple instructions in parallel within the same processor core.</a:t>
            </a:r>
            <a:endParaRPr/>
          </a:p>
          <a:p>
            <a:pPr indent="0" lvl="0" marL="38100" rtl="0" algn="l">
              <a:lnSpc>
                <a:spcPct val="90000"/>
              </a:lnSpc>
              <a:spcBef>
                <a:spcPts val="900"/>
              </a:spcBef>
              <a:spcAft>
                <a:spcPts val="0"/>
              </a:spcAft>
              <a:buSzPct val="160000"/>
              <a:buNone/>
            </a:pPr>
            <a:r>
              <a:t/>
            </a:r>
            <a:endParaRPr/>
          </a:p>
          <a:p>
            <a:pPr indent="0" lvl="0" marL="38100" rtl="0" algn="l">
              <a:lnSpc>
                <a:spcPct val="90000"/>
              </a:lnSpc>
              <a:spcBef>
                <a:spcPts val="900"/>
              </a:spcBef>
              <a:spcAft>
                <a:spcPts val="0"/>
              </a:spcAft>
              <a:buSzPct val="160000"/>
              <a:buNone/>
            </a:pPr>
            <a:r>
              <a:rPr b="1" lang="en-CA">
                <a:solidFill>
                  <a:srgbClr val="00B050"/>
                </a:solidFill>
                <a:latin typeface="Arial"/>
                <a:ea typeface="Arial"/>
                <a:cs typeface="Arial"/>
                <a:sym typeface="Arial"/>
              </a:rPr>
              <a:t>Fetch</a:t>
            </a:r>
            <a:r>
              <a:rPr lang="en-CA">
                <a:solidFill>
                  <a:srgbClr val="00B050"/>
                </a:solidFill>
                <a:latin typeface="Arial"/>
                <a:ea typeface="Arial"/>
                <a:cs typeface="Arial"/>
                <a:sym typeface="Arial"/>
              </a:rPr>
              <a:t>: </a:t>
            </a:r>
            <a:r>
              <a:rPr lang="en-CA">
                <a:latin typeface="Arial"/>
                <a:ea typeface="Arial"/>
                <a:cs typeface="Arial"/>
                <a:sym typeface="Arial"/>
              </a:rPr>
              <a:t>refers to the step where the instruction is received from Memory</a:t>
            </a:r>
            <a:endParaRPr/>
          </a:p>
          <a:p>
            <a:pPr indent="0" lvl="0" marL="38100" rtl="0" algn="l">
              <a:lnSpc>
                <a:spcPct val="90000"/>
              </a:lnSpc>
              <a:spcBef>
                <a:spcPts val="900"/>
              </a:spcBef>
              <a:spcAft>
                <a:spcPts val="0"/>
              </a:spcAft>
              <a:buSzPct val="160000"/>
              <a:buNone/>
            </a:pPr>
            <a:r>
              <a:rPr b="1" lang="en-CA">
                <a:solidFill>
                  <a:srgbClr val="FFC000"/>
                </a:solidFill>
                <a:latin typeface="Arial"/>
                <a:ea typeface="Arial"/>
                <a:cs typeface="Arial"/>
                <a:sym typeface="Arial"/>
              </a:rPr>
              <a:t>Decode</a:t>
            </a:r>
            <a:r>
              <a:rPr lang="en-CA">
                <a:solidFill>
                  <a:srgbClr val="FFC000"/>
                </a:solidFill>
                <a:latin typeface="Arial"/>
                <a:ea typeface="Arial"/>
                <a:cs typeface="Arial"/>
                <a:sym typeface="Arial"/>
              </a:rPr>
              <a:t>: </a:t>
            </a:r>
            <a:r>
              <a:rPr lang="en-CA">
                <a:latin typeface="Arial"/>
                <a:ea typeface="Arial"/>
                <a:cs typeface="Arial"/>
                <a:sym typeface="Arial"/>
              </a:rPr>
              <a:t>The instruction is decoded, and control signals are generated .</a:t>
            </a:r>
            <a:endParaRPr/>
          </a:p>
          <a:p>
            <a:pPr indent="0" lvl="0" marL="38100" rtl="0" algn="l">
              <a:lnSpc>
                <a:spcPct val="90000"/>
              </a:lnSpc>
              <a:spcBef>
                <a:spcPts val="900"/>
              </a:spcBef>
              <a:spcAft>
                <a:spcPts val="0"/>
              </a:spcAft>
              <a:buSzPct val="160000"/>
              <a:buNone/>
            </a:pPr>
            <a:r>
              <a:rPr b="1" lang="en-CA">
                <a:solidFill>
                  <a:srgbClr val="8DA9DB"/>
                </a:solidFill>
                <a:latin typeface="Arial"/>
                <a:ea typeface="Arial"/>
                <a:cs typeface="Arial"/>
                <a:sym typeface="Arial"/>
              </a:rPr>
              <a:t>Execute</a:t>
            </a:r>
            <a:r>
              <a:rPr lang="en-CA">
                <a:solidFill>
                  <a:srgbClr val="8DA9DB"/>
                </a:solidFill>
                <a:latin typeface="Arial"/>
                <a:ea typeface="Arial"/>
                <a:cs typeface="Arial"/>
                <a:sym typeface="Arial"/>
              </a:rPr>
              <a:t>: </a:t>
            </a:r>
            <a:r>
              <a:rPr lang="en-CA">
                <a:latin typeface="Arial"/>
                <a:ea typeface="Arial"/>
                <a:cs typeface="Arial"/>
                <a:sym typeface="Arial"/>
              </a:rPr>
              <a:t>ALU operations are performed.</a:t>
            </a:r>
            <a:endParaRPr/>
          </a:p>
          <a:p>
            <a:pPr indent="0" lvl="0" marL="38100" rtl="0" algn="l">
              <a:lnSpc>
                <a:spcPct val="90000"/>
              </a:lnSpc>
              <a:spcBef>
                <a:spcPts val="900"/>
              </a:spcBef>
              <a:spcAft>
                <a:spcPts val="0"/>
              </a:spcAft>
              <a:buSzPct val="160000"/>
              <a:buNone/>
            </a:pPr>
            <a:r>
              <a:rPr b="1" lang="en-CA">
                <a:solidFill>
                  <a:srgbClr val="595959"/>
                </a:solidFill>
                <a:latin typeface="Arial"/>
                <a:ea typeface="Arial"/>
                <a:cs typeface="Arial"/>
                <a:sym typeface="Arial"/>
              </a:rPr>
              <a:t>Memory</a:t>
            </a:r>
            <a:r>
              <a:rPr lang="en-CA">
                <a:solidFill>
                  <a:srgbClr val="595959"/>
                </a:solidFill>
                <a:latin typeface="Arial"/>
                <a:ea typeface="Arial"/>
                <a:cs typeface="Arial"/>
                <a:sym typeface="Arial"/>
              </a:rPr>
              <a:t>: </a:t>
            </a:r>
            <a:r>
              <a:rPr lang="en-CA">
                <a:latin typeface="Arial"/>
                <a:ea typeface="Arial"/>
                <a:cs typeface="Arial"/>
                <a:sym typeface="Arial"/>
              </a:rPr>
              <a:t>Saving the output to the appropriate memory address</a:t>
            </a:r>
            <a:endParaRPr/>
          </a:p>
          <a:p>
            <a:pPr indent="0" lvl="0" marL="38100" rtl="0" algn="l">
              <a:lnSpc>
                <a:spcPct val="90000"/>
              </a:lnSpc>
              <a:spcBef>
                <a:spcPts val="900"/>
              </a:spcBef>
              <a:spcAft>
                <a:spcPts val="0"/>
              </a:spcAft>
              <a:buSzPct val="160000"/>
              <a:buNone/>
            </a:pPr>
            <a:r>
              <a:t/>
            </a:r>
            <a:endParaRPr>
              <a:latin typeface="Arial"/>
              <a:ea typeface="Arial"/>
              <a:cs typeface="Arial"/>
              <a:sym typeface="Arial"/>
            </a:endParaRPr>
          </a:p>
          <a:p>
            <a:pPr indent="0" lvl="0" marL="38100" rtl="0" algn="l">
              <a:lnSpc>
                <a:spcPct val="90000"/>
              </a:lnSpc>
              <a:spcBef>
                <a:spcPts val="900"/>
              </a:spcBef>
              <a:spcAft>
                <a:spcPts val="0"/>
              </a:spcAft>
              <a:buSzPct val="160000"/>
              <a:buNone/>
            </a:pPr>
            <a:r>
              <a:t/>
            </a:r>
            <a:endParaRPr>
              <a:latin typeface="Arial"/>
              <a:ea typeface="Arial"/>
              <a:cs typeface="Arial"/>
              <a:sym typeface="Arial"/>
            </a:endParaRPr>
          </a:p>
        </p:txBody>
      </p:sp>
      <p:pic>
        <p:nvPicPr>
          <p:cNvPr descr="Execution, Stages and Throughput in Pipeline - javatpoint" id="432" name="Google Shape;432;p31"/>
          <p:cNvPicPr preferRelativeResize="0"/>
          <p:nvPr/>
        </p:nvPicPr>
        <p:blipFill rotWithShape="1">
          <a:blip r:embed="rId3">
            <a:alphaModFix/>
          </a:blip>
          <a:srcRect b="234" l="3642" r="125" t="-66"/>
          <a:stretch/>
        </p:blipFill>
        <p:spPr>
          <a:xfrm>
            <a:off x="4372709" y="1663377"/>
            <a:ext cx="7882780" cy="43647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CPU Power</a:t>
            </a:r>
            <a:endParaRPr/>
          </a:p>
        </p:txBody>
      </p:sp>
      <p:sp>
        <p:nvSpPr>
          <p:cNvPr id="438" name="Google Shape;438;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4999"/>
              </a:lnSpc>
              <a:spcBef>
                <a:spcPts val="0"/>
              </a:spcBef>
              <a:spcAft>
                <a:spcPts val="0"/>
              </a:spcAft>
              <a:buSzPts val="3000"/>
              <a:buChar char="•"/>
            </a:pPr>
            <a:r>
              <a:rPr lang="en-CA"/>
              <a:t>CPU power is measured by both </a:t>
            </a:r>
            <a:r>
              <a:rPr b="1" lang="en-CA"/>
              <a:t>speed</a:t>
            </a:r>
            <a:r>
              <a:rPr lang="en-CA"/>
              <a:t> and the a</a:t>
            </a:r>
            <a:r>
              <a:rPr b="1" lang="en-CA"/>
              <a:t>mount of data it can process</a:t>
            </a:r>
            <a:r>
              <a:rPr lang="en-CA"/>
              <a:t>. </a:t>
            </a:r>
            <a:endParaRPr/>
          </a:p>
          <a:p>
            <a:pPr indent="-228600" lvl="1" marL="685800" rtl="0" algn="l">
              <a:lnSpc>
                <a:spcPct val="115000"/>
              </a:lnSpc>
              <a:spcBef>
                <a:spcPts val="780"/>
              </a:spcBef>
              <a:spcAft>
                <a:spcPts val="0"/>
              </a:spcAft>
              <a:buSzPts val="2600"/>
              <a:buChar char="•"/>
            </a:pPr>
            <a:r>
              <a:rPr lang="en-CA"/>
              <a:t>Speed: is rated in cycles per second, e.g. megahertz (MHz) or gigahertz (GHz). </a:t>
            </a:r>
            <a:endParaRPr/>
          </a:p>
          <a:p>
            <a:pPr indent="-228600" lvl="2" marL="1143000" rtl="0" algn="l">
              <a:lnSpc>
                <a:spcPct val="115000"/>
              </a:lnSpc>
              <a:spcBef>
                <a:spcPts val="780"/>
              </a:spcBef>
              <a:spcAft>
                <a:spcPts val="0"/>
              </a:spcAft>
              <a:buSzPts val="2000"/>
              <a:buChar char="•"/>
            </a:pPr>
            <a:r>
              <a:rPr lang="en-CA"/>
              <a:t>Hertz (Hz) is the </a:t>
            </a:r>
            <a:r>
              <a:rPr b="1" lang="en-CA"/>
              <a:t>unit of measurement</a:t>
            </a:r>
            <a:r>
              <a:rPr lang="en-CA"/>
              <a:t> that represents the idea “per second”. So MegaHertz (million Hertz) means “one million times per second”</a:t>
            </a:r>
            <a:endParaRPr/>
          </a:p>
          <a:p>
            <a:pPr indent="-228600" lvl="1" marL="685800" rtl="0" algn="l">
              <a:lnSpc>
                <a:spcPct val="115000"/>
              </a:lnSpc>
              <a:spcBef>
                <a:spcPts val="780"/>
              </a:spcBef>
              <a:spcAft>
                <a:spcPts val="0"/>
              </a:spcAft>
              <a:buClr>
                <a:srgbClr val="7F7F7F"/>
              </a:buClr>
              <a:buSzPts val="2600"/>
              <a:buChar char="•"/>
            </a:pPr>
            <a:r>
              <a:rPr lang="en-CA"/>
              <a:t>The amount of data processed at a time depends on the side of the FSB (front side bus) (also called CPU or processor bus). </a:t>
            </a:r>
            <a:endParaRPr/>
          </a:p>
          <a:p>
            <a:pPr indent="-228600" lvl="2" marL="1143000" rtl="0" algn="l">
              <a:lnSpc>
                <a:spcPct val="115000"/>
              </a:lnSpc>
              <a:spcBef>
                <a:spcPts val="600"/>
              </a:spcBef>
              <a:spcAft>
                <a:spcPts val="0"/>
              </a:spcAft>
              <a:buClr>
                <a:srgbClr val="7F7F7F"/>
              </a:buClr>
              <a:buSzPts val="2000"/>
              <a:buChar char="•"/>
            </a:pPr>
            <a:r>
              <a:rPr lang="en-CA"/>
              <a:t>The width of a bus is measured in bits, e.g. 32-bit or 64-bit FSB.</a:t>
            </a:r>
            <a:endParaRPr/>
          </a:p>
          <a:p>
            <a:pPr indent="-38100" lvl="0" marL="228600" rtl="0" algn="l">
              <a:lnSpc>
                <a:spcPct val="115000"/>
              </a:lnSpc>
              <a:spcBef>
                <a:spcPts val="900"/>
              </a:spcBef>
              <a:spcAft>
                <a:spcPts val="0"/>
              </a:spcAft>
              <a:buClr>
                <a:srgbClr val="7F7F7F"/>
              </a:buClr>
              <a:buSzPts val="3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3"/>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CPU Features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4"/>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1) How to Connect a CPU?</a:t>
            </a:r>
            <a:endParaRPr/>
          </a:p>
        </p:txBody>
      </p:sp>
      <p:sp>
        <p:nvSpPr>
          <p:cNvPr id="449" name="Google Shape;449;p34"/>
          <p:cNvSpPr txBox="1"/>
          <p:nvPr>
            <p:ph idx="1" type="body"/>
          </p:nvPr>
        </p:nvSpPr>
        <p:spPr>
          <a:xfrm>
            <a:off x="831851" y="1489075"/>
            <a:ext cx="10515600" cy="994066"/>
          </a:xfrm>
          <a:prstGeom prst="rect">
            <a:avLst/>
          </a:prstGeom>
          <a:noFill/>
          <a:ln>
            <a:noFill/>
          </a:ln>
        </p:spPr>
        <p:txBody>
          <a:bodyPr anchorCtr="0" anchor="b" bIns="45700" lIns="91425" spcFirstLastPara="1" rIns="91425" wrap="square" tIns="45700">
            <a:normAutofit/>
          </a:bodyPr>
          <a:lstStyle/>
          <a:p>
            <a:pPr indent="-342900" lvl="0" marL="342900" rtl="0" algn="l">
              <a:lnSpc>
                <a:spcPct val="90000"/>
              </a:lnSpc>
              <a:spcBef>
                <a:spcPts val="0"/>
              </a:spcBef>
              <a:spcAft>
                <a:spcPts val="0"/>
              </a:spcAft>
              <a:buClr>
                <a:srgbClr val="7F7F7F"/>
              </a:buClr>
              <a:buSzPts val="2400"/>
              <a:buFont typeface="Arial"/>
              <a:buChar char="•"/>
            </a:pPr>
            <a:r>
              <a:rPr b="0" lang="en-CA">
                <a:solidFill>
                  <a:srgbClr val="7F7F7F"/>
                </a:solidFill>
              </a:rPr>
              <a:t>CPU connection on the motherboard is known as the CPU socket.</a:t>
            </a:r>
            <a:endParaRPr/>
          </a:p>
          <a:p>
            <a:pPr indent="-342900" lvl="0" marL="342900" rtl="0" algn="l">
              <a:lnSpc>
                <a:spcPct val="90000"/>
              </a:lnSpc>
              <a:spcBef>
                <a:spcPts val="720"/>
              </a:spcBef>
              <a:spcAft>
                <a:spcPts val="0"/>
              </a:spcAft>
              <a:buClr>
                <a:srgbClr val="7F7F7F"/>
              </a:buClr>
              <a:buSzPts val="2400"/>
              <a:buFont typeface="Arial"/>
              <a:buChar char="•"/>
            </a:pPr>
            <a:r>
              <a:rPr b="0" lang="en-CA">
                <a:solidFill>
                  <a:srgbClr val="7F7F7F"/>
                </a:solidFill>
              </a:rPr>
              <a:t>The CPU is connected to the motherboard in one of two ways:</a:t>
            </a:r>
            <a:endParaRPr/>
          </a:p>
        </p:txBody>
      </p:sp>
      <p:sp>
        <p:nvSpPr>
          <p:cNvPr id="450" name="Google Shape;450;p34"/>
          <p:cNvSpPr txBox="1"/>
          <p:nvPr>
            <p:ph idx="2" type="body"/>
          </p:nvPr>
        </p:nvSpPr>
        <p:spPr>
          <a:xfrm>
            <a:off x="831851" y="2743781"/>
            <a:ext cx="5156200" cy="342842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1600"/>
              <a:buChar char="•"/>
            </a:pPr>
            <a:r>
              <a:rPr lang="en-CA"/>
              <a:t>Pin Grid Array – PGA</a:t>
            </a:r>
            <a:endParaRPr/>
          </a:p>
          <a:p>
            <a:pPr indent="-228600" lvl="1" marL="685800" rtl="0" algn="l">
              <a:lnSpc>
                <a:spcPct val="90000"/>
              </a:lnSpc>
              <a:spcBef>
                <a:spcPts val="420"/>
              </a:spcBef>
              <a:spcAft>
                <a:spcPts val="0"/>
              </a:spcAft>
              <a:buClr>
                <a:srgbClr val="7F7F7F"/>
              </a:buClr>
              <a:buSzPts val="1400"/>
              <a:buChar char="•"/>
            </a:pPr>
            <a:r>
              <a:rPr lang="en-CA"/>
              <a:t>Pins are on the CPU (underside of the processor).</a:t>
            </a:r>
            <a:endParaRPr/>
          </a:p>
          <a:p>
            <a:pPr indent="-228600" lvl="1" marL="685800" rtl="0" algn="l">
              <a:lnSpc>
                <a:spcPct val="90000"/>
              </a:lnSpc>
              <a:spcBef>
                <a:spcPts val="420"/>
              </a:spcBef>
              <a:spcAft>
                <a:spcPts val="0"/>
              </a:spcAft>
              <a:buClr>
                <a:srgbClr val="7F7F7F"/>
              </a:buClr>
              <a:buSzPts val="1400"/>
              <a:buChar char="•"/>
            </a:pPr>
            <a:r>
              <a:rPr lang="en-CA"/>
              <a:t>Socket on motherboard includes holes that line up </a:t>
            </a:r>
            <a:br>
              <a:rPr lang="en-CA"/>
            </a:br>
            <a:r>
              <a:rPr lang="en-CA"/>
              <a:t>with the CPU pins.</a:t>
            </a:r>
            <a:endParaRPr/>
          </a:p>
          <a:p>
            <a:pPr indent="-152400" lvl="2" marL="1143000" rtl="0" algn="l">
              <a:lnSpc>
                <a:spcPct val="90000"/>
              </a:lnSpc>
              <a:spcBef>
                <a:spcPts val="360"/>
              </a:spcBef>
              <a:spcAft>
                <a:spcPts val="0"/>
              </a:spcAft>
              <a:buClr>
                <a:srgbClr val="7F7F7F"/>
              </a:buClr>
              <a:buSzPts val="1200"/>
              <a:buNone/>
            </a:pPr>
            <a:r>
              <a:t/>
            </a:r>
            <a:endParaRPr/>
          </a:p>
          <a:p>
            <a:pPr indent="-139700" lvl="1" marL="685800" rtl="0" algn="l">
              <a:lnSpc>
                <a:spcPct val="90000"/>
              </a:lnSpc>
              <a:spcBef>
                <a:spcPts val="420"/>
              </a:spcBef>
              <a:spcAft>
                <a:spcPts val="0"/>
              </a:spcAft>
              <a:buClr>
                <a:srgbClr val="7F7F7F"/>
              </a:buClr>
              <a:buSzPts val="1400"/>
              <a:buNone/>
            </a:pPr>
            <a:r>
              <a:t/>
            </a:r>
            <a:endParaRPr/>
          </a:p>
          <a:p>
            <a:pPr indent="-127000" lvl="0" marL="228600" rtl="0" algn="l">
              <a:lnSpc>
                <a:spcPct val="90000"/>
              </a:lnSpc>
              <a:spcBef>
                <a:spcPts val="480"/>
              </a:spcBef>
              <a:spcAft>
                <a:spcPts val="0"/>
              </a:spcAft>
              <a:buClr>
                <a:srgbClr val="7F7F7F"/>
              </a:buClr>
              <a:buSzPts val="1600"/>
              <a:buNone/>
            </a:pPr>
            <a:r>
              <a:t/>
            </a:r>
            <a:endParaRPr/>
          </a:p>
        </p:txBody>
      </p:sp>
      <p:sp>
        <p:nvSpPr>
          <p:cNvPr id="451" name="Google Shape;451;p34"/>
          <p:cNvSpPr txBox="1"/>
          <p:nvPr>
            <p:ph idx="4" type="body"/>
          </p:nvPr>
        </p:nvSpPr>
        <p:spPr>
          <a:xfrm>
            <a:off x="6189664" y="2743781"/>
            <a:ext cx="5157787" cy="342842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1600"/>
              <a:buChar char="•"/>
            </a:pPr>
            <a:r>
              <a:rPr lang="en-CA"/>
              <a:t>Land Grid Array – LGA</a:t>
            </a:r>
            <a:endParaRPr/>
          </a:p>
          <a:p>
            <a:pPr indent="-228600" lvl="1" marL="685800" rtl="0" algn="l">
              <a:lnSpc>
                <a:spcPct val="90000"/>
              </a:lnSpc>
              <a:spcBef>
                <a:spcPts val="420"/>
              </a:spcBef>
              <a:spcAft>
                <a:spcPts val="0"/>
              </a:spcAft>
              <a:buClr>
                <a:srgbClr val="7F7F7F"/>
              </a:buClr>
              <a:buSzPts val="1400"/>
              <a:buChar char="•"/>
            </a:pPr>
            <a:r>
              <a:rPr lang="en-CA"/>
              <a:t>Pins are on the motherboard (on socket) instead </a:t>
            </a:r>
            <a:br>
              <a:rPr lang="en-CA"/>
            </a:br>
            <a:r>
              <a:rPr lang="en-CA"/>
              <a:t>of on the processor.</a:t>
            </a:r>
            <a:endParaRPr/>
          </a:p>
          <a:p>
            <a:pPr indent="-127000" lvl="0" marL="228600" rtl="0" algn="l">
              <a:lnSpc>
                <a:spcPct val="90000"/>
              </a:lnSpc>
              <a:spcBef>
                <a:spcPts val="480"/>
              </a:spcBef>
              <a:spcAft>
                <a:spcPts val="0"/>
              </a:spcAft>
              <a:buClr>
                <a:srgbClr val="7F7F7F"/>
              </a:buClr>
              <a:buSzPts val="1600"/>
              <a:buNone/>
            </a:pPr>
            <a:r>
              <a:t/>
            </a:r>
            <a:endParaRPr/>
          </a:p>
        </p:txBody>
      </p:sp>
      <p:pic>
        <p:nvPicPr>
          <p:cNvPr id="452" name="Google Shape;452;p34"/>
          <p:cNvPicPr preferRelativeResize="0"/>
          <p:nvPr/>
        </p:nvPicPr>
        <p:blipFill rotWithShape="1">
          <a:blip r:embed="rId3">
            <a:alphaModFix/>
          </a:blip>
          <a:srcRect b="0" l="0" r="0" t="0"/>
          <a:stretch/>
        </p:blipFill>
        <p:spPr>
          <a:xfrm>
            <a:off x="3202654" y="3839542"/>
            <a:ext cx="1457325" cy="657225"/>
          </a:xfrm>
          <a:prstGeom prst="rect">
            <a:avLst/>
          </a:prstGeom>
          <a:noFill/>
          <a:ln>
            <a:noFill/>
          </a:ln>
        </p:spPr>
      </p:pic>
      <p:pic>
        <p:nvPicPr>
          <p:cNvPr id="453" name="Google Shape;453;p34"/>
          <p:cNvPicPr preferRelativeResize="0"/>
          <p:nvPr/>
        </p:nvPicPr>
        <p:blipFill rotWithShape="1">
          <a:blip r:embed="rId4">
            <a:alphaModFix/>
          </a:blip>
          <a:srcRect b="0" l="0" r="0" t="0"/>
          <a:stretch/>
        </p:blipFill>
        <p:spPr>
          <a:xfrm>
            <a:off x="3798291" y="4496767"/>
            <a:ext cx="2057400" cy="1228725"/>
          </a:xfrm>
          <a:prstGeom prst="rect">
            <a:avLst/>
          </a:prstGeom>
          <a:noFill/>
          <a:ln>
            <a:noFill/>
          </a:ln>
        </p:spPr>
      </p:pic>
      <p:pic>
        <p:nvPicPr>
          <p:cNvPr id="454" name="Google Shape;454;p34"/>
          <p:cNvPicPr preferRelativeResize="0"/>
          <p:nvPr/>
        </p:nvPicPr>
        <p:blipFill rotWithShape="1">
          <a:blip r:embed="rId5">
            <a:alphaModFix/>
          </a:blip>
          <a:srcRect b="0" l="0" r="0" t="0"/>
          <a:stretch/>
        </p:blipFill>
        <p:spPr>
          <a:xfrm>
            <a:off x="2662791" y="5477479"/>
            <a:ext cx="1527075" cy="1327275"/>
          </a:xfrm>
          <a:prstGeom prst="rect">
            <a:avLst/>
          </a:prstGeom>
          <a:noFill/>
          <a:ln>
            <a:noFill/>
          </a:ln>
        </p:spPr>
      </p:pic>
      <p:pic>
        <p:nvPicPr>
          <p:cNvPr id="455" name="Google Shape;455;p34"/>
          <p:cNvPicPr preferRelativeResize="0"/>
          <p:nvPr/>
        </p:nvPicPr>
        <p:blipFill rotWithShape="1">
          <a:blip r:embed="rId6">
            <a:alphaModFix/>
          </a:blip>
          <a:srcRect b="0" l="0" r="0" t="0"/>
          <a:stretch/>
        </p:blipFill>
        <p:spPr>
          <a:xfrm>
            <a:off x="7250178" y="3795770"/>
            <a:ext cx="1883192" cy="1228725"/>
          </a:xfrm>
          <a:prstGeom prst="rect">
            <a:avLst/>
          </a:prstGeom>
          <a:noFill/>
          <a:ln>
            <a:noFill/>
          </a:ln>
        </p:spPr>
      </p:pic>
      <p:pic>
        <p:nvPicPr>
          <p:cNvPr id="456" name="Google Shape;456;p34"/>
          <p:cNvPicPr preferRelativeResize="0"/>
          <p:nvPr/>
        </p:nvPicPr>
        <p:blipFill rotWithShape="1">
          <a:blip r:embed="rId7">
            <a:alphaModFix/>
          </a:blip>
          <a:srcRect b="0" l="0" r="0" t="0"/>
          <a:stretch/>
        </p:blipFill>
        <p:spPr>
          <a:xfrm>
            <a:off x="7818991" y="4753398"/>
            <a:ext cx="3313250" cy="1785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2) Clock Speed (overclocking and throttling)</a:t>
            </a:r>
            <a:endParaRPr/>
          </a:p>
        </p:txBody>
      </p:sp>
      <p:sp>
        <p:nvSpPr>
          <p:cNvPr id="462" name="Google Shape;462;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55A4"/>
              </a:buClr>
              <a:buSzPts val="3000"/>
              <a:buChar char="•"/>
            </a:pPr>
            <a:r>
              <a:rPr lang="en-CA">
                <a:solidFill>
                  <a:srgbClr val="0055A4"/>
                </a:solidFill>
              </a:rPr>
              <a:t>Overclocking: </a:t>
            </a:r>
            <a:r>
              <a:rPr lang="en-CA"/>
              <a:t>a technique used to make a processor work at a faster speed than its original specification (not recommended).</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0055A4"/>
              </a:buClr>
              <a:buSzPts val="3000"/>
              <a:buChar char="•"/>
            </a:pPr>
            <a:r>
              <a:rPr lang="en-CA">
                <a:solidFill>
                  <a:srgbClr val="0055A4"/>
                </a:solidFill>
              </a:rPr>
              <a:t>Throttling</a:t>
            </a:r>
            <a:r>
              <a:rPr lang="en-CA"/>
              <a:t>: when the processor runs at less than the rated speed to conserve power or produce less heat (commonly used in laptops and mobile devices).</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3) CPU Cores</a:t>
            </a:r>
            <a:endParaRPr/>
          </a:p>
        </p:txBody>
      </p:sp>
      <p:sp>
        <p:nvSpPr>
          <p:cNvPr id="468" name="Google Shape;468;p37"/>
          <p:cNvSpPr txBox="1"/>
          <p:nvPr>
            <p:ph idx="1" type="body"/>
          </p:nvPr>
        </p:nvSpPr>
        <p:spPr>
          <a:xfrm>
            <a:off x="838200" y="1825625"/>
            <a:ext cx="575135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55A4"/>
              </a:buClr>
              <a:buSzPts val="3000"/>
              <a:buChar char="•"/>
            </a:pPr>
            <a:r>
              <a:rPr lang="en-CA">
                <a:solidFill>
                  <a:srgbClr val="0055A4"/>
                </a:solidFill>
              </a:rPr>
              <a:t>Multi-Cores: </a:t>
            </a:r>
            <a:r>
              <a:rPr lang="en-CA"/>
              <a:t>More than one CPU core integrated into a single chip, each capable of running parallel processes</a:t>
            </a:r>
            <a:endParaRPr/>
          </a:p>
          <a:p>
            <a:pPr indent="-228600" lvl="0" marL="228600" rtl="0" algn="l">
              <a:lnSpc>
                <a:spcPct val="90000"/>
              </a:lnSpc>
              <a:spcBef>
                <a:spcPts val="0"/>
              </a:spcBef>
              <a:spcAft>
                <a:spcPts val="0"/>
              </a:spcAft>
              <a:buClr>
                <a:srgbClr val="0055A4"/>
              </a:buClr>
              <a:buSzPts val="3000"/>
              <a:buChar char="•"/>
            </a:pPr>
            <a:r>
              <a:rPr lang="en-CA"/>
              <a:t>Each core has its separate ALU unit, control unit and Registers.</a:t>
            </a:r>
            <a:endParaRPr/>
          </a:p>
          <a:p>
            <a:pPr indent="-38100" lvl="0" marL="228600" rtl="0" algn="l">
              <a:lnSpc>
                <a:spcPct val="90000"/>
              </a:lnSpc>
              <a:spcBef>
                <a:spcPts val="0"/>
              </a:spcBef>
              <a:spcAft>
                <a:spcPts val="0"/>
              </a:spcAft>
              <a:buClr>
                <a:srgbClr val="0055A4"/>
              </a:buClr>
              <a:buSzPts val="3000"/>
              <a:buNone/>
            </a:pPr>
            <a:r>
              <a:t/>
            </a:r>
            <a:endParaRPr/>
          </a:p>
          <a:p>
            <a:pPr indent="-38100" lvl="0" marL="228600" rtl="0" algn="l">
              <a:lnSpc>
                <a:spcPct val="90000"/>
              </a:lnSpc>
              <a:spcBef>
                <a:spcPts val="0"/>
              </a:spcBef>
              <a:spcAft>
                <a:spcPts val="0"/>
              </a:spcAft>
              <a:buClr>
                <a:srgbClr val="0055A4"/>
              </a:buClr>
              <a:buSzPts val="3000"/>
              <a:buNone/>
            </a:pPr>
            <a:r>
              <a:t/>
            </a:r>
            <a:endParaRPr/>
          </a:p>
          <a:p>
            <a:pPr indent="0" lvl="0" marL="0" rtl="0" algn="l">
              <a:lnSpc>
                <a:spcPct val="90000"/>
              </a:lnSpc>
              <a:spcBef>
                <a:spcPts val="900"/>
              </a:spcBef>
              <a:spcAft>
                <a:spcPts val="0"/>
              </a:spcAft>
              <a:buSzPts val="3000"/>
              <a:buNone/>
            </a:pPr>
            <a:r>
              <a:t/>
            </a:r>
            <a:endParaRPr/>
          </a:p>
        </p:txBody>
      </p:sp>
      <p:pic>
        <p:nvPicPr>
          <p:cNvPr descr="Central Processing Unit | What Is a Computer Processor, Microprocessor ?" id="469" name="Google Shape;469;p37"/>
          <p:cNvPicPr preferRelativeResize="0"/>
          <p:nvPr/>
        </p:nvPicPr>
        <p:blipFill rotWithShape="1">
          <a:blip r:embed="rId3">
            <a:alphaModFix/>
          </a:blip>
          <a:srcRect b="0" l="0" r="0" t="11439"/>
          <a:stretch/>
        </p:blipFill>
        <p:spPr>
          <a:xfrm>
            <a:off x="7268384" y="1533477"/>
            <a:ext cx="1804310" cy="2016979"/>
          </a:xfrm>
          <a:prstGeom prst="rect">
            <a:avLst/>
          </a:prstGeom>
          <a:noFill/>
          <a:ln>
            <a:noFill/>
          </a:ln>
        </p:spPr>
      </p:pic>
      <p:pic>
        <p:nvPicPr>
          <p:cNvPr descr="Central Processing Unit | What Is a Computer Processor, Microprocessor ?" id="470" name="Google Shape;470;p37"/>
          <p:cNvPicPr preferRelativeResize="0"/>
          <p:nvPr/>
        </p:nvPicPr>
        <p:blipFill rotWithShape="1">
          <a:blip r:embed="rId3">
            <a:alphaModFix/>
          </a:blip>
          <a:srcRect b="0" l="0" r="0" t="11439"/>
          <a:stretch/>
        </p:blipFill>
        <p:spPr>
          <a:xfrm>
            <a:off x="9072694" y="1514335"/>
            <a:ext cx="1804311" cy="2016979"/>
          </a:xfrm>
          <a:prstGeom prst="rect">
            <a:avLst/>
          </a:prstGeom>
          <a:noFill/>
          <a:ln>
            <a:noFill/>
          </a:ln>
        </p:spPr>
      </p:pic>
      <p:pic>
        <p:nvPicPr>
          <p:cNvPr descr="Filter outline" id="471" name="Google Shape;471;p37"/>
          <p:cNvPicPr preferRelativeResize="0"/>
          <p:nvPr/>
        </p:nvPicPr>
        <p:blipFill rotWithShape="1">
          <a:blip r:embed="rId4">
            <a:alphaModFix/>
          </a:blip>
          <a:srcRect b="0" l="0" r="0" t="0"/>
          <a:stretch/>
        </p:blipFill>
        <p:spPr>
          <a:xfrm>
            <a:off x="7185477" y="4019450"/>
            <a:ext cx="3682767" cy="2879394"/>
          </a:xfrm>
          <a:prstGeom prst="rect">
            <a:avLst/>
          </a:prstGeom>
          <a:noFill/>
          <a:ln>
            <a:noFill/>
          </a:ln>
        </p:spPr>
      </p:pic>
      <p:sp>
        <p:nvSpPr>
          <p:cNvPr id="472" name="Google Shape;472;p37"/>
          <p:cNvSpPr txBox="1"/>
          <p:nvPr/>
        </p:nvSpPr>
        <p:spPr>
          <a:xfrm rot="3654450">
            <a:off x="7075935" y="3898238"/>
            <a:ext cx="25736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1010101101011010110</a:t>
            </a:r>
            <a:endParaRPr b="0" i="0" sz="1800" u="none" cap="none" strike="noStrike">
              <a:solidFill>
                <a:schemeClr val="dk1"/>
              </a:solidFill>
              <a:latin typeface="Arial"/>
              <a:ea typeface="Arial"/>
              <a:cs typeface="Arial"/>
              <a:sym typeface="Arial"/>
            </a:endParaRPr>
          </a:p>
        </p:txBody>
      </p:sp>
      <p:sp>
        <p:nvSpPr>
          <p:cNvPr id="473" name="Google Shape;473;p37"/>
          <p:cNvSpPr txBox="1"/>
          <p:nvPr/>
        </p:nvSpPr>
        <p:spPr>
          <a:xfrm rot="-2787177">
            <a:off x="8420995" y="3834290"/>
            <a:ext cx="32911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10101010101010100101</a:t>
            </a:r>
            <a:endParaRPr b="0" i="0" sz="1800" u="none" cap="none" strike="noStrike">
              <a:solidFill>
                <a:schemeClr val="dk1"/>
              </a:solidFill>
              <a:latin typeface="Arial"/>
              <a:ea typeface="Arial"/>
              <a:cs typeface="Arial"/>
              <a:sym typeface="Arial"/>
            </a:endParaRPr>
          </a:p>
        </p:txBody>
      </p:sp>
      <p:sp>
        <p:nvSpPr>
          <p:cNvPr id="474" name="Google Shape;474;p37"/>
          <p:cNvSpPr txBox="1"/>
          <p:nvPr/>
        </p:nvSpPr>
        <p:spPr>
          <a:xfrm>
            <a:off x="5006524" y="6106611"/>
            <a:ext cx="292051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1010101101011010110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chemeClr val="dk1"/>
                </a:solidFill>
                <a:latin typeface="Arial"/>
                <a:ea typeface="Arial"/>
                <a:cs typeface="Arial"/>
                <a:sym typeface="Arial"/>
              </a:rPr>
              <a:t>1010101010101010010</a:t>
            </a:r>
            <a:endParaRPr b="0" i="0" sz="1800" u="none" cap="none" strike="noStrike">
              <a:solidFill>
                <a:schemeClr val="dk1"/>
              </a:solidFill>
              <a:latin typeface="Arial"/>
              <a:ea typeface="Arial"/>
              <a:cs typeface="Arial"/>
              <a:sym typeface="Arial"/>
            </a:endParaRPr>
          </a:p>
        </p:txBody>
      </p:sp>
      <p:sp>
        <p:nvSpPr>
          <p:cNvPr id="475" name="Google Shape;475;p37"/>
          <p:cNvSpPr/>
          <p:nvPr/>
        </p:nvSpPr>
        <p:spPr>
          <a:xfrm flipH="1" rot="-5400000">
            <a:off x="7885539" y="5497968"/>
            <a:ext cx="1170495" cy="1357990"/>
          </a:xfrm>
          <a:prstGeom prst="bentUpArrow">
            <a:avLst>
              <a:gd fmla="val 25000" name="adj1"/>
              <a:gd fmla="val 25000" name="adj2"/>
              <a:gd fmla="val 25000" name="adj3"/>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8"/>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CA"/>
              <a:t>The CPU can accept instructions from one data "lane" at a time.</a:t>
            </a:r>
            <a:endParaRPr/>
          </a:p>
        </p:txBody>
      </p:sp>
      <p:sp>
        <p:nvSpPr>
          <p:cNvPr id="481" name="Google Shape;481;p38"/>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3) CPU Cores</a:t>
            </a:r>
            <a:endParaRPr/>
          </a:p>
        </p:txBody>
      </p:sp>
      <p:sp>
        <p:nvSpPr>
          <p:cNvPr id="482" name="Google Shape;482;p38"/>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p>
            <a:pPr indent="-228600" lvl="0" marL="457200" rtl="0" algn="l">
              <a:lnSpc>
                <a:spcPct val="90000"/>
              </a:lnSpc>
              <a:spcBef>
                <a:spcPts val="720"/>
              </a:spcBef>
              <a:spcAft>
                <a:spcPts val="0"/>
              </a:spcAft>
              <a:buClr>
                <a:schemeClr val="dk1"/>
              </a:buClr>
              <a:buSzPts val="2400"/>
              <a:buNone/>
            </a:pPr>
            <a:r>
              <a:rPr lang="en-CA"/>
              <a:t>Single Core</a:t>
            </a:r>
            <a:endParaRPr/>
          </a:p>
        </p:txBody>
      </p:sp>
      <p:sp>
        <p:nvSpPr>
          <p:cNvPr id="483" name="Google Shape;483;p38"/>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p>
            <a:pPr indent="-228600" lvl="0" marL="457200" rtl="0" algn="l">
              <a:lnSpc>
                <a:spcPct val="90000"/>
              </a:lnSpc>
              <a:spcBef>
                <a:spcPts val="720"/>
              </a:spcBef>
              <a:spcAft>
                <a:spcPts val="0"/>
              </a:spcAft>
              <a:buClr>
                <a:schemeClr val="dk1"/>
              </a:buClr>
              <a:buSzPts val="2400"/>
              <a:buNone/>
            </a:pPr>
            <a:r>
              <a:rPr lang="en-CA"/>
              <a:t>Multi- Core</a:t>
            </a:r>
            <a:endParaRPr/>
          </a:p>
        </p:txBody>
      </p:sp>
      <p:sp>
        <p:nvSpPr>
          <p:cNvPr id="484" name="Google Shape;484;p38"/>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p>
            <a:pPr indent="-330200" lvl="0" marL="457200" rtl="0" algn="l">
              <a:lnSpc>
                <a:spcPct val="90000"/>
              </a:lnSpc>
              <a:spcBef>
                <a:spcPts val="480"/>
              </a:spcBef>
              <a:spcAft>
                <a:spcPts val="0"/>
              </a:spcAft>
              <a:buClr>
                <a:srgbClr val="7F7F7F"/>
              </a:buClr>
              <a:buSzPts val="1600"/>
              <a:buChar char="•"/>
            </a:pPr>
            <a:r>
              <a:rPr lang="en-CA"/>
              <a:t>A Dual-Core CPU is a CPU with that can manage two lanes of data travelling to the RAM at the same time, in </a:t>
            </a:r>
            <a:r>
              <a:rPr b="1" lang="en-CA"/>
              <a:t>parallel</a:t>
            </a:r>
            <a:r>
              <a:rPr lang="en-CA"/>
              <a:t>.</a:t>
            </a:r>
            <a:endParaRPr/>
          </a:p>
          <a:p>
            <a:pPr indent="-330200" lvl="0" marL="457200" rtl="0" algn="l">
              <a:lnSpc>
                <a:spcPct val="90000"/>
              </a:lnSpc>
              <a:spcBef>
                <a:spcPts val="480"/>
              </a:spcBef>
              <a:spcAft>
                <a:spcPts val="0"/>
              </a:spcAft>
              <a:buClr>
                <a:srgbClr val="7F7F7F"/>
              </a:buClr>
              <a:buSzPts val="1600"/>
              <a:buChar char="•"/>
            </a:pPr>
            <a:r>
              <a:rPr lang="en-CA"/>
              <a:t>4 lanes ==&gt; Quad-core, etc.</a:t>
            </a:r>
            <a:endParaRPr/>
          </a:p>
          <a:p>
            <a:pPr indent="-228600" lvl="0" marL="457200" rtl="0" algn="l">
              <a:lnSpc>
                <a:spcPct val="90000"/>
              </a:lnSpc>
              <a:spcBef>
                <a:spcPts val="480"/>
              </a:spcBef>
              <a:spcAft>
                <a:spcPts val="0"/>
              </a:spcAft>
              <a:buClr>
                <a:srgbClr val="7F7F7F"/>
              </a:buClr>
              <a:buSzPts val="1600"/>
              <a:buNone/>
            </a:pPr>
            <a:r>
              <a:t/>
            </a:r>
            <a:endParaRPr/>
          </a:p>
        </p:txBody>
      </p:sp>
      <p:pic>
        <p:nvPicPr>
          <p:cNvPr descr="A green ram with black squares&#10;&#10;Description automatically generated" id="485" name="Google Shape;485;p38"/>
          <p:cNvPicPr preferRelativeResize="0"/>
          <p:nvPr/>
        </p:nvPicPr>
        <p:blipFill rotWithShape="1">
          <a:blip r:embed="rId3">
            <a:alphaModFix/>
          </a:blip>
          <a:srcRect b="0" l="0" r="0" t="0"/>
          <a:stretch/>
        </p:blipFill>
        <p:spPr>
          <a:xfrm>
            <a:off x="828136" y="3636866"/>
            <a:ext cx="5072332" cy="2531627"/>
          </a:xfrm>
          <a:prstGeom prst="rect">
            <a:avLst/>
          </a:prstGeom>
          <a:noFill/>
          <a:ln>
            <a:noFill/>
          </a:ln>
        </p:spPr>
      </p:pic>
      <p:pic>
        <p:nvPicPr>
          <p:cNvPr id="486" name="Google Shape;486;p38"/>
          <p:cNvPicPr preferRelativeResize="0"/>
          <p:nvPr/>
        </p:nvPicPr>
        <p:blipFill rotWithShape="1">
          <a:blip r:embed="rId4">
            <a:alphaModFix/>
          </a:blip>
          <a:srcRect b="0" l="0" r="0" t="0"/>
          <a:stretch/>
        </p:blipFill>
        <p:spPr>
          <a:xfrm>
            <a:off x="6464060" y="3426730"/>
            <a:ext cx="4756030" cy="2793747"/>
          </a:xfrm>
          <a:prstGeom prst="rect">
            <a:avLst/>
          </a:prstGeom>
          <a:noFill/>
          <a:ln>
            <a:noFill/>
          </a:ln>
        </p:spPr>
      </p:pic>
      <p:sp>
        <p:nvSpPr>
          <p:cNvPr id="487" name="Google Shape;487;p38"/>
          <p:cNvSpPr/>
          <p:nvPr/>
        </p:nvSpPr>
        <p:spPr>
          <a:xfrm>
            <a:off x="1405155" y="4316136"/>
            <a:ext cx="209725" cy="188752"/>
          </a:xfrm>
          <a:prstGeom prst="rect">
            <a:avLst/>
          </a:prstGeom>
          <a:solidFill>
            <a:schemeClr val="accent1"/>
          </a:solidFill>
          <a:ln cap="flat" cmpd="sng" w="25400">
            <a:solidFill>
              <a:srgbClr val="1F2B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8" name="Google Shape;488;p38"/>
          <p:cNvSpPr/>
          <p:nvPr/>
        </p:nvSpPr>
        <p:spPr>
          <a:xfrm>
            <a:off x="6876175" y="4464342"/>
            <a:ext cx="209725" cy="188752"/>
          </a:xfrm>
          <a:prstGeom prst="rect">
            <a:avLst/>
          </a:prstGeom>
          <a:solidFill>
            <a:schemeClr val="accent1"/>
          </a:solidFill>
          <a:ln cap="flat" cmpd="sng" w="25400">
            <a:solidFill>
              <a:srgbClr val="1F2B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89" name="Google Shape;489;p38"/>
          <p:cNvSpPr/>
          <p:nvPr/>
        </p:nvSpPr>
        <p:spPr>
          <a:xfrm>
            <a:off x="7150571" y="4462131"/>
            <a:ext cx="209725" cy="188752"/>
          </a:xfrm>
          <a:prstGeom prst="rect">
            <a:avLst/>
          </a:prstGeom>
          <a:solidFill>
            <a:schemeClr val="accent1"/>
          </a:solidFill>
          <a:ln cap="flat" cmpd="sng" w="25400">
            <a:solidFill>
              <a:srgbClr val="1F2B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3) CPU Cores (The threadripper)</a:t>
            </a:r>
            <a:endParaRPr/>
          </a:p>
        </p:txBody>
      </p:sp>
      <p:sp>
        <p:nvSpPr>
          <p:cNvPr id="495" name="Google Shape;495;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Threadrippers are CPUs with 32 and even 64 cores.</a:t>
            </a:r>
            <a:endParaRPr/>
          </a:p>
          <a:p>
            <a:pPr indent="-419100" lvl="0" marL="457200" rtl="0" algn="l">
              <a:lnSpc>
                <a:spcPct val="90000"/>
              </a:lnSpc>
              <a:spcBef>
                <a:spcPts val="900"/>
              </a:spcBef>
              <a:spcAft>
                <a:spcPts val="0"/>
              </a:spcAft>
              <a:buClr>
                <a:srgbClr val="7F7F7F"/>
              </a:buClr>
              <a:buSzPts val="3000"/>
              <a:buChar char="•"/>
            </a:pPr>
            <a:r>
              <a:rPr lang="en-CA"/>
              <a:t>AMD EPYC 75F3 2.95 Ghz, 32C/64T 256 M Cache (280W)</a:t>
            </a:r>
            <a:endParaRPr/>
          </a:p>
          <a:p>
            <a:pPr indent="-419100" lvl="0" marL="457200" rtl="0" algn="l">
              <a:lnSpc>
                <a:spcPct val="90000"/>
              </a:lnSpc>
              <a:spcBef>
                <a:spcPts val="900"/>
              </a:spcBef>
              <a:spcAft>
                <a:spcPts val="0"/>
              </a:spcAft>
              <a:buClr>
                <a:srgbClr val="7F7F7F"/>
              </a:buClr>
              <a:buSzPts val="3000"/>
              <a:buChar char="•"/>
            </a:pPr>
            <a:r>
              <a:rPr lang="en-CA"/>
              <a:t>Costs 15 699.00 CAD $</a:t>
            </a:r>
            <a:endParaRPr/>
          </a:p>
          <a:p>
            <a:pPr indent="-419100" lvl="0" marL="457200" rtl="0" algn="l">
              <a:lnSpc>
                <a:spcPct val="90000"/>
              </a:lnSpc>
              <a:spcBef>
                <a:spcPts val="900"/>
              </a:spcBef>
              <a:spcAft>
                <a:spcPts val="0"/>
              </a:spcAft>
              <a:buSzPts val="3000"/>
              <a:buChar char="•"/>
            </a:pPr>
            <a:r>
              <a:rPr b="1" lang="en-CA"/>
              <a:t>Purpose</a:t>
            </a:r>
            <a:r>
              <a:rPr lang="en-CA"/>
              <a:t>: for </a:t>
            </a:r>
            <a:r>
              <a:rPr b="1" lang="en-CA"/>
              <a:t>servers</a:t>
            </a:r>
            <a:r>
              <a:rPr lang="en-CA"/>
              <a:t>, for managing</a:t>
            </a:r>
            <a:br>
              <a:rPr lang="en-CA"/>
            </a:br>
            <a:r>
              <a:rPr lang="en-CA"/>
              <a:t>many users at the same time.</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A close-up of a computer chip&#10;&#10;Description automatically generated" id="496" name="Google Shape;496;p39"/>
          <p:cNvPicPr preferRelativeResize="0"/>
          <p:nvPr/>
        </p:nvPicPr>
        <p:blipFill rotWithShape="1">
          <a:blip r:embed="rId3">
            <a:alphaModFix/>
          </a:blip>
          <a:srcRect b="0" l="0" r="0" t="0"/>
          <a:stretch/>
        </p:blipFill>
        <p:spPr>
          <a:xfrm>
            <a:off x="7493301" y="2856602"/>
            <a:ext cx="3459551" cy="34595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CPU Cache</a:t>
            </a:r>
            <a:endParaRPr/>
          </a:p>
        </p:txBody>
      </p:sp>
      <p:sp>
        <p:nvSpPr>
          <p:cNvPr id="502" name="Google Shape;502;p40"/>
          <p:cNvSpPr txBox="1"/>
          <p:nvPr>
            <p:ph idx="1" type="body"/>
          </p:nvPr>
        </p:nvSpPr>
        <p:spPr>
          <a:xfrm>
            <a:off x="838200" y="1825625"/>
            <a:ext cx="10637939"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The CPU store the most recently used data and instructions in its cache. </a:t>
            </a:r>
            <a:endParaRPr/>
          </a:p>
          <a:p>
            <a:pPr indent="-419100" lvl="0" marL="457200" rtl="0" algn="l">
              <a:lnSpc>
                <a:spcPct val="90000"/>
              </a:lnSpc>
              <a:spcBef>
                <a:spcPts val="900"/>
              </a:spcBef>
              <a:spcAft>
                <a:spcPts val="0"/>
              </a:spcAft>
              <a:buClr>
                <a:srgbClr val="7F7F7F"/>
              </a:buClr>
              <a:buSzPts val="3000"/>
              <a:buChar char="•"/>
            </a:pPr>
            <a:r>
              <a:rPr lang="en-CA"/>
              <a:t>This speeds up the processing as the cache is much closer to the ALU unit and increases the performance greatly.</a:t>
            </a:r>
            <a:endParaRPr/>
          </a:p>
          <a:p>
            <a:pPr indent="-419100" lvl="0" marL="457200" rtl="0" algn="l">
              <a:lnSpc>
                <a:spcPct val="90000"/>
              </a:lnSpc>
              <a:spcBef>
                <a:spcPts val="900"/>
              </a:spcBef>
              <a:spcAft>
                <a:spcPts val="0"/>
              </a:spcAft>
              <a:buClr>
                <a:srgbClr val="7F7F7F"/>
              </a:buClr>
              <a:buSzPts val="3000"/>
              <a:buChar char="•"/>
            </a:pPr>
            <a:r>
              <a:rPr lang="en-CA"/>
              <a:t>The CPU Cache is also RAM (Random Access memory) but static RAM.</a:t>
            </a:r>
            <a:endParaRPr/>
          </a:p>
          <a:p>
            <a:pPr indent="-419100" lvl="0" marL="457200" rtl="0" algn="l">
              <a:lnSpc>
                <a:spcPct val="90000"/>
              </a:lnSpc>
              <a:spcBef>
                <a:spcPts val="900"/>
              </a:spcBef>
              <a:spcAft>
                <a:spcPts val="0"/>
              </a:spcAft>
              <a:buClr>
                <a:srgbClr val="7F7F7F"/>
              </a:buClr>
              <a:buSzPts val="3000"/>
              <a:buChar char="•"/>
            </a:pPr>
            <a:r>
              <a:rPr lang="en-CA"/>
              <a:t>RAM comes in two types: </a:t>
            </a:r>
            <a:r>
              <a:rPr lang="en-CA">
                <a:solidFill>
                  <a:srgbClr val="0E57C4"/>
                </a:solidFill>
              </a:rPr>
              <a:t>dynamic RAM (DRAM) </a:t>
            </a:r>
            <a:r>
              <a:rPr lang="en-CA"/>
              <a:t>what is used in the </a:t>
            </a:r>
            <a:r>
              <a:rPr lang="en-CA">
                <a:solidFill>
                  <a:srgbClr val="0070C0"/>
                </a:solidFill>
              </a:rPr>
              <a:t>Main Memory </a:t>
            </a:r>
            <a:r>
              <a:rPr lang="en-CA"/>
              <a:t>and </a:t>
            </a:r>
            <a:r>
              <a:rPr lang="en-CA">
                <a:solidFill>
                  <a:srgbClr val="FF0000"/>
                </a:solidFill>
              </a:rPr>
              <a:t>static</a:t>
            </a:r>
            <a:r>
              <a:rPr lang="en-CA"/>
              <a:t> </a:t>
            </a:r>
            <a:r>
              <a:rPr lang="en-CA">
                <a:solidFill>
                  <a:srgbClr val="FF0000"/>
                </a:solidFill>
              </a:rPr>
              <a:t>RAM (SRAM) </a:t>
            </a:r>
            <a:r>
              <a:rPr lang="en-CA"/>
              <a:t>which is used in the </a:t>
            </a:r>
            <a:r>
              <a:rPr lang="en-CA">
                <a:solidFill>
                  <a:srgbClr val="FF0000"/>
                </a:solidFill>
              </a:rPr>
              <a:t>CPU Cache</a:t>
            </a:r>
            <a:r>
              <a:rPr lang="en-CA"/>
              <a:t>. </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SRAM vs DRAM</a:t>
            </a:r>
            <a:endParaRPr/>
          </a:p>
        </p:txBody>
      </p:sp>
      <p:sp>
        <p:nvSpPr>
          <p:cNvPr id="508" name="Google Shape;508;p41"/>
          <p:cNvSpPr txBox="1"/>
          <p:nvPr>
            <p:ph idx="1" type="body"/>
          </p:nvPr>
        </p:nvSpPr>
        <p:spPr>
          <a:xfrm>
            <a:off x="831851" y="1489075"/>
            <a:ext cx="5156200" cy="641350"/>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solidFill>
                  <a:srgbClr val="FF0000"/>
                </a:solidFill>
              </a:rPr>
              <a:t>Static RAM</a:t>
            </a:r>
            <a:endParaRPr/>
          </a:p>
        </p:txBody>
      </p:sp>
      <p:sp>
        <p:nvSpPr>
          <p:cNvPr id="509" name="Google Shape;509;p41"/>
          <p:cNvSpPr txBox="1"/>
          <p:nvPr/>
        </p:nvSpPr>
        <p:spPr>
          <a:xfrm>
            <a:off x="831851" y="2193927"/>
            <a:ext cx="5156200" cy="397827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Uses transistors memory cells.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No need for power refreshing to keep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Low power consumption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Very expensive ≈5000$/Gb</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Very fast read/write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Volatile (data erased at power off)</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Only a few MB used in a PC</a:t>
            </a:r>
            <a:endParaRPr b="0" i="0" sz="1400" u="none" cap="none" strike="noStrike">
              <a:solidFill>
                <a:srgbClr val="000000"/>
              </a:solidFill>
              <a:latin typeface="Arial"/>
              <a:ea typeface="Arial"/>
              <a:cs typeface="Arial"/>
              <a:sym typeface="Arial"/>
            </a:endParaRPr>
          </a:p>
        </p:txBody>
      </p:sp>
      <p:sp>
        <p:nvSpPr>
          <p:cNvPr id="510" name="Google Shape;510;p41"/>
          <p:cNvSpPr txBox="1"/>
          <p:nvPr/>
        </p:nvSpPr>
        <p:spPr>
          <a:xfrm>
            <a:off x="6189664" y="2193927"/>
            <a:ext cx="5157787" cy="397827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Uses transistors and capacitors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Power refreshing required to keep data saved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Higher power consumption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Good balance price/amount ≈20-75$/Gb</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Fast, but not as fast as SRAM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Volatile (data erased at power off)</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en-CA" sz="2000" u="none" cap="none" strike="noStrike">
                <a:solidFill>
                  <a:srgbClr val="000000"/>
                </a:solidFill>
                <a:latin typeface="Arial"/>
                <a:ea typeface="Arial"/>
                <a:cs typeface="Arial"/>
                <a:sym typeface="Arial"/>
              </a:rPr>
              <a:t>4-32GB of RAM used in a PC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1"/>
          <p:cNvSpPr txBox="1"/>
          <p:nvPr/>
        </p:nvSpPr>
        <p:spPr>
          <a:xfrm>
            <a:off x="6203951" y="1470626"/>
            <a:ext cx="5156200" cy="641350"/>
          </a:xfrm>
          <a:prstGeom prst="rect">
            <a:avLst/>
          </a:prstGeom>
          <a:noFill/>
          <a:ln>
            <a:noFill/>
          </a:ln>
        </p:spPr>
        <p:txBody>
          <a:bodyPr anchorCtr="0" anchor="t" bIns="45700" lIns="91425" spcFirstLastPara="1" rIns="91425" wrap="square" tIns="45700">
            <a:normAutofit/>
          </a:bodyPr>
          <a:lstStyle/>
          <a:p>
            <a:pPr indent="-419100" lvl="0" marL="457200" marR="0" rtl="0" algn="l">
              <a:lnSpc>
                <a:spcPct val="90000"/>
              </a:lnSpc>
              <a:spcBef>
                <a:spcPts val="900"/>
              </a:spcBef>
              <a:spcAft>
                <a:spcPts val="0"/>
              </a:spcAft>
              <a:buClr>
                <a:srgbClr val="7F7F7F"/>
              </a:buClr>
              <a:buSzPts val="3000"/>
              <a:buFont typeface="Arial"/>
              <a:buChar char="•"/>
            </a:pPr>
            <a:r>
              <a:rPr b="0" i="0" lang="en-CA" sz="3000" u="none" cap="none" strike="noStrike">
                <a:solidFill>
                  <a:srgbClr val="0E57C4"/>
                </a:solidFill>
                <a:latin typeface="Quattrocento Sans"/>
                <a:ea typeface="Quattrocento Sans"/>
                <a:cs typeface="Quattrocento Sans"/>
                <a:sym typeface="Quattrocento Sans"/>
              </a:rPr>
              <a:t>Dynamic RAM </a:t>
            </a:r>
            <a:endParaRPr b="0" i="0" sz="1400" u="none" cap="none" strike="noStrike">
              <a:solidFill>
                <a:srgbClr val="000000"/>
              </a:solidFill>
              <a:latin typeface="Arial"/>
              <a:ea typeface="Arial"/>
              <a:cs typeface="Arial"/>
              <a:sym typeface="Arial"/>
            </a:endParaRPr>
          </a:p>
        </p:txBody>
      </p:sp>
      <p:sp>
        <p:nvSpPr>
          <p:cNvPr descr="SRAM vs DRAM" id="512" name="Google Shape;512;p41"/>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DRAM Supply Side Issues" id="513" name="Google Shape;513;p41"/>
          <p:cNvPicPr preferRelativeResize="0"/>
          <p:nvPr/>
        </p:nvPicPr>
        <p:blipFill rotWithShape="1">
          <a:blip r:embed="rId3">
            <a:alphaModFix/>
          </a:blip>
          <a:srcRect b="0" l="0" r="0" t="0"/>
          <a:stretch/>
        </p:blipFill>
        <p:spPr>
          <a:xfrm>
            <a:off x="7405468" y="4995784"/>
            <a:ext cx="2926972" cy="1415590"/>
          </a:xfrm>
          <a:prstGeom prst="rect">
            <a:avLst/>
          </a:prstGeom>
          <a:noFill/>
          <a:ln>
            <a:noFill/>
          </a:ln>
        </p:spPr>
      </p:pic>
      <p:pic>
        <p:nvPicPr>
          <p:cNvPr descr="Static RAM Online Store | Future Electronics" id="514" name="Google Shape;514;p41"/>
          <p:cNvPicPr preferRelativeResize="0"/>
          <p:nvPr/>
        </p:nvPicPr>
        <p:blipFill rotWithShape="1">
          <a:blip r:embed="rId4">
            <a:alphaModFix/>
          </a:blip>
          <a:srcRect b="0" l="0" r="0" t="0"/>
          <a:stretch/>
        </p:blipFill>
        <p:spPr>
          <a:xfrm>
            <a:off x="1887523" y="4823275"/>
            <a:ext cx="2402048" cy="180711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CPU Cache</a:t>
            </a:r>
            <a:endParaRPr/>
          </a:p>
        </p:txBody>
      </p:sp>
      <p:sp>
        <p:nvSpPr>
          <p:cNvPr id="520" name="Google Shape;52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833"/>
              </a:spcBef>
              <a:spcAft>
                <a:spcPts val="0"/>
              </a:spcAft>
              <a:buClr>
                <a:srgbClr val="7F7F7F"/>
              </a:buClr>
              <a:buSzPts val="3000"/>
              <a:buChar char="•"/>
            </a:pPr>
            <a:r>
              <a:rPr lang="en-CA"/>
              <a:t>Static RAM comes into three different caches :</a:t>
            </a:r>
            <a:endParaRPr/>
          </a:p>
          <a:p>
            <a:pPr indent="-228600" lvl="1" marL="685800" rtl="0" algn="l">
              <a:lnSpc>
                <a:spcPct val="90000"/>
              </a:lnSpc>
              <a:spcBef>
                <a:spcPts val="722"/>
              </a:spcBef>
              <a:spcAft>
                <a:spcPts val="0"/>
              </a:spcAft>
              <a:buClr>
                <a:srgbClr val="7F7F7F"/>
              </a:buClr>
              <a:buSzPts val="2600"/>
              <a:buChar char="•"/>
            </a:pPr>
            <a:r>
              <a:rPr lang="en-CA">
                <a:solidFill>
                  <a:srgbClr val="FF0000"/>
                </a:solidFill>
              </a:rPr>
              <a:t>L1 cache</a:t>
            </a:r>
            <a:r>
              <a:rPr lang="en-CA"/>
              <a:t>: internal cache, very fast, integrated inside each </a:t>
            </a:r>
            <a:r>
              <a:rPr lang="en-CA">
                <a:solidFill>
                  <a:srgbClr val="FF0000"/>
                </a:solidFill>
              </a:rPr>
              <a:t>CPU Core </a:t>
            </a:r>
            <a:r>
              <a:rPr lang="en-CA" sz="2400"/>
              <a:t>≈ </a:t>
            </a:r>
            <a:r>
              <a:rPr lang="en-CA" sz="2400">
                <a:solidFill>
                  <a:srgbClr val="FF0000"/>
                </a:solidFill>
              </a:rPr>
              <a:t>16K - 2Kb/core</a:t>
            </a:r>
            <a:endParaRPr>
              <a:solidFill>
                <a:srgbClr val="FF0000"/>
              </a:solidFill>
            </a:endParaRPr>
          </a:p>
          <a:p>
            <a:pPr indent="-228600" lvl="1" marL="685800" rtl="0" algn="l">
              <a:lnSpc>
                <a:spcPct val="90000"/>
              </a:lnSpc>
              <a:spcBef>
                <a:spcPts val="722"/>
              </a:spcBef>
              <a:spcAft>
                <a:spcPts val="0"/>
              </a:spcAft>
              <a:buClr>
                <a:srgbClr val="7F7F7F"/>
              </a:buClr>
              <a:buSzPts val="2600"/>
              <a:buChar char="•"/>
            </a:pPr>
            <a:r>
              <a:rPr lang="en-CA">
                <a:solidFill>
                  <a:srgbClr val="0070C0"/>
                </a:solidFill>
              </a:rPr>
              <a:t>L2 cache</a:t>
            </a:r>
            <a:r>
              <a:rPr lang="en-CA"/>
              <a:t>: external cache, fast, </a:t>
            </a:r>
            <a:r>
              <a:rPr lang="en-CA">
                <a:solidFill>
                  <a:srgbClr val="0070C0"/>
                </a:solidFill>
              </a:rPr>
              <a:t>every cores </a:t>
            </a:r>
            <a:r>
              <a:rPr lang="en-CA" sz="2800"/>
              <a:t>≈</a:t>
            </a:r>
            <a:r>
              <a:rPr lang="en-CA" sz="2800">
                <a:solidFill>
                  <a:srgbClr val="498DF1"/>
                </a:solidFill>
              </a:rPr>
              <a:t>128Kb – 8Mb/Core</a:t>
            </a:r>
            <a:r>
              <a:rPr lang="en-CA">
                <a:solidFill>
                  <a:srgbClr val="0070C0"/>
                </a:solidFill>
              </a:rPr>
              <a:t>.</a:t>
            </a:r>
            <a:endParaRPr/>
          </a:p>
          <a:p>
            <a:pPr indent="-228600" lvl="1" marL="685800" rtl="0" algn="l">
              <a:lnSpc>
                <a:spcPct val="90000"/>
              </a:lnSpc>
              <a:spcBef>
                <a:spcPts val="722"/>
              </a:spcBef>
              <a:spcAft>
                <a:spcPts val="0"/>
              </a:spcAft>
              <a:buClr>
                <a:srgbClr val="7F7F7F"/>
              </a:buClr>
              <a:buSzPts val="2600"/>
              <a:buChar char="•"/>
            </a:pPr>
            <a:r>
              <a:rPr lang="en-CA">
                <a:solidFill>
                  <a:srgbClr val="00B050"/>
                </a:solidFill>
              </a:rPr>
              <a:t>L3 cache</a:t>
            </a:r>
            <a:r>
              <a:rPr lang="en-CA"/>
              <a:t>: slowest cache, originally mounted on motherboard, now integrated into CPU chip, </a:t>
            </a:r>
            <a:r>
              <a:rPr lang="en-CA">
                <a:solidFill>
                  <a:srgbClr val="00B050"/>
                </a:solidFill>
              </a:rPr>
              <a:t>shared by all the CPU Cores </a:t>
            </a:r>
            <a:r>
              <a:rPr lang="en-CA" sz="2800"/>
              <a:t>≈ </a:t>
            </a:r>
            <a:r>
              <a:rPr lang="en-CA">
                <a:solidFill>
                  <a:srgbClr val="00B050"/>
                </a:solidFill>
              </a:rPr>
              <a:t>64MB</a:t>
            </a:r>
            <a:endParaRPr>
              <a:solidFill>
                <a:srgbClr val="00B05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CPU Cache – Data flow </a:t>
            </a:r>
            <a:endParaRPr/>
          </a:p>
        </p:txBody>
      </p:sp>
      <p:sp>
        <p:nvSpPr>
          <p:cNvPr id="526" name="Google Shape;526;p43"/>
          <p:cNvSpPr/>
          <p:nvPr/>
        </p:nvSpPr>
        <p:spPr>
          <a:xfrm>
            <a:off x="721895" y="1448586"/>
            <a:ext cx="4844716" cy="2958311"/>
          </a:xfrm>
          <a:prstGeom prst="rect">
            <a:avLst/>
          </a:prstGeom>
          <a:solidFill>
            <a:srgbClr val="FAD6B1"/>
          </a:solidFill>
          <a:ln cap="flat" cmpd="sng" w="25400">
            <a:solidFill>
              <a:srgbClr val="1F2B4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CA" sz="3200" u="none" cap="none" strike="noStrike">
                <a:solidFill>
                  <a:schemeClr val="lt1"/>
                </a:solidFill>
                <a:latin typeface="Arial"/>
                <a:ea typeface="Arial"/>
                <a:cs typeface="Arial"/>
                <a:sym typeface="Arial"/>
              </a:rPr>
              <a:t>CPU Core</a:t>
            </a:r>
            <a:endParaRPr b="0" i="0" sz="3200" u="none" cap="none" strike="noStrike">
              <a:solidFill>
                <a:schemeClr val="lt1"/>
              </a:solidFill>
              <a:latin typeface="Arial"/>
              <a:ea typeface="Arial"/>
              <a:cs typeface="Arial"/>
              <a:sym typeface="Arial"/>
            </a:endParaRPr>
          </a:p>
        </p:txBody>
      </p:sp>
      <p:sp>
        <p:nvSpPr>
          <p:cNvPr id="527" name="Google Shape;527;p43"/>
          <p:cNvSpPr/>
          <p:nvPr/>
        </p:nvSpPr>
        <p:spPr>
          <a:xfrm>
            <a:off x="3640246" y="2028809"/>
            <a:ext cx="1716504" cy="1258575"/>
          </a:xfrm>
          <a:prstGeom prst="roundRect">
            <a:avLst>
              <a:gd fmla="val 16667" name="adj"/>
            </a:avLst>
          </a:prstGeom>
          <a:gradFill>
            <a:gsLst>
              <a:gs pos="0">
                <a:srgbClr val="9E8DA2"/>
              </a:gs>
              <a:gs pos="100000">
                <a:srgbClr val="D8CADC"/>
              </a:gs>
            </a:gsLst>
            <a:lin ang="16200000" scaled="0"/>
          </a:gradFill>
          <a:ln cap="flat" cmpd="sng" w="9525">
            <a:solidFill>
              <a:srgbClr val="998B9C"/>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L1 Cache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16Kb</a:t>
            </a:r>
            <a:endParaRPr b="0" i="0" sz="2400" u="none" cap="none" strike="noStrike">
              <a:solidFill>
                <a:schemeClr val="dk1"/>
              </a:solidFill>
              <a:latin typeface="Arial"/>
              <a:ea typeface="Arial"/>
              <a:cs typeface="Arial"/>
              <a:sym typeface="Arial"/>
            </a:endParaRPr>
          </a:p>
        </p:txBody>
      </p:sp>
      <p:sp>
        <p:nvSpPr>
          <p:cNvPr id="528" name="Google Shape;528;p43"/>
          <p:cNvSpPr/>
          <p:nvPr/>
        </p:nvSpPr>
        <p:spPr>
          <a:xfrm>
            <a:off x="957838" y="2106257"/>
            <a:ext cx="1790684" cy="813407"/>
          </a:xfrm>
          <a:prstGeom prst="rect">
            <a:avLst/>
          </a:prstGeom>
          <a:solidFill>
            <a:srgbClr val="A5A5A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CA" sz="2800" u="none" cap="none" strike="noStrike">
                <a:solidFill>
                  <a:schemeClr val="lt1"/>
                </a:solidFill>
                <a:latin typeface="Arial"/>
                <a:ea typeface="Arial"/>
                <a:cs typeface="Arial"/>
                <a:sym typeface="Arial"/>
              </a:rPr>
              <a:t>Registers</a:t>
            </a:r>
            <a:endParaRPr b="0" i="0" sz="2800" u="none" cap="none" strike="noStrike">
              <a:solidFill>
                <a:schemeClr val="lt1"/>
              </a:solidFill>
              <a:latin typeface="Arial"/>
              <a:ea typeface="Arial"/>
              <a:cs typeface="Arial"/>
              <a:sym typeface="Arial"/>
            </a:endParaRPr>
          </a:p>
        </p:txBody>
      </p:sp>
      <p:sp>
        <p:nvSpPr>
          <p:cNvPr id="529" name="Google Shape;529;p43"/>
          <p:cNvSpPr/>
          <p:nvPr/>
        </p:nvSpPr>
        <p:spPr>
          <a:xfrm>
            <a:off x="2984465" y="2293437"/>
            <a:ext cx="517462" cy="337556"/>
          </a:xfrm>
          <a:prstGeom prst="rightArrow">
            <a:avLst>
              <a:gd fmla="val 500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0" name="Google Shape;530;p43"/>
          <p:cNvSpPr/>
          <p:nvPr/>
        </p:nvSpPr>
        <p:spPr>
          <a:xfrm rot="10800000">
            <a:off x="2913594" y="2642016"/>
            <a:ext cx="517462" cy="337556"/>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1" name="Google Shape;531;p43"/>
          <p:cNvSpPr/>
          <p:nvPr/>
        </p:nvSpPr>
        <p:spPr>
          <a:xfrm>
            <a:off x="5981700" y="1444061"/>
            <a:ext cx="1333500" cy="2830249"/>
          </a:xfrm>
          <a:prstGeom prst="roundRect">
            <a:avLst>
              <a:gd fmla="val 16667" name="adj"/>
            </a:avLst>
          </a:prstGeom>
          <a:gradFill>
            <a:gsLst>
              <a:gs pos="0">
                <a:srgbClr val="9E8DA2"/>
              </a:gs>
              <a:gs pos="100000">
                <a:srgbClr val="D8CADC"/>
              </a:gs>
            </a:gsLst>
            <a:lin ang="16200000" scaled="0"/>
          </a:gradFill>
          <a:ln cap="flat" cmpd="sng" w="9525">
            <a:solidFill>
              <a:srgbClr val="998B9C"/>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L2 Cache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128Kb – 8Mb</a:t>
            </a:r>
            <a:endParaRPr b="0" i="0" sz="2400" u="none" cap="none" strike="noStrike">
              <a:solidFill>
                <a:schemeClr val="dk1"/>
              </a:solidFill>
              <a:latin typeface="Arial"/>
              <a:ea typeface="Arial"/>
              <a:cs typeface="Arial"/>
              <a:sym typeface="Arial"/>
            </a:endParaRPr>
          </a:p>
        </p:txBody>
      </p:sp>
      <p:sp>
        <p:nvSpPr>
          <p:cNvPr id="532" name="Google Shape;532;p43"/>
          <p:cNvSpPr/>
          <p:nvPr/>
        </p:nvSpPr>
        <p:spPr>
          <a:xfrm>
            <a:off x="721895" y="4598674"/>
            <a:ext cx="4844716" cy="2195157"/>
          </a:xfrm>
          <a:prstGeom prst="rect">
            <a:avLst/>
          </a:prstGeom>
          <a:solidFill>
            <a:srgbClr val="FAD6B1"/>
          </a:solidFill>
          <a:ln cap="flat" cmpd="sng" w="25400">
            <a:solidFill>
              <a:srgbClr val="1F2B4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CA" sz="3200" u="none" cap="none" strike="noStrike">
                <a:solidFill>
                  <a:schemeClr val="lt1"/>
                </a:solidFill>
                <a:latin typeface="Arial"/>
                <a:ea typeface="Arial"/>
                <a:cs typeface="Arial"/>
                <a:sym typeface="Arial"/>
              </a:rPr>
              <a:t>CPU Core</a:t>
            </a:r>
            <a:endParaRPr b="0" i="0" sz="3200" u="none" cap="none" strike="noStrike">
              <a:solidFill>
                <a:schemeClr val="lt1"/>
              </a:solidFill>
              <a:latin typeface="Arial"/>
              <a:ea typeface="Arial"/>
              <a:cs typeface="Arial"/>
              <a:sym typeface="Arial"/>
            </a:endParaRPr>
          </a:p>
        </p:txBody>
      </p:sp>
      <p:sp>
        <p:nvSpPr>
          <p:cNvPr id="533" name="Google Shape;533;p43"/>
          <p:cNvSpPr/>
          <p:nvPr/>
        </p:nvSpPr>
        <p:spPr>
          <a:xfrm>
            <a:off x="3650927" y="3460903"/>
            <a:ext cx="1790684" cy="813407"/>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CA" sz="2800" u="none" cap="none" strike="noStrike">
                <a:solidFill>
                  <a:schemeClr val="lt1"/>
                </a:solidFill>
                <a:latin typeface="Arial"/>
                <a:ea typeface="Arial"/>
                <a:cs typeface="Arial"/>
                <a:sym typeface="Arial"/>
              </a:rPr>
              <a:t>CU</a:t>
            </a:r>
            <a:endParaRPr b="0" i="0" sz="2800" u="none" cap="none" strike="noStrike">
              <a:solidFill>
                <a:schemeClr val="lt1"/>
              </a:solidFill>
              <a:latin typeface="Arial"/>
              <a:ea typeface="Arial"/>
              <a:cs typeface="Arial"/>
              <a:sym typeface="Arial"/>
            </a:endParaRPr>
          </a:p>
        </p:txBody>
      </p:sp>
      <p:sp>
        <p:nvSpPr>
          <p:cNvPr id="534" name="Google Shape;534;p43"/>
          <p:cNvSpPr/>
          <p:nvPr/>
        </p:nvSpPr>
        <p:spPr>
          <a:xfrm>
            <a:off x="957838" y="3454427"/>
            <a:ext cx="1790684" cy="813407"/>
          </a:xfrm>
          <a:prstGeom prst="rect">
            <a:avLst/>
          </a:prstGeom>
          <a:solidFill>
            <a:srgbClr val="00B0F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CA" sz="2800" u="none" cap="none" strike="noStrike">
                <a:solidFill>
                  <a:schemeClr val="lt1"/>
                </a:solidFill>
                <a:latin typeface="Arial"/>
                <a:ea typeface="Arial"/>
                <a:cs typeface="Arial"/>
                <a:sym typeface="Arial"/>
              </a:rPr>
              <a:t>ALU</a:t>
            </a:r>
            <a:endParaRPr b="0" i="0" sz="2800" u="none" cap="none" strike="noStrike">
              <a:solidFill>
                <a:schemeClr val="lt1"/>
              </a:solidFill>
              <a:latin typeface="Arial"/>
              <a:ea typeface="Arial"/>
              <a:cs typeface="Arial"/>
              <a:sym typeface="Arial"/>
            </a:endParaRPr>
          </a:p>
        </p:txBody>
      </p:sp>
      <p:sp>
        <p:nvSpPr>
          <p:cNvPr id="535" name="Google Shape;535;p43"/>
          <p:cNvSpPr/>
          <p:nvPr/>
        </p:nvSpPr>
        <p:spPr>
          <a:xfrm>
            <a:off x="3606849" y="5160639"/>
            <a:ext cx="1716504" cy="613207"/>
          </a:xfrm>
          <a:prstGeom prst="roundRect">
            <a:avLst>
              <a:gd fmla="val 16667" name="adj"/>
            </a:avLst>
          </a:prstGeom>
          <a:gradFill>
            <a:gsLst>
              <a:gs pos="0">
                <a:srgbClr val="9E8DA2"/>
              </a:gs>
              <a:gs pos="100000">
                <a:srgbClr val="D8CADC"/>
              </a:gs>
            </a:gsLst>
            <a:lin ang="16200000" scaled="0"/>
          </a:gradFill>
          <a:ln cap="flat" cmpd="sng" w="9525">
            <a:solidFill>
              <a:srgbClr val="998B9C"/>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36" name="Google Shape;536;p43"/>
          <p:cNvSpPr/>
          <p:nvPr/>
        </p:nvSpPr>
        <p:spPr>
          <a:xfrm>
            <a:off x="924441" y="5238088"/>
            <a:ext cx="1790684" cy="524736"/>
          </a:xfrm>
          <a:prstGeom prst="rect">
            <a:avLst/>
          </a:prstGeom>
          <a:solidFill>
            <a:srgbClr val="A5A5A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537" name="Google Shape;537;p43"/>
          <p:cNvSpPr/>
          <p:nvPr/>
        </p:nvSpPr>
        <p:spPr>
          <a:xfrm>
            <a:off x="2984465" y="5171624"/>
            <a:ext cx="517462" cy="337556"/>
          </a:xfrm>
          <a:prstGeom prst="rightArrow">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8" name="Google Shape;538;p43"/>
          <p:cNvSpPr/>
          <p:nvPr/>
        </p:nvSpPr>
        <p:spPr>
          <a:xfrm rot="10800000">
            <a:off x="2880197" y="5533216"/>
            <a:ext cx="517462" cy="337556"/>
          </a:xfrm>
          <a:prstGeom prst="rightArrow">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9" name="Google Shape;539;p43"/>
          <p:cNvSpPr/>
          <p:nvPr/>
        </p:nvSpPr>
        <p:spPr>
          <a:xfrm>
            <a:off x="3603156" y="6007102"/>
            <a:ext cx="1790684" cy="524737"/>
          </a:xfrm>
          <a:prstGeom prst="rect">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540" name="Google Shape;540;p43"/>
          <p:cNvSpPr/>
          <p:nvPr/>
        </p:nvSpPr>
        <p:spPr>
          <a:xfrm>
            <a:off x="924441" y="5993188"/>
            <a:ext cx="1790684" cy="524736"/>
          </a:xfrm>
          <a:prstGeom prst="rect">
            <a:avLst/>
          </a:prstGeom>
          <a:solidFill>
            <a:srgbClr val="00B0F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541" name="Google Shape;541;p43"/>
          <p:cNvSpPr/>
          <p:nvPr/>
        </p:nvSpPr>
        <p:spPr>
          <a:xfrm>
            <a:off x="6027838" y="4566589"/>
            <a:ext cx="1287362" cy="2195157"/>
          </a:xfrm>
          <a:prstGeom prst="roundRect">
            <a:avLst>
              <a:gd fmla="val 16667" name="adj"/>
            </a:avLst>
          </a:prstGeom>
          <a:gradFill>
            <a:gsLst>
              <a:gs pos="0">
                <a:srgbClr val="9E8DA2"/>
              </a:gs>
              <a:gs pos="100000">
                <a:srgbClr val="D8CADC"/>
              </a:gs>
            </a:gsLst>
            <a:lin ang="16200000" scaled="0"/>
          </a:gradFill>
          <a:ln cap="flat" cmpd="sng" w="9525">
            <a:solidFill>
              <a:srgbClr val="998B9C"/>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L2</a:t>
            </a:r>
            <a:endParaRPr b="0" i="0" sz="2400" u="none" cap="none" strike="noStrike">
              <a:solidFill>
                <a:schemeClr val="dk1"/>
              </a:solidFill>
              <a:latin typeface="Arial"/>
              <a:ea typeface="Arial"/>
              <a:cs typeface="Arial"/>
              <a:sym typeface="Arial"/>
            </a:endParaRPr>
          </a:p>
        </p:txBody>
      </p:sp>
      <p:sp>
        <p:nvSpPr>
          <p:cNvPr id="542" name="Google Shape;542;p43"/>
          <p:cNvSpPr/>
          <p:nvPr/>
        </p:nvSpPr>
        <p:spPr>
          <a:xfrm>
            <a:off x="7758309" y="1444061"/>
            <a:ext cx="1901328" cy="5349769"/>
          </a:xfrm>
          <a:prstGeom prst="roundRect">
            <a:avLst>
              <a:gd fmla="val 16667" name="adj"/>
            </a:avLst>
          </a:prstGeom>
          <a:gradFill>
            <a:gsLst>
              <a:gs pos="0">
                <a:srgbClr val="9E8DA2"/>
              </a:gs>
              <a:gs pos="100000">
                <a:srgbClr val="D8CADC"/>
              </a:gs>
            </a:gsLst>
            <a:lin ang="16200000" scaled="0"/>
          </a:gradFill>
          <a:ln cap="flat" cmpd="sng" w="9525">
            <a:solidFill>
              <a:srgbClr val="998B9C"/>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L3 Cache 64Mb</a:t>
            </a:r>
            <a:endParaRPr b="0" i="0" sz="1400" u="none" cap="none" strike="noStrike">
              <a:solidFill>
                <a:srgbClr val="000000"/>
              </a:solidFill>
              <a:latin typeface="Arial"/>
              <a:ea typeface="Arial"/>
              <a:cs typeface="Arial"/>
              <a:sym typeface="Arial"/>
            </a:endParaRPr>
          </a:p>
        </p:txBody>
      </p:sp>
      <p:sp>
        <p:nvSpPr>
          <p:cNvPr id="543" name="Google Shape;543;p43"/>
          <p:cNvSpPr/>
          <p:nvPr/>
        </p:nvSpPr>
        <p:spPr>
          <a:xfrm>
            <a:off x="10338820" y="1588168"/>
            <a:ext cx="1790684" cy="5173577"/>
          </a:xfrm>
          <a:prstGeom prst="rect">
            <a:avLst/>
          </a:prstGeom>
          <a:solidFill>
            <a:srgbClr val="00682F"/>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CA" sz="2800" u="none" cap="none" strike="noStrike">
                <a:solidFill>
                  <a:schemeClr val="lt1"/>
                </a:solidFill>
                <a:latin typeface="Arial"/>
                <a:ea typeface="Arial"/>
                <a:cs typeface="Arial"/>
                <a:sym typeface="Arial"/>
              </a:rPr>
              <a:t>Main Memory</a:t>
            </a:r>
            <a:endParaRPr b="0" i="0" sz="2800" u="none" cap="none" strike="noStrike">
              <a:solidFill>
                <a:schemeClr val="lt1"/>
              </a:solidFill>
              <a:latin typeface="Arial"/>
              <a:ea typeface="Arial"/>
              <a:cs typeface="Arial"/>
              <a:sym typeface="Arial"/>
            </a:endParaRPr>
          </a:p>
        </p:txBody>
      </p:sp>
      <p:sp>
        <p:nvSpPr>
          <p:cNvPr id="544" name="Google Shape;544;p43"/>
          <p:cNvSpPr/>
          <p:nvPr/>
        </p:nvSpPr>
        <p:spPr>
          <a:xfrm>
            <a:off x="5430882" y="2285417"/>
            <a:ext cx="517462" cy="337556"/>
          </a:xfrm>
          <a:prstGeom prst="rightArrow">
            <a:avLst>
              <a:gd fmla="val 500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5" name="Google Shape;545;p43"/>
          <p:cNvSpPr/>
          <p:nvPr/>
        </p:nvSpPr>
        <p:spPr>
          <a:xfrm>
            <a:off x="7331871" y="2325523"/>
            <a:ext cx="517462" cy="337556"/>
          </a:xfrm>
          <a:prstGeom prst="rightArrow">
            <a:avLst>
              <a:gd fmla="val 500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6" name="Google Shape;546;p43"/>
          <p:cNvSpPr/>
          <p:nvPr/>
        </p:nvSpPr>
        <p:spPr>
          <a:xfrm>
            <a:off x="9698082" y="2349594"/>
            <a:ext cx="640738" cy="313485"/>
          </a:xfrm>
          <a:prstGeom prst="rightArrow">
            <a:avLst>
              <a:gd fmla="val 500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7" name="Google Shape;547;p43"/>
          <p:cNvSpPr/>
          <p:nvPr/>
        </p:nvSpPr>
        <p:spPr>
          <a:xfrm>
            <a:off x="235974" y="4475167"/>
            <a:ext cx="7393858" cy="2382832"/>
          </a:xfrm>
          <a:prstGeom prst="rect">
            <a:avLst/>
          </a:prstGeom>
          <a:solidFill>
            <a:srgbClr val="F2F2F2">
              <a:alpha val="7843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Arial"/>
              <a:ea typeface="Arial"/>
              <a:cs typeface="Arial"/>
              <a:sym typeface="Arial"/>
            </a:endParaRPr>
          </a:p>
        </p:txBody>
      </p:sp>
      <p:sp>
        <p:nvSpPr>
          <p:cNvPr id="548" name="Google Shape;548;p43"/>
          <p:cNvSpPr/>
          <p:nvPr/>
        </p:nvSpPr>
        <p:spPr>
          <a:xfrm rot="10800000">
            <a:off x="5381805" y="2683024"/>
            <a:ext cx="517462" cy="337556"/>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9" name="Google Shape;549;p43"/>
          <p:cNvSpPr/>
          <p:nvPr/>
        </p:nvSpPr>
        <p:spPr>
          <a:xfrm rot="10800000">
            <a:off x="7270256" y="2709925"/>
            <a:ext cx="517462" cy="337556"/>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50" name="Google Shape;550;p43"/>
          <p:cNvSpPr/>
          <p:nvPr/>
        </p:nvSpPr>
        <p:spPr>
          <a:xfrm rot="10800000">
            <a:off x="9659634" y="2709925"/>
            <a:ext cx="640739" cy="337556"/>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CPU Cache</a:t>
            </a:r>
            <a:endParaRPr/>
          </a:p>
        </p:txBody>
      </p:sp>
      <p:pic>
        <p:nvPicPr>
          <p:cNvPr id="556" name="Google Shape;556;p44"/>
          <p:cNvPicPr preferRelativeResize="0"/>
          <p:nvPr>
            <p:ph idx="1" type="body"/>
          </p:nvPr>
        </p:nvPicPr>
        <p:blipFill rotWithShape="1">
          <a:blip r:embed="rId3">
            <a:alphaModFix/>
          </a:blip>
          <a:srcRect b="60747" l="0" r="0" t="0"/>
          <a:stretch/>
        </p:blipFill>
        <p:spPr>
          <a:xfrm>
            <a:off x="1768475" y="2487772"/>
            <a:ext cx="8834700" cy="3104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5"/>
          <p:cNvSpPr txBox="1"/>
          <p:nvPr>
            <p:ph idx="1" type="body"/>
          </p:nvPr>
        </p:nvSpPr>
        <p:spPr>
          <a:xfrm>
            <a:off x="796255" y="2409866"/>
            <a:ext cx="10515600" cy="3923822"/>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900"/>
              </a:spcBef>
              <a:spcAft>
                <a:spcPts val="0"/>
              </a:spcAft>
              <a:buSzPts val="3000"/>
              <a:buNone/>
            </a:pPr>
            <a:r>
              <a:rPr lang="en-CA" sz="2100">
                <a:solidFill>
                  <a:schemeClr val="dk1"/>
                </a:solidFill>
                <a:latin typeface="Arial"/>
                <a:ea typeface="Arial"/>
                <a:cs typeface="Arial"/>
                <a:sym typeface="Arial"/>
              </a:rPr>
              <a:t>Let’s say we have a 100-MHz, 32-bit bus CPU.</a:t>
            </a:r>
            <a:endParaRPr sz="2100">
              <a:solidFill>
                <a:schemeClr val="dk1"/>
              </a:solidFill>
              <a:latin typeface="Arial"/>
              <a:ea typeface="Arial"/>
              <a:cs typeface="Arial"/>
              <a:sym typeface="Arial"/>
            </a:endParaRPr>
          </a:p>
          <a:p>
            <a:pPr indent="-361950" lvl="0" marL="457200" rtl="0" algn="l">
              <a:lnSpc>
                <a:spcPct val="115000"/>
              </a:lnSpc>
              <a:spcBef>
                <a:spcPts val="900"/>
              </a:spcBef>
              <a:spcAft>
                <a:spcPts val="0"/>
              </a:spcAft>
              <a:buClr>
                <a:schemeClr val="dk1"/>
              </a:buClr>
              <a:buSzPts val="2100"/>
              <a:buFont typeface="Arial"/>
              <a:buChar char="•"/>
            </a:pPr>
            <a:r>
              <a:rPr lang="en-CA" sz="2100">
                <a:solidFill>
                  <a:schemeClr val="dk1"/>
                </a:solidFill>
                <a:latin typeface="Arial"/>
                <a:ea typeface="Arial"/>
                <a:cs typeface="Arial"/>
                <a:sym typeface="Arial"/>
              </a:rPr>
              <a:t>How many bytes per second can the CPU process?</a:t>
            </a:r>
            <a:endParaRPr sz="2100">
              <a:solidFill>
                <a:schemeClr val="dk1"/>
              </a:solidFill>
              <a:latin typeface="Arial"/>
              <a:ea typeface="Arial"/>
              <a:cs typeface="Arial"/>
              <a:sym typeface="Arial"/>
            </a:endParaRPr>
          </a:p>
          <a:p>
            <a:pPr indent="0" lvl="0" marL="0" rtl="0" algn="l">
              <a:lnSpc>
                <a:spcPct val="115000"/>
              </a:lnSpc>
              <a:spcBef>
                <a:spcPts val="900"/>
              </a:spcBef>
              <a:spcAft>
                <a:spcPts val="0"/>
              </a:spcAft>
              <a:buSzPts val="3000"/>
              <a:buNone/>
            </a:pPr>
            <a:r>
              <a:rPr lang="en-CA" sz="2100">
                <a:solidFill>
                  <a:schemeClr val="dk1"/>
                </a:solidFill>
                <a:latin typeface="Arial"/>
                <a:ea typeface="Arial"/>
                <a:cs typeface="Arial"/>
                <a:sym typeface="Arial"/>
              </a:rPr>
              <a:t>Now, let’s compare the above CPU with a second 80-MHz 64-bit bus CPU.</a:t>
            </a:r>
            <a:endParaRPr sz="2100">
              <a:solidFill>
                <a:schemeClr val="dk1"/>
              </a:solidFill>
              <a:latin typeface="Arial"/>
              <a:ea typeface="Arial"/>
              <a:cs typeface="Arial"/>
              <a:sym typeface="Arial"/>
            </a:endParaRPr>
          </a:p>
          <a:p>
            <a:pPr indent="-361950" lvl="0" marL="457200" rtl="0" algn="l">
              <a:lnSpc>
                <a:spcPct val="115000"/>
              </a:lnSpc>
              <a:spcBef>
                <a:spcPts val="900"/>
              </a:spcBef>
              <a:spcAft>
                <a:spcPts val="0"/>
              </a:spcAft>
              <a:buClr>
                <a:schemeClr val="dk1"/>
              </a:buClr>
              <a:buSzPts val="2100"/>
              <a:buFont typeface="Arial"/>
              <a:buChar char="•"/>
            </a:pPr>
            <a:r>
              <a:rPr lang="en-CA" sz="2100">
                <a:solidFill>
                  <a:schemeClr val="dk1"/>
                </a:solidFill>
                <a:latin typeface="Arial"/>
                <a:ea typeface="Arial"/>
                <a:cs typeface="Arial"/>
                <a:sym typeface="Arial"/>
              </a:rPr>
              <a:t>How many bytes per second can the second CPU process? Which of the two is faster at sending information?</a:t>
            </a:r>
            <a:endParaRPr sz="2100">
              <a:solidFill>
                <a:schemeClr val="dk1"/>
              </a:solidFill>
              <a:latin typeface="Arial"/>
              <a:ea typeface="Arial"/>
              <a:cs typeface="Arial"/>
              <a:sym typeface="Arial"/>
            </a:endParaRPr>
          </a:p>
          <a:p>
            <a:pPr indent="0" lvl="0" marL="0" rtl="0" algn="l">
              <a:lnSpc>
                <a:spcPct val="90000"/>
              </a:lnSpc>
              <a:spcBef>
                <a:spcPts val="900"/>
              </a:spcBef>
              <a:spcAft>
                <a:spcPts val="0"/>
              </a:spcAft>
              <a:buSzPts val="3000"/>
              <a:buNone/>
            </a:pPr>
            <a:r>
              <a:rPr lang="en-CA" sz="2000">
                <a:solidFill>
                  <a:srgbClr val="FF0000"/>
                </a:solidFill>
                <a:latin typeface="Arial"/>
                <a:ea typeface="Arial"/>
                <a:cs typeface="Arial"/>
                <a:sym typeface="Arial"/>
              </a:rPr>
              <a:t>First CPU: 400 Mbytes/s Second CPU: 640 Mbytes/s</a:t>
            </a:r>
            <a:endParaRPr/>
          </a:p>
          <a:p>
            <a:pPr indent="0" lvl="0" marL="0" rtl="0" algn="l">
              <a:lnSpc>
                <a:spcPct val="90000"/>
              </a:lnSpc>
              <a:spcBef>
                <a:spcPts val="900"/>
              </a:spcBef>
              <a:spcAft>
                <a:spcPts val="0"/>
              </a:spcAft>
              <a:buSzPts val="3000"/>
              <a:buNone/>
            </a:pPr>
            <a:r>
              <a:rPr lang="en-CA" sz="2000">
                <a:solidFill>
                  <a:srgbClr val="FF0000"/>
                </a:solidFill>
                <a:latin typeface="Arial"/>
                <a:ea typeface="Arial"/>
                <a:cs typeface="Arial"/>
                <a:sym typeface="Arial"/>
              </a:rPr>
              <a:t>Power consumption of the first CPU is bigger due to the higher clock rate.</a:t>
            </a:r>
            <a:endParaRPr sz="2000">
              <a:solidFill>
                <a:srgbClr val="FF0000"/>
              </a:solidFill>
              <a:latin typeface="Arial"/>
              <a:ea typeface="Arial"/>
              <a:cs typeface="Arial"/>
              <a:sym typeface="Arial"/>
            </a:endParaRPr>
          </a:p>
        </p:txBody>
      </p:sp>
      <p:sp>
        <p:nvSpPr>
          <p:cNvPr id="563" name="Google Shape;563;p45"/>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3600"/>
              <a:buNone/>
            </a:pPr>
            <a:r>
              <a:rPr b="1" lang="en-CA"/>
              <a:t>Activity: </a:t>
            </a:r>
            <a:r>
              <a:rPr lang="en-CA"/>
              <a:t>Bus Speed and Bus Width (CPU Power)</a:t>
            </a:r>
            <a:endParaRPr/>
          </a:p>
        </p:txBody>
      </p:sp>
      <p:sp>
        <p:nvSpPr>
          <p:cNvPr id="564" name="Google Shape;564;p45"/>
          <p:cNvSpPr txBox="1"/>
          <p:nvPr/>
        </p:nvSpPr>
        <p:spPr>
          <a:xfrm>
            <a:off x="788565" y="1526796"/>
            <a:ext cx="444544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CA" sz="3200" u="none" cap="none" strike="noStrike">
                <a:solidFill>
                  <a:schemeClr val="dk1"/>
                </a:solidFill>
                <a:latin typeface="Arial"/>
                <a:ea typeface="Arial"/>
                <a:cs typeface="Arial"/>
                <a:sym typeface="Arial"/>
              </a:rPr>
              <a:t>How to choose a CPU?</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6"/>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Other Types of CPUs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ARM Chip</a:t>
            </a:r>
            <a:endParaRPr/>
          </a:p>
        </p:txBody>
      </p:sp>
      <p:sp>
        <p:nvSpPr>
          <p:cNvPr id="575" name="Google Shape;575;p47"/>
          <p:cNvSpPr txBox="1"/>
          <p:nvPr>
            <p:ph idx="1" type="body"/>
          </p:nvPr>
        </p:nvSpPr>
        <p:spPr>
          <a:xfrm>
            <a:off x="838200" y="1825625"/>
            <a:ext cx="6935639"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Simplified CPUs called Advanced Risk Machine.</a:t>
            </a:r>
            <a:endParaRPr/>
          </a:p>
          <a:p>
            <a:pPr indent="-419100" lvl="0" marL="457200" rtl="0" algn="l">
              <a:lnSpc>
                <a:spcPct val="90000"/>
              </a:lnSpc>
              <a:spcBef>
                <a:spcPts val="900"/>
              </a:spcBef>
              <a:spcAft>
                <a:spcPts val="0"/>
              </a:spcAft>
              <a:buClr>
                <a:srgbClr val="7F7F7F"/>
              </a:buClr>
              <a:buSzPts val="3000"/>
              <a:buChar char="•"/>
            </a:pPr>
            <a:r>
              <a:rPr lang="en-CA"/>
              <a:t>More simplified instruction set</a:t>
            </a:r>
            <a:endParaRPr/>
          </a:p>
          <a:p>
            <a:pPr indent="-419100" lvl="0" marL="457200" rtl="0" algn="l">
              <a:lnSpc>
                <a:spcPct val="90000"/>
              </a:lnSpc>
              <a:spcBef>
                <a:spcPts val="900"/>
              </a:spcBef>
              <a:spcAft>
                <a:spcPts val="0"/>
              </a:spcAft>
              <a:buClr>
                <a:srgbClr val="7F7F7F"/>
              </a:buClr>
              <a:buSzPts val="3000"/>
              <a:buChar char="•"/>
            </a:pPr>
            <a:r>
              <a:rPr lang="en-CA"/>
              <a:t>Much higher speed of processing and reduced workload.</a:t>
            </a:r>
            <a:endParaRPr/>
          </a:p>
          <a:p>
            <a:pPr indent="-419100" lvl="0" marL="457200" rtl="0" algn="l">
              <a:lnSpc>
                <a:spcPct val="90000"/>
              </a:lnSpc>
              <a:spcBef>
                <a:spcPts val="900"/>
              </a:spcBef>
              <a:spcAft>
                <a:spcPts val="0"/>
              </a:spcAft>
              <a:buClr>
                <a:srgbClr val="7F7F7F"/>
              </a:buClr>
              <a:buSzPts val="3000"/>
              <a:buChar char="•"/>
            </a:pPr>
            <a:r>
              <a:rPr lang="en-CA"/>
              <a:t>Used in Arduinos and RasberryPis </a:t>
            </a:r>
            <a:endParaRPr/>
          </a:p>
          <a:p>
            <a:pPr indent="-419100" lvl="0" marL="457200" rtl="0" algn="l">
              <a:lnSpc>
                <a:spcPct val="90000"/>
              </a:lnSpc>
              <a:spcBef>
                <a:spcPts val="900"/>
              </a:spcBef>
              <a:spcAft>
                <a:spcPts val="0"/>
              </a:spcAft>
              <a:buClr>
                <a:srgbClr val="7F7F7F"/>
              </a:buClr>
              <a:buSzPts val="3000"/>
              <a:buChar char="•"/>
            </a:pPr>
            <a:r>
              <a:rPr lang="en-CA"/>
              <a:t>The Apple M1 Chip used in Macbook Air is an ARM chip</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Raspberry Pi 3 Model B" id="576" name="Google Shape;576;p47"/>
          <p:cNvPicPr preferRelativeResize="0"/>
          <p:nvPr/>
        </p:nvPicPr>
        <p:blipFill rotWithShape="1">
          <a:blip r:embed="rId3">
            <a:alphaModFix/>
          </a:blip>
          <a:srcRect b="0" l="0" r="0" t="0"/>
          <a:stretch/>
        </p:blipFill>
        <p:spPr>
          <a:xfrm>
            <a:off x="7788035" y="2336680"/>
            <a:ext cx="3977137" cy="320543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Accelerated Processing Unit (APU)</a:t>
            </a:r>
            <a:endParaRPr/>
          </a:p>
        </p:txBody>
      </p:sp>
      <p:sp>
        <p:nvSpPr>
          <p:cNvPr id="582" name="Google Shape;582;p48"/>
          <p:cNvSpPr txBox="1"/>
          <p:nvPr>
            <p:ph idx="1" type="body"/>
          </p:nvPr>
        </p:nvSpPr>
        <p:spPr>
          <a:xfrm>
            <a:off x="838200" y="1825625"/>
            <a:ext cx="7755148"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APUs are CPUs with combined graphics processing capabilities. </a:t>
            </a:r>
            <a:endParaRPr/>
          </a:p>
          <a:p>
            <a:pPr indent="-419100" lvl="0" marL="457200" rtl="0" algn="l">
              <a:lnSpc>
                <a:spcPct val="90000"/>
              </a:lnSpc>
              <a:spcBef>
                <a:spcPts val="900"/>
              </a:spcBef>
              <a:spcAft>
                <a:spcPts val="0"/>
              </a:spcAft>
              <a:buClr>
                <a:srgbClr val="7F7F7F"/>
              </a:buClr>
              <a:buSzPts val="3000"/>
              <a:buChar char="•"/>
            </a:pPr>
            <a:r>
              <a:rPr lang="en-CA"/>
              <a:t>Not as powerful as a dedicated GPU.</a:t>
            </a:r>
            <a:endParaRPr/>
          </a:p>
          <a:p>
            <a:pPr indent="-419100" lvl="0" marL="457200" rtl="0" algn="l">
              <a:lnSpc>
                <a:spcPct val="90000"/>
              </a:lnSpc>
              <a:spcBef>
                <a:spcPts val="900"/>
              </a:spcBef>
              <a:spcAft>
                <a:spcPts val="0"/>
              </a:spcAft>
              <a:buClr>
                <a:srgbClr val="7F7F7F"/>
              </a:buClr>
              <a:buSzPts val="3000"/>
              <a:buChar char="•"/>
            </a:pPr>
            <a:r>
              <a:rPr lang="en-CA"/>
              <a:t>Great option for budget gaming.</a:t>
            </a:r>
            <a:endParaRPr/>
          </a:p>
        </p:txBody>
      </p:sp>
      <p:pic>
        <p:nvPicPr>
          <p:cNvPr descr="How it works: AMD's new Accelerated Processing Unit – GeekWire" id="583" name="Google Shape;583;p48"/>
          <p:cNvPicPr preferRelativeResize="0"/>
          <p:nvPr/>
        </p:nvPicPr>
        <p:blipFill rotWithShape="1">
          <a:blip r:embed="rId3">
            <a:alphaModFix/>
          </a:blip>
          <a:srcRect b="0" l="0" r="0" t="0"/>
          <a:stretch/>
        </p:blipFill>
        <p:spPr>
          <a:xfrm>
            <a:off x="7355816" y="2587925"/>
            <a:ext cx="4108330" cy="329241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Main Memory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What is the Main Memory? </a:t>
            </a:r>
            <a:endParaRPr/>
          </a:p>
        </p:txBody>
      </p:sp>
      <p:sp>
        <p:nvSpPr>
          <p:cNvPr id="594" name="Google Shape;594;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Referred to as RAM (Random Access Memory)</a:t>
            </a:r>
            <a:endParaRPr/>
          </a:p>
          <a:p>
            <a:pPr indent="-228600" lvl="0" marL="228600" rtl="0" algn="l">
              <a:lnSpc>
                <a:spcPct val="90000"/>
              </a:lnSpc>
              <a:spcBef>
                <a:spcPts val="900"/>
              </a:spcBef>
              <a:spcAft>
                <a:spcPts val="0"/>
              </a:spcAft>
              <a:buClr>
                <a:srgbClr val="7F7F7F"/>
              </a:buClr>
              <a:buSzPts val="3000"/>
              <a:buChar char="•"/>
            </a:pPr>
            <a:r>
              <a:rPr lang="en-CA"/>
              <a:t>RAM is a collection of integrated circuits (chips).</a:t>
            </a:r>
            <a:endParaRPr/>
          </a:p>
          <a:p>
            <a:pPr indent="-228600" lvl="0" marL="228600" rtl="0" algn="l">
              <a:lnSpc>
                <a:spcPct val="90000"/>
              </a:lnSpc>
              <a:spcBef>
                <a:spcPts val="900"/>
              </a:spcBef>
              <a:spcAft>
                <a:spcPts val="0"/>
              </a:spcAft>
              <a:buClr>
                <a:srgbClr val="7F7F7F"/>
              </a:buClr>
              <a:buSzPts val="3000"/>
              <a:buChar char="•"/>
            </a:pPr>
            <a:r>
              <a:rPr lang="en-CA"/>
              <a:t>Considered the “Primary” storage for the CPU. </a:t>
            </a:r>
            <a:endParaRPr/>
          </a:p>
          <a:p>
            <a:pPr indent="-228600" lvl="0" marL="228600" rtl="0" algn="l">
              <a:lnSpc>
                <a:spcPct val="90000"/>
              </a:lnSpc>
              <a:spcBef>
                <a:spcPts val="900"/>
              </a:spcBef>
              <a:spcAft>
                <a:spcPts val="0"/>
              </a:spcAft>
              <a:buClr>
                <a:srgbClr val="7F7F7F"/>
              </a:buClr>
              <a:buSzPts val="3000"/>
              <a:buChar char="•"/>
            </a:pPr>
            <a:r>
              <a:rPr lang="en-CA">
                <a:solidFill>
                  <a:srgbClr val="0055A4"/>
                </a:solidFill>
              </a:rPr>
              <a:t>Temporary</a:t>
            </a:r>
            <a:r>
              <a:rPr lang="en-CA"/>
              <a:t> storage for </a:t>
            </a:r>
            <a:r>
              <a:rPr lang="en-CA">
                <a:solidFill>
                  <a:srgbClr val="0055A4"/>
                </a:solidFill>
              </a:rPr>
              <a:t>data</a:t>
            </a:r>
            <a:r>
              <a:rPr lang="en-CA"/>
              <a:t> and </a:t>
            </a:r>
            <a:r>
              <a:rPr lang="en-CA">
                <a:solidFill>
                  <a:srgbClr val="0055A4"/>
                </a:solidFill>
              </a:rPr>
              <a:t>programs</a:t>
            </a:r>
            <a:r>
              <a:rPr lang="en-CA"/>
              <a:t> that are being accessed by the CPU.</a:t>
            </a:r>
            <a:endParaRPr/>
          </a:p>
          <a:p>
            <a:pPr indent="-228600" lvl="0" marL="228600" rtl="0" algn="l">
              <a:lnSpc>
                <a:spcPct val="90000"/>
              </a:lnSpc>
              <a:spcBef>
                <a:spcPts val="900"/>
              </a:spcBef>
              <a:spcAft>
                <a:spcPts val="0"/>
              </a:spcAft>
              <a:buClr>
                <a:srgbClr val="7F7F7F"/>
              </a:buClr>
              <a:buSzPts val="3000"/>
              <a:buChar char="•"/>
            </a:pPr>
            <a:r>
              <a:rPr lang="en-CA">
                <a:solidFill>
                  <a:srgbClr val="0070C0"/>
                </a:solidFill>
              </a:rPr>
              <a:t>Volatile</a:t>
            </a:r>
            <a:r>
              <a:rPr lang="en-CA"/>
              <a:t> memory: contents are erased when the computer is switched off. (or when power is lost)</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Why use Main Memory?</a:t>
            </a:r>
            <a:endParaRPr/>
          </a:p>
        </p:txBody>
      </p:sp>
      <p:sp>
        <p:nvSpPr>
          <p:cNvPr id="600" name="Google Shape;600;p51"/>
          <p:cNvSpPr txBox="1"/>
          <p:nvPr>
            <p:ph idx="1" type="body"/>
          </p:nvPr>
        </p:nvSpPr>
        <p:spPr>
          <a:xfrm>
            <a:off x="838200" y="1825625"/>
            <a:ext cx="5943601" cy="180247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Did you ever thought why games take time to load?</a:t>
            </a:r>
            <a:endParaRPr/>
          </a:p>
        </p:txBody>
      </p:sp>
      <p:pic>
        <p:nvPicPr>
          <p:cNvPr descr="FIFA Mobile Players and Fans" id="601" name="Google Shape;601;p51"/>
          <p:cNvPicPr preferRelativeResize="0"/>
          <p:nvPr/>
        </p:nvPicPr>
        <p:blipFill rotWithShape="1">
          <a:blip r:embed="rId3">
            <a:alphaModFix/>
          </a:blip>
          <a:srcRect b="0" l="0" r="0" t="0"/>
          <a:stretch/>
        </p:blipFill>
        <p:spPr>
          <a:xfrm>
            <a:off x="6951407" y="2383093"/>
            <a:ext cx="4486582" cy="2512486"/>
          </a:xfrm>
          <a:prstGeom prst="rect">
            <a:avLst/>
          </a:prstGeom>
          <a:noFill/>
          <a:ln>
            <a:noFill/>
          </a:ln>
        </p:spPr>
      </p:pic>
      <p:sp>
        <p:nvSpPr>
          <p:cNvPr id="602" name="Google Shape;602;p51"/>
          <p:cNvSpPr txBox="1"/>
          <p:nvPr/>
        </p:nvSpPr>
        <p:spPr>
          <a:xfrm>
            <a:off x="899651" y="2917014"/>
            <a:ext cx="5882150"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This is the time it takes to copy all the files of the game from the storage device (long term memory) into the working memory of the main memory, which the CPU can access must faster and much easier.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Read/Write speed in RAM is 12 800 Mb/s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CA" sz="2400" u="none" cap="none" strike="noStrike">
                <a:solidFill>
                  <a:schemeClr val="dk1"/>
                </a:solidFill>
                <a:latin typeface="Arial"/>
                <a:ea typeface="Arial"/>
                <a:cs typeface="Arial"/>
                <a:sym typeface="Arial"/>
              </a:rPr>
              <a:t>Read/Write speed in SSD is 456Mb/s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Why use Main Memory?</a:t>
            </a:r>
            <a:endParaRPr/>
          </a:p>
        </p:txBody>
      </p:sp>
      <p:sp>
        <p:nvSpPr>
          <p:cNvPr id="608" name="Google Shape;608;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More RAM means more capacity to hold and process large programs and files.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CA"/>
              <a:t>Maximum installed is limited by the motherboard and the operating system.</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Main Memory History</a:t>
            </a:r>
            <a:endParaRPr/>
          </a:p>
        </p:txBody>
      </p:sp>
      <p:sp>
        <p:nvSpPr>
          <p:cNvPr id="614" name="Google Shape;614;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Early computers had RAM installed on the motherboard as individual chips. </a:t>
            </a:r>
            <a:endParaRPr/>
          </a:p>
          <a:p>
            <a:pPr indent="-228600" lvl="1" marL="685800" rtl="0" algn="l">
              <a:lnSpc>
                <a:spcPct val="90000"/>
              </a:lnSpc>
              <a:spcBef>
                <a:spcPts val="780"/>
              </a:spcBef>
              <a:spcAft>
                <a:spcPts val="0"/>
              </a:spcAft>
              <a:buClr>
                <a:srgbClr val="7F7F7F"/>
              </a:buClr>
              <a:buSzPts val="2600"/>
              <a:buChar char="•"/>
            </a:pPr>
            <a:r>
              <a:rPr lang="en-CA"/>
              <a:t>These were difficult to install and often became loose. </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CA"/>
              <a:t>Designers and engineers then created memory modules.</a:t>
            </a:r>
            <a:endParaRPr/>
          </a:p>
          <a:p>
            <a:pPr indent="-228600" lvl="1" marL="685800" rtl="0" algn="l">
              <a:lnSpc>
                <a:spcPct val="90000"/>
              </a:lnSpc>
              <a:spcBef>
                <a:spcPts val="780"/>
              </a:spcBef>
              <a:spcAft>
                <a:spcPts val="0"/>
              </a:spcAft>
              <a:buClr>
                <a:srgbClr val="7F7F7F"/>
              </a:buClr>
              <a:buSzPts val="2600"/>
              <a:buChar char="•"/>
            </a:pPr>
            <a:r>
              <a:rPr lang="en-CA"/>
              <a:t>Special circuit boards on which the memory chips are soldered on. </a:t>
            </a:r>
            <a:endParaRPr/>
          </a:p>
          <a:p>
            <a:pPr indent="-228600" lvl="1" marL="685800" rtl="0" algn="l">
              <a:lnSpc>
                <a:spcPct val="90000"/>
              </a:lnSpc>
              <a:spcBef>
                <a:spcPts val="780"/>
              </a:spcBef>
              <a:spcAft>
                <a:spcPts val="0"/>
              </a:spcAft>
              <a:buClr>
                <a:srgbClr val="7F7F7F"/>
              </a:buClr>
              <a:buSzPts val="2600"/>
              <a:buChar char="•"/>
            </a:pPr>
            <a:r>
              <a:rPr lang="en-CA"/>
              <a:t>Memory modules are attached to a motherboard using memory slots.</a:t>
            </a:r>
            <a:endParaRPr/>
          </a:p>
          <a:p>
            <a:pPr indent="-228600" lvl="1" marL="685800" rtl="0" algn="l">
              <a:lnSpc>
                <a:spcPct val="90000"/>
              </a:lnSpc>
              <a:spcBef>
                <a:spcPts val="780"/>
              </a:spcBef>
              <a:spcAft>
                <a:spcPts val="0"/>
              </a:spcAft>
              <a:buClr>
                <a:srgbClr val="7F7F7F"/>
              </a:buClr>
              <a:buSzPts val="2600"/>
              <a:buChar char="•"/>
            </a:pPr>
            <a:r>
              <a:rPr lang="en-CA"/>
              <a:t>New design allows to add or replace memory modules.</a:t>
            </a:r>
            <a:endParaRPr/>
          </a:p>
          <a:p>
            <a:pPr indent="0" lvl="1" marL="457200" rtl="0" algn="l">
              <a:lnSpc>
                <a:spcPct val="90000"/>
              </a:lnSpc>
              <a:spcBef>
                <a:spcPts val="780"/>
              </a:spcBef>
              <a:spcAft>
                <a:spcPts val="0"/>
              </a:spcAft>
              <a:buClr>
                <a:srgbClr val="7F7F7F"/>
              </a:buClr>
              <a:buSzPts val="26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4"/>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Main Memory Features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1) Data Rate</a:t>
            </a:r>
            <a:endParaRPr/>
          </a:p>
        </p:txBody>
      </p:sp>
      <p:sp>
        <p:nvSpPr>
          <p:cNvPr id="625" name="Google Shape;625;p55"/>
          <p:cNvSpPr txBox="1"/>
          <p:nvPr>
            <p:ph idx="1" type="body"/>
          </p:nvPr>
        </p:nvSpPr>
        <p:spPr>
          <a:xfrm>
            <a:off x="838199" y="1825625"/>
            <a:ext cx="5562601" cy="4351338"/>
          </a:xfrm>
          <a:prstGeom prst="rect">
            <a:avLst/>
          </a:prstGeom>
          <a:noFill/>
          <a:ln>
            <a:noFill/>
          </a:ln>
        </p:spPr>
        <p:txBody>
          <a:bodyPr anchorCtr="0" anchor="t" bIns="45700" lIns="91425" spcFirstLastPara="1" rIns="91425" wrap="square" tIns="45700">
            <a:noAutofit/>
          </a:bodyPr>
          <a:lstStyle/>
          <a:p>
            <a:pPr indent="-419100" lvl="0" marL="457200" rtl="0" algn="l">
              <a:lnSpc>
                <a:spcPct val="90000"/>
              </a:lnSpc>
              <a:spcBef>
                <a:spcPts val="900"/>
              </a:spcBef>
              <a:spcAft>
                <a:spcPts val="0"/>
              </a:spcAft>
              <a:buClr>
                <a:srgbClr val="7F7F7F"/>
              </a:buClr>
              <a:buSzPts val="3000"/>
              <a:buChar char="•"/>
            </a:pPr>
            <a:r>
              <a:rPr lang="en-CA" sz="2800">
                <a:solidFill>
                  <a:srgbClr val="0055A4"/>
                </a:solidFill>
              </a:rPr>
              <a:t>SDRAM</a:t>
            </a:r>
            <a:endParaRPr sz="2800"/>
          </a:p>
          <a:p>
            <a:pPr indent="-419100" lvl="0" marL="457200" rtl="0" algn="l">
              <a:lnSpc>
                <a:spcPct val="90000"/>
              </a:lnSpc>
              <a:spcBef>
                <a:spcPts val="900"/>
              </a:spcBef>
              <a:spcAft>
                <a:spcPts val="0"/>
              </a:spcAft>
              <a:buClr>
                <a:srgbClr val="7F7F7F"/>
              </a:buClr>
              <a:buSzPts val="3000"/>
              <a:buChar char="•"/>
            </a:pPr>
            <a:r>
              <a:rPr lang="en-CA" sz="2800"/>
              <a:t>Original Main memory was the Synchronous Dynamic Random Access Memory (SDRAM)</a:t>
            </a:r>
            <a:endParaRPr/>
          </a:p>
          <a:p>
            <a:pPr indent="-393700" lvl="1" marL="914400" rtl="0" algn="l">
              <a:lnSpc>
                <a:spcPct val="90000"/>
              </a:lnSpc>
              <a:spcBef>
                <a:spcPts val="780"/>
              </a:spcBef>
              <a:spcAft>
                <a:spcPts val="0"/>
              </a:spcAft>
              <a:buSzPts val="2600"/>
              <a:buChar char="•"/>
            </a:pPr>
            <a:r>
              <a:rPr lang="en-CA" sz="2800"/>
              <a:t>It’s </a:t>
            </a:r>
            <a:r>
              <a:rPr lang="en-CA" sz="2800">
                <a:solidFill>
                  <a:srgbClr val="0070C0"/>
                </a:solidFill>
              </a:rPr>
              <a:t>synchronized</a:t>
            </a:r>
            <a:r>
              <a:rPr lang="en-CA" sz="2800"/>
              <a:t> with the motherboard speed.</a:t>
            </a:r>
            <a:endParaRPr/>
          </a:p>
          <a:p>
            <a:pPr indent="-393700" lvl="1" marL="914400" rtl="0" algn="l">
              <a:lnSpc>
                <a:spcPct val="90000"/>
              </a:lnSpc>
              <a:spcBef>
                <a:spcPts val="780"/>
              </a:spcBef>
              <a:spcAft>
                <a:spcPts val="0"/>
              </a:spcAft>
              <a:buSzPts val="2600"/>
              <a:buChar char="•"/>
            </a:pPr>
            <a:r>
              <a:rPr lang="en-CA" sz="2800"/>
              <a:t>For a 32-bit bus, if the motherboard goes up to 100Mhz, the SRAM speed was also 100MHz x 32bits of data send/received. </a:t>
            </a:r>
            <a:endParaRPr/>
          </a:p>
        </p:txBody>
      </p:sp>
      <p:sp>
        <p:nvSpPr>
          <p:cNvPr id="626" name="Google Shape;626;p55"/>
          <p:cNvSpPr txBox="1"/>
          <p:nvPr/>
        </p:nvSpPr>
        <p:spPr>
          <a:xfrm>
            <a:off x="5697414" y="1825625"/>
            <a:ext cx="5884986" cy="4401205"/>
          </a:xfrm>
          <a:prstGeom prst="rect">
            <a:avLst/>
          </a:prstGeom>
          <a:noFill/>
          <a:ln>
            <a:noFill/>
          </a:ln>
        </p:spPr>
        <p:txBody>
          <a:bodyPr anchorCtr="0" anchor="t" bIns="45700" lIns="91425" spcFirstLastPara="1" rIns="91425" wrap="square" tIns="45700">
            <a:spAutoFit/>
          </a:bodyPr>
          <a:lstStyle/>
          <a:p>
            <a:pPr indent="-457200" lvl="1" marL="977900" marR="0" rtl="0" algn="l">
              <a:lnSpc>
                <a:spcPct val="100000"/>
              </a:lnSpc>
              <a:spcBef>
                <a:spcPts val="0"/>
              </a:spcBef>
              <a:spcAft>
                <a:spcPts val="0"/>
              </a:spcAft>
              <a:buClr>
                <a:srgbClr val="0055A4"/>
              </a:buClr>
              <a:buSzPts val="2800"/>
              <a:buFont typeface="Arial"/>
              <a:buChar char="•"/>
            </a:pPr>
            <a:r>
              <a:rPr b="0" i="0" lang="en-CA" sz="2800" u="none" cap="none" strike="noStrike">
                <a:solidFill>
                  <a:srgbClr val="0055A4"/>
                </a:solidFill>
                <a:latin typeface="Quattrocento Sans"/>
                <a:ea typeface="Quattrocento Sans"/>
                <a:cs typeface="Quattrocento Sans"/>
                <a:sym typeface="Quattrocento Sans"/>
              </a:rPr>
              <a:t>DDRAM</a:t>
            </a:r>
            <a:endParaRPr b="0" i="0" sz="1400" u="none" cap="none" strike="noStrike">
              <a:solidFill>
                <a:srgbClr val="000000"/>
              </a:solidFill>
              <a:latin typeface="Arial"/>
              <a:ea typeface="Arial"/>
              <a:cs typeface="Arial"/>
              <a:sym typeface="Arial"/>
            </a:endParaRPr>
          </a:p>
          <a:p>
            <a:pPr indent="-457200" lvl="1" marL="977900" marR="0" rtl="0" algn="l">
              <a:lnSpc>
                <a:spcPct val="100000"/>
              </a:lnSpc>
              <a:spcBef>
                <a:spcPts val="0"/>
              </a:spcBef>
              <a:spcAft>
                <a:spcPts val="0"/>
              </a:spcAft>
              <a:buClr>
                <a:schemeClr val="dk1"/>
              </a:buClr>
              <a:buSzPts val="2800"/>
              <a:buFont typeface="Arial"/>
              <a:buChar char="•"/>
            </a:pPr>
            <a:r>
              <a:rPr b="0" i="0" lang="en-CA" sz="2800" u="none" cap="none" strike="noStrike">
                <a:solidFill>
                  <a:schemeClr val="dk1"/>
                </a:solidFill>
                <a:latin typeface="Quattrocento Sans"/>
                <a:ea typeface="Quattrocento Sans"/>
                <a:cs typeface="Quattrocento Sans"/>
                <a:sym typeface="Quattrocento Sans"/>
              </a:rPr>
              <a:t>The first leap in RAM technology was the Double Data RAM DDRRAM. </a:t>
            </a:r>
            <a:endParaRPr b="0" i="0" sz="1400" u="none" cap="none" strike="noStrike">
              <a:solidFill>
                <a:srgbClr val="000000"/>
              </a:solidFill>
              <a:latin typeface="Arial"/>
              <a:ea typeface="Arial"/>
              <a:cs typeface="Arial"/>
              <a:sym typeface="Arial"/>
            </a:endParaRPr>
          </a:p>
          <a:p>
            <a:pPr indent="-457200" lvl="1" marL="977900" marR="0" rtl="0" algn="l">
              <a:lnSpc>
                <a:spcPct val="100000"/>
              </a:lnSpc>
              <a:spcBef>
                <a:spcPts val="0"/>
              </a:spcBef>
              <a:spcAft>
                <a:spcPts val="0"/>
              </a:spcAft>
              <a:buClr>
                <a:schemeClr val="dk1"/>
              </a:buClr>
              <a:buSzPts val="2800"/>
              <a:buFont typeface="Arial"/>
              <a:buChar char="•"/>
            </a:pPr>
            <a:r>
              <a:rPr b="0" i="0" lang="en-CA" sz="2800" u="none" cap="none" strike="noStrike">
                <a:solidFill>
                  <a:schemeClr val="dk1"/>
                </a:solidFill>
                <a:latin typeface="Quattrocento Sans"/>
                <a:ea typeface="Quattrocento Sans"/>
                <a:cs typeface="Quattrocento Sans"/>
                <a:sym typeface="Quattrocento Sans"/>
              </a:rPr>
              <a:t>For every tick of the motherboard clock, DDRAM sends/receives 2 bits of information instead of just 1.</a:t>
            </a:r>
            <a:endParaRPr b="0" i="0" sz="1400" u="none" cap="none" strike="noStrike">
              <a:solidFill>
                <a:srgbClr val="000000"/>
              </a:solidFill>
              <a:latin typeface="Arial"/>
              <a:ea typeface="Arial"/>
              <a:cs typeface="Arial"/>
              <a:sym typeface="Arial"/>
            </a:endParaRPr>
          </a:p>
          <a:p>
            <a:pPr indent="-457200" lvl="1" marL="977900" marR="0" rtl="0" algn="l">
              <a:lnSpc>
                <a:spcPct val="100000"/>
              </a:lnSpc>
              <a:spcBef>
                <a:spcPts val="0"/>
              </a:spcBef>
              <a:spcAft>
                <a:spcPts val="0"/>
              </a:spcAft>
              <a:buClr>
                <a:schemeClr val="dk1"/>
              </a:buClr>
              <a:buSzPts val="2800"/>
              <a:buFont typeface="Arial"/>
              <a:buChar char="•"/>
            </a:pPr>
            <a:r>
              <a:rPr b="0" i="0" lang="en-CA" sz="2800" u="none" cap="none" strike="noStrike">
                <a:solidFill>
                  <a:schemeClr val="dk1"/>
                </a:solidFill>
                <a:latin typeface="Quattrocento Sans"/>
                <a:ea typeface="Quattrocento Sans"/>
                <a:cs typeface="Quattrocento Sans"/>
                <a:sym typeface="Quattrocento Sans"/>
              </a:rPr>
              <a:t>This “doubles” the speed: 2 x 100MHz x 32 bits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1) Data Rate</a:t>
            </a:r>
            <a:endParaRPr/>
          </a:p>
        </p:txBody>
      </p:sp>
      <p:sp>
        <p:nvSpPr>
          <p:cNvPr id="632" name="Google Shape;632;p56"/>
          <p:cNvSpPr txBox="1"/>
          <p:nvPr>
            <p:ph idx="1" type="body"/>
          </p:nvPr>
        </p:nvSpPr>
        <p:spPr>
          <a:xfrm>
            <a:off x="609600" y="1711960"/>
            <a:ext cx="7818120" cy="2104014"/>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sz="2400"/>
              <a:t>How can we make the difference between SDRAM, DDR, DRR2, etc.</a:t>
            </a:r>
            <a:endParaRPr/>
          </a:p>
          <a:p>
            <a:pPr indent="-419100" lvl="0" marL="457200" rtl="0" algn="l">
              <a:lnSpc>
                <a:spcPct val="90000"/>
              </a:lnSpc>
              <a:spcBef>
                <a:spcPts val="900"/>
              </a:spcBef>
              <a:spcAft>
                <a:spcPts val="0"/>
              </a:spcAft>
              <a:buClr>
                <a:srgbClr val="7F7F7F"/>
              </a:buClr>
              <a:buSzPts val="3000"/>
              <a:buChar char="•"/>
            </a:pPr>
            <a:r>
              <a:rPr lang="en-CA" sz="2400"/>
              <a:t>The number of pins and the position of the notch</a:t>
            </a:r>
            <a:endParaRPr sz="2400"/>
          </a:p>
        </p:txBody>
      </p:sp>
      <p:pic>
        <p:nvPicPr>
          <p:cNvPr descr="DDR SDRAM - Wikipedia" id="633" name="Google Shape;633;p56"/>
          <p:cNvPicPr preferRelativeResize="0"/>
          <p:nvPr/>
        </p:nvPicPr>
        <p:blipFill rotWithShape="1">
          <a:blip r:embed="rId3">
            <a:alphaModFix/>
          </a:blip>
          <a:srcRect b="0" l="0" r="0" t="0"/>
          <a:stretch/>
        </p:blipFill>
        <p:spPr>
          <a:xfrm>
            <a:off x="8946726" y="1711960"/>
            <a:ext cx="2970954" cy="4470400"/>
          </a:xfrm>
          <a:prstGeom prst="rect">
            <a:avLst/>
          </a:prstGeom>
          <a:noFill/>
          <a:ln>
            <a:noFill/>
          </a:ln>
        </p:spPr>
      </p:pic>
      <p:cxnSp>
        <p:nvCxnSpPr>
          <p:cNvPr id="634" name="Google Shape;634;p56"/>
          <p:cNvCxnSpPr/>
          <p:nvPr/>
        </p:nvCxnSpPr>
        <p:spPr>
          <a:xfrm>
            <a:off x="10559845" y="1976284"/>
            <a:ext cx="0" cy="404270"/>
          </a:xfrm>
          <a:prstGeom prst="straightConnector1">
            <a:avLst/>
          </a:prstGeom>
          <a:noFill/>
          <a:ln cap="flat" cmpd="sng" w="28575">
            <a:solidFill>
              <a:srgbClr val="FF0000"/>
            </a:solidFill>
            <a:prstDash val="solid"/>
            <a:round/>
            <a:headEnd len="sm" w="sm" type="none"/>
            <a:tailEnd len="med" w="med" type="triangle"/>
          </a:ln>
        </p:spPr>
      </p:cxnSp>
      <p:cxnSp>
        <p:nvCxnSpPr>
          <p:cNvPr id="635" name="Google Shape;635;p56"/>
          <p:cNvCxnSpPr/>
          <p:nvPr/>
        </p:nvCxnSpPr>
        <p:spPr>
          <a:xfrm>
            <a:off x="10515603" y="2964426"/>
            <a:ext cx="0" cy="404270"/>
          </a:xfrm>
          <a:prstGeom prst="straightConnector1">
            <a:avLst/>
          </a:prstGeom>
          <a:noFill/>
          <a:ln cap="flat" cmpd="sng" w="28575">
            <a:solidFill>
              <a:srgbClr val="FF0000"/>
            </a:solidFill>
            <a:prstDash val="solid"/>
            <a:round/>
            <a:headEnd len="sm" w="sm" type="none"/>
            <a:tailEnd len="med" w="med" type="triangle"/>
          </a:ln>
        </p:spPr>
      </p:cxnSp>
      <p:cxnSp>
        <p:nvCxnSpPr>
          <p:cNvPr id="636" name="Google Shape;636;p56"/>
          <p:cNvCxnSpPr/>
          <p:nvPr/>
        </p:nvCxnSpPr>
        <p:spPr>
          <a:xfrm>
            <a:off x="10176388" y="4011562"/>
            <a:ext cx="0" cy="404270"/>
          </a:xfrm>
          <a:prstGeom prst="straightConnector1">
            <a:avLst/>
          </a:prstGeom>
          <a:noFill/>
          <a:ln cap="flat" cmpd="sng" w="28575">
            <a:solidFill>
              <a:srgbClr val="FF0000"/>
            </a:solidFill>
            <a:prstDash val="solid"/>
            <a:round/>
            <a:headEnd len="sm" w="sm" type="none"/>
            <a:tailEnd len="med" w="med" type="triangle"/>
          </a:ln>
        </p:spPr>
      </p:cxnSp>
      <p:cxnSp>
        <p:nvCxnSpPr>
          <p:cNvPr id="637" name="Google Shape;637;p56"/>
          <p:cNvCxnSpPr/>
          <p:nvPr/>
        </p:nvCxnSpPr>
        <p:spPr>
          <a:xfrm>
            <a:off x="10545099" y="4999702"/>
            <a:ext cx="0" cy="404270"/>
          </a:xfrm>
          <a:prstGeom prst="straightConnector1">
            <a:avLst/>
          </a:prstGeom>
          <a:noFill/>
          <a:ln cap="flat" cmpd="sng" w="28575">
            <a:solidFill>
              <a:srgbClr val="FF0000"/>
            </a:solidFill>
            <a:prstDash val="solid"/>
            <a:round/>
            <a:headEnd len="sm" w="sm" type="none"/>
            <a:tailEnd len="med" w="med" type="triangle"/>
          </a:ln>
        </p:spPr>
      </p:cxnSp>
      <p:graphicFrame>
        <p:nvGraphicFramePr>
          <p:cNvPr id="638" name="Google Shape;638;p56"/>
          <p:cNvGraphicFramePr/>
          <p:nvPr/>
        </p:nvGraphicFramePr>
        <p:xfrm>
          <a:off x="949960" y="3212640"/>
          <a:ext cx="3000000" cy="3000000"/>
        </p:xfrm>
        <a:graphic>
          <a:graphicData uri="http://schemas.openxmlformats.org/drawingml/2006/table">
            <a:tbl>
              <a:tblPr bandRow="1" firstRow="1">
                <a:noFill/>
                <a:tableStyleId>{C86C441A-2A12-486F-B8F1-BCBAF1AC9DB1}</a:tableStyleId>
              </a:tblPr>
              <a:tblGrid>
                <a:gridCol w="1215950"/>
                <a:gridCol w="1215950"/>
                <a:gridCol w="1215950"/>
                <a:gridCol w="1153775"/>
                <a:gridCol w="1411475"/>
                <a:gridCol w="1082575"/>
              </a:tblGrid>
              <a:tr h="1778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Number pins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Number notch</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Clock Speed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 Speed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 Speed (in bits)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SD-RAM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168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lang="en-CA" sz="1400" u="none" cap="none" strike="noStrike"/>
                        <a:t>2</a:t>
                      </a:r>
                      <a:endParaRPr b="1"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SD-100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PC-800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DDRAM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184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DDR-200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PC-1600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240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DDR2-400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PC2-3200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240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DDR3-800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PC3-6400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288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DDR4-1600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PC4-12800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DDR5</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288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lang="en-CA" sz="1400" u="none" cap="none" strike="noStrike"/>
                        <a:t>100 MHz</a:t>
                      </a:r>
                      <a:endParaRPr b="0"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DDR5-3200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CA" sz="1400" u="none" cap="none" strike="noStrike"/>
                        <a:t>PC5-25600</a:t>
                      </a:r>
                      <a:endParaRPr sz="1400" u="none" cap="none" strike="noStrike"/>
                    </a:p>
                  </a:txBody>
                  <a:tcPr marT="45725" marB="45725" marR="91450" marL="9145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2) RAM Capacity </a:t>
            </a:r>
            <a:endParaRPr/>
          </a:p>
        </p:txBody>
      </p:sp>
      <p:sp>
        <p:nvSpPr>
          <p:cNvPr id="644" name="Google Shape;644;p57"/>
          <p:cNvSpPr txBox="1"/>
          <p:nvPr>
            <p:ph idx="1" type="body"/>
          </p:nvPr>
        </p:nvSpPr>
        <p:spPr>
          <a:xfrm>
            <a:off x="838200" y="1825625"/>
            <a:ext cx="728472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Every Stick of a RAM has a capacity (in GB) which is the amount of information that the RAM can store. </a:t>
            </a:r>
            <a:endParaRPr/>
          </a:p>
          <a:p>
            <a:pPr indent="-419100" lvl="0" marL="457200" rtl="0" algn="l">
              <a:lnSpc>
                <a:spcPct val="90000"/>
              </a:lnSpc>
              <a:spcBef>
                <a:spcPts val="900"/>
              </a:spcBef>
              <a:spcAft>
                <a:spcPts val="0"/>
              </a:spcAft>
              <a:buClr>
                <a:srgbClr val="7F7F7F"/>
              </a:buClr>
              <a:buSzPts val="3000"/>
              <a:buChar char="•"/>
            </a:pPr>
            <a:r>
              <a:rPr lang="en-CA"/>
              <a:t>The capacity depends on the size of the chips (1Gb, 4Gb, 16Gb, etc)</a:t>
            </a:r>
            <a:endParaRPr/>
          </a:p>
          <a:p>
            <a:pPr indent="-419100" lvl="0" marL="457200" rtl="0" algn="l">
              <a:lnSpc>
                <a:spcPct val="90000"/>
              </a:lnSpc>
              <a:spcBef>
                <a:spcPts val="900"/>
              </a:spcBef>
              <a:spcAft>
                <a:spcPts val="0"/>
              </a:spcAft>
              <a:buClr>
                <a:srgbClr val="7F7F7F"/>
              </a:buClr>
              <a:buSzPts val="3000"/>
              <a:buChar char="•"/>
            </a:pPr>
            <a:r>
              <a:rPr lang="en-CA"/>
              <a:t>The capacity depends if the RAM is SIMM or DIMM</a:t>
            </a:r>
            <a:endParaRPr/>
          </a:p>
        </p:txBody>
      </p:sp>
      <p:pic>
        <p:nvPicPr>
          <p:cNvPr descr="Free memory chip ram vector" id="645" name="Google Shape;645;p57"/>
          <p:cNvPicPr preferRelativeResize="0"/>
          <p:nvPr/>
        </p:nvPicPr>
        <p:blipFill rotWithShape="1">
          <a:blip r:embed="rId3">
            <a:alphaModFix/>
          </a:blip>
          <a:srcRect b="18774" l="0" r="65000" t="0"/>
          <a:stretch/>
        </p:blipFill>
        <p:spPr>
          <a:xfrm>
            <a:off x="8854440" y="757237"/>
            <a:ext cx="2926080" cy="3395254"/>
          </a:xfrm>
          <a:prstGeom prst="rect">
            <a:avLst/>
          </a:prstGeom>
          <a:noFill/>
          <a:ln>
            <a:noFill/>
          </a:ln>
        </p:spPr>
      </p:pic>
      <p:cxnSp>
        <p:nvCxnSpPr>
          <p:cNvPr id="646" name="Google Shape;646;p57"/>
          <p:cNvCxnSpPr/>
          <p:nvPr/>
        </p:nvCxnSpPr>
        <p:spPr>
          <a:xfrm flipH="1" rot="10800000">
            <a:off x="8229600" y="3002280"/>
            <a:ext cx="1341120" cy="563880"/>
          </a:xfrm>
          <a:prstGeom prst="straightConnector1">
            <a:avLst/>
          </a:prstGeom>
          <a:noFill/>
          <a:ln cap="flat" cmpd="sng" w="9525">
            <a:solidFill>
              <a:srgbClr val="FF0000"/>
            </a:solidFill>
            <a:prstDash val="solid"/>
            <a:round/>
            <a:headEnd len="sm" w="sm"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Serial Presence Detect (SPD)</a:t>
            </a:r>
            <a:endParaRPr/>
          </a:p>
        </p:txBody>
      </p:sp>
      <p:sp>
        <p:nvSpPr>
          <p:cNvPr id="653" name="Google Shape;653;p58"/>
          <p:cNvSpPr txBox="1"/>
          <p:nvPr>
            <p:ph idx="1" type="body"/>
          </p:nvPr>
        </p:nvSpPr>
        <p:spPr>
          <a:xfrm>
            <a:off x="838201" y="1825625"/>
            <a:ext cx="5835316"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How can we get all the specs of currently installed RAM sticks?</a:t>
            </a:r>
            <a:endParaRPr/>
          </a:p>
          <a:p>
            <a:pPr indent="-419100" lvl="0" marL="457200" rtl="0" algn="l">
              <a:lnSpc>
                <a:spcPct val="90000"/>
              </a:lnSpc>
              <a:spcBef>
                <a:spcPts val="900"/>
              </a:spcBef>
              <a:spcAft>
                <a:spcPts val="0"/>
              </a:spcAft>
              <a:buClr>
                <a:srgbClr val="7F7F7F"/>
              </a:buClr>
              <a:buSzPts val="3000"/>
              <a:buChar char="•"/>
            </a:pPr>
            <a:r>
              <a:rPr lang="en-CA"/>
              <a:t>SPD chip which allows the system to query the RAM stick.</a:t>
            </a:r>
            <a:endParaRPr/>
          </a:p>
          <a:p>
            <a:pPr indent="-419100" lvl="0" marL="457200" rtl="0" algn="l">
              <a:lnSpc>
                <a:spcPct val="90000"/>
              </a:lnSpc>
              <a:spcBef>
                <a:spcPts val="900"/>
              </a:spcBef>
              <a:spcAft>
                <a:spcPts val="0"/>
              </a:spcAft>
              <a:buClr>
                <a:srgbClr val="7F7F7F"/>
              </a:buClr>
              <a:buSzPts val="3000"/>
              <a:buChar char="•"/>
            </a:pPr>
            <a:r>
              <a:rPr lang="en-CA"/>
              <a:t>CPU-Z program is able to speak to the SPD to get all the specs of the RAM without you having to open your PC.</a:t>
            </a:r>
            <a:endParaRPr/>
          </a:p>
        </p:txBody>
      </p:sp>
      <p:pic>
        <p:nvPicPr>
          <p:cNvPr descr="Types of RAM - An Overview Guide to PC Memory" id="654" name="Google Shape;654;p58"/>
          <p:cNvPicPr preferRelativeResize="0"/>
          <p:nvPr/>
        </p:nvPicPr>
        <p:blipFill rotWithShape="1">
          <a:blip r:embed="rId3">
            <a:alphaModFix/>
          </a:blip>
          <a:srcRect b="0" l="0" r="27660" t="0"/>
          <a:stretch/>
        </p:blipFill>
        <p:spPr>
          <a:xfrm>
            <a:off x="7106653" y="1825625"/>
            <a:ext cx="4443664" cy="4482576"/>
          </a:xfrm>
          <a:prstGeom prst="rect">
            <a:avLst/>
          </a:prstGeom>
          <a:noFill/>
          <a:ln>
            <a:noFill/>
          </a:ln>
        </p:spPr>
      </p:pic>
      <p:sp>
        <p:nvSpPr>
          <p:cNvPr id="655" name="Google Shape;655;p58"/>
          <p:cNvSpPr/>
          <p:nvPr/>
        </p:nvSpPr>
        <p:spPr>
          <a:xfrm>
            <a:off x="9842894" y="2662518"/>
            <a:ext cx="578578" cy="766482"/>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56" name="Google Shape;656;p58"/>
          <p:cNvSpPr/>
          <p:nvPr/>
        </p:nvSpPr>
        <p:spPr>
          <a:xfrm>
            <a:off x="8852294" y="4926107"/>
            <a:ext cx="578578" cy="766482"/>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2) RAM Capacity: SIMM vs DIMM</a:t>
            </a:r>
            <a:endParaRPr/>
          </a:p>
        </p:txBody>
      </p:sp>
      <p:sp>
        <p:nvSpPr>
          <p:cNvPr id="662" name="Google Shape;662;p59"/>
          <p:cNvSpPr txBox="1"/>
          <p:nvPr>
            <p:ph idx="1" type="body"/>
          </p:nvPr>
        </p:nvSpPr>
        <p:spPr>
          <a:xfrm>
            <a:off x="838200" y="1825625"/>
            <a:ext cx="52578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SIMM (Single Sided)</a:t>
            </a:r>
            <a:endParaRPr/>
          </a:p>
        </p:txBody>
      </p:sp>
      <p:pic>
        <p:nvPicPr>
          <p:cNvPr id="663" name="Google Shape;663;p59"/>
          <p:cNvPicPr preferRelativeResize="0"/>
          <p:nvPr/>
        </p:nvPicPr>
        <p:blipFill rotWithShape="1">
          <a:blip r:embed="rId3">
            <a:alphaModFix/>
          </a:blip>
          <a:srcRect b="0" l="0" r="0" t="38219"/>
          <a:stretch/>
        </p:blipFill>
        <p:spPr>
          <a:xfrm>
            <a:off x="838200" y="4876800"/>
            <a:ext cx="4807375" cy="1415257"/>
          </a:xfrm>
          <a:prstGeom prst="rect">
            <a:avLst/>
          </a:prstGeom>
          <a:noFill/>
          <a:ln>
            <a:noFill/>
          </a:ln>
        </p:spPr>
      </p:pic>
      <p:sp>
        <p:nvSpPr>
          <p:cNvPr id="664" name="Google Shape;664;p59"/>
          <p:cNvSpPr txBox="1"/>
          <p:nvPr/>
        </p:nvSpPr>
        <p:spPr>
          <a:xfrm>
            <a:off x="6096000" y="1825625"/>
            <a:ext cx="5372100" cy="6093976"/>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000"/>
              <a:buFont typeface="Arial"/>
              <a:buChar char="•"/>
            </a:pPr>
            <a:r>
              <a:rPr b="0" i="0" lang="en-CA" sz="3000" u="none" cap="none" strike="noStrike">
                <a:solidFill>
                  <a:schemeClr val="dk1"/>
                </a:solidFill>
                <a:latin typeface="Quattrocento Sans"/>
                <a:ea typeface="Quattrocento Sans"/>
                <a:cs typeface="Quattrocento Sans"/>
                <a:sym typeface="Quattrocento Sans"/>
              </a:rPr>
              <a:t>DIMM (Double Sided RAM)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3000"/>
              <a:buFont typeface="Arial"/>
              <a:buChar char="•"/>
            </a:pPr>
            <a:r>
              <a:rPr b="0" i="0" lang="en-CA" sz="3000" u="none" cap="none" strike="noStrike">
                <a:solidFill>
                  <a:schemeClr val="dk1"/>
                </a:solidFill>
                <a:latin typeface="Quattrocento Sans"/>
                <a:ea typeface="Quattrocento Sans"/>
                <a:cs typeface="Quattrocento Sans"/>
                <a:sym typeface="Quattrocento Sans"/>
              </a:rPr>
              <a:t>This allows the memory to be doubled on each side of the RAM stick 2Gb, 8Gb, …</a:t>
            </a:r>
            <a:endParaRPr b="0" i="0" sz="1400" u="none" cap="none" strike="noStrike">
              <a:solidFill>
                <a:srgbClr val="000000"/>
              </a:solidFill>
              <a:latin typeface="Arial"/>
              <a:ea typeface="Arial"/>
              <a:cs typeface="Arial"/>
              <a:sym typeface="Arial"/>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a:p>
            <a:pPr indent="-266700" lvl="0" marL="457200" marR="0" rtl="0" algn="l">
              <a:lnSpc>
                <a:spcPct val="100000"/>
              </a:lnSpc>
              <a:spcBef>
                <a:spcPts val="0"/>
              </a:spcBef>
              <a:spcAft>
                <a:spcPts val="0"/>
              </a:spcAft>
              <a:buClr>
                <a:schemeClr val="dk1"/>
              </a:buClr>
              <a:buSzPts val="3000"/>
              <a:buFont typeface="Arial"/>
              <a:buNone/>
            </a:pPr>
            <a:r>
              <a:t/>
            </a:r>
            <a:endParaRPr b="0" i="0" sz="3000" u="none" cap="none" strike="noStrike">
              <a:solidFill>
                <a:schemeClr val="dk1"/>
              </a:solidFill>
              <a:latin typeface="Quattrocento Sans"/>
              <a:ea typeface="Quattrocento Sans"/>
              <a:cs typeface="Quattrocento Sans"/>
              <a:sym typeface="Quattrocento Sans"/>
            </a:endParaRPr>
          </a:p>
        </p:txBody>
      </p:sp>
      <p:pic>
        <p:nvPicPr>
          <p:cNvPr id="665" name="Google Shape;665;p59"/>
          <p:cNvPicPr preferRelativeResize="0"/>
          <p:nvPr/>
        </p:nvPicPr>
        <p:blipFill rotWithShape="1">
          <a:blip r:embed="rId4">
            <a:alphaModFix/>
          </a:blip>
          <a:srcRect b="1871" l="0" r="2376" t="0"/>
          <a:stretch/>
        </p:blipFill>
        <p:spPr>
          <a:xfrm>
            <a:off x="6660723" y="3924473"/>
            <a:ext cx="4807375" cy="1491828"/>
          </a:xfrm>
          <a:prstGeom prst="trapezoid">
            <a:avLst>
              <a:gd fmla="val 0" name="adj"/>
            </a:avLst>
          </a:prstGeom>
          <a:noFill/>
          <a:ln>
            <a:noFill/>
          </a:ln>
        </p:spPr>
      </p:pic>
      <p:pic>
        <p:nvPicPr>
          <p:cNvPr id="666" name="Google Shape;666;p59"/>
          <p:cNvPicPr preferRelativeResize="0"/>
          <p:nvPr/>
        </p:nvPicPr>
        <p:blipFill rotWithShape="1">
          <a:blip r:embed="rId5">
            <a:alphaModFix/>
          </a:blip>
          <a:srcRect b="44484" l="0" r="0" t="0"/>
          <a:stretch/>
        </p:blipFill>
        <p:spPr>
          <a:xfrm>
            <a:off x="6660723" y="5284221"/>
            <a:ext cx="4807375" cy="1271746"/>
          </a:xfrm>
          <a:prstGeom prst="parallelogram">
            <a:avLst>
              <a:gd fmla="val 0" name="adj"/>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3) RAM Channel</a:t>
            </a:r>
            <a:endParaRPr/>
          </a:p>
        </p:txBody>
      </p:sp>
      <p:sp>
        <p:nvSpPr>
          <p:cNvPr id="672" name="Google Shape;672;p60"/>
          <p:cNvSpPr txBox="1"/>
          <p:nvPr>
            <p:ph idx="1" type="body"/>
          </p:nvPr>
        </p:nvSpPr>
        <p:spPr>
          <a:xfrm>
            <a:off x="392309" y="1501534"/>
            <a:ext cx="10961491" cy="482892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Motherboards have limited RAM slots: usually 2 RAM slots, or 4 RAM slots </a:t>
            </a:r>
            <a:endParaRPr/>
          </a:p>
          <a:p>
            <a:pPr indent="-419100" lvl="0" marL="457200" rtl="0" algn="l">
              <a:lnSpc>
                <a:spcPct val="90000"/>
              </a:lnSpc>
              <a:spcBef>
                <a:spcPts val="900"/>
              </a:spcBef>
              <a:spcAft>
                <a:spcPts val="0"/>
              </a:spcAft>
              <a:buClr>
                <a:srgbClr val="7F7F7F"/>
              </a:buClr>
              <a:buSzPts val="3000"/>
              <a:buChar char="•"/>
            </a:pPr>
            <a:r>
              <a:rPr lang="en-CA"/>
              <a:t>RAM is almost always sold in pairs of RAM Sticks</a:t>
            </a:r>
            <a:endParaRPr/>
          </a:p>
          <a:p>
            <a:pPr indent="-419100" lvl="0" marL="457200" rtl="0" algn="l">
              <a:lnSpc>
                <a:spcPct val="90000"/>
              </a:lnSpc>
              <a:spcBef>
                <a:spcPts val="900"/>
              </a:spcBef>
              <a:spcAft>
                <a:spcPts val="0"/>
              </a:spcAft>
              <a:buClr>
                <a:srgbClr val="7F7F7F"/>
              </a:buClr>
              <a:buSzPts val="3000"/>
              <a:buChar char="•"/>
            </a:pPr>
            <a:r>
              <a:rPr lang="en-CA"/>
              <a:t>The Motherboards support channels (1 channel, 2 channels)</a:t>
            </a:r>
            <a:endParaRPr/>
          </a:p>
          <a:p>
            <a:pPr indent="-419100" lvl="0" marL="457200" rtl="0" algn="l">
              <a:lnSpc>
                <a:spcPct val="90000"/>
              </a:lnSpc>
              <a:spcBef>
                <a:spcPts val="900"/>
              </a:spcBef>
              <a:spcAft>
                <a:spcPts val="0"/>
              </a:spcAft>
              <a:buClr>
                <a:srgbClr val="7F7F7F"/>
              </a:buClr>
              <a:buSzPts val="3000"/>
              <a:buChar char="•"/>
            </a:pPr>
            <a:r>
              <a:rPr lang="en-CA"/>
              <a:t>RAM should be identical in the </a:t>
            </a:r>
            <a:endParaRPr/>
          </a:p>
          <a:p>
            <a:pPr indent="0" lvl="0" marL="38100" rtl="0" algn="l">
              <a:lnSpc>
                <a:spcPct val="90000"/>
              </a:lnSpc>
              <a:spcBef>
                <a:spcPts val="900"/>
              </a:spcBef>
              <a:spcAft>
                <a:spcPts val="0"/>
              </a:spcAft>
              <a:buSzPts val="3000"/>
              <a:buNone/>
            </a:pPr>
            <a:r>
              <a:rPr lang="en-CA"/>
              <a:t>same channel</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RAM Dual Channel Enabled vs. Disabled vs. Single Channel Gaming - YouTube" id="673" name="Google Shape;673;p60"/>
          <p:cNvPicPr preferRelativeResize="0"/>
          <p:nvPr/>
        </p:nvPicPr>
        <p:blipFill rotWithShape="1">
          <a:blip r:embed="rId3">
            <a:alphaModFix/>
          </a:blip>
          <a:srcRect b="0" l="0" r="0" t="0"/>
          <a:stretch/>
        </p:blipFill>
        <p:spPr>
          <a:xfrm>
            <a:off x="6439610" y="3601914"/>
            <a:ext cx="5360081" cy="3001645"/>
          </a:xfrm>
          <a:prstGeom prst="rect">
            <a:avLst/>
          </a:prstGeom>
          <a:noFill/>
          <a:ln>
            <a:noFill/>
          </a:ln>
        </p:spPr>
      </p:pic>
      <p:sp>
        <p:nvSpPr>
          <p:cNvPr id="674" name="Google Shape;674;p60"/>
          <p:cNvSpPr txBox="1"/>
          <p:nvPr/>
        </p:nvSpPr>
        <p:spPr>
          <a:xfrm>
            <a:off x="838200" y="4968937"/>
            <a:ext cx="461264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CA" sz="1800" u="none" cap="none" strike="noStrike">
                <a:solidFill>
                  <a:srgbClr val="FF0000"/>
                </a:solidFill>
                <a:latin typeface="Arial"/>
                <a:ea typeface="Arial"/>
                <a:cs typeface="Arial"/>
                <a:sym typeface="Arial"/>
              </a:rPr>
              <a:t>If you place the RAM sticks in the incorrect way on the motherboard, the dual channel will not be active, and you won’t use the PC to its best capacity.</a:t>
            </a:r>
            <a:endParaRPr b="0" i="0" sz="1800" u="none" cap="none" strike="noStrike">
              <a:solidFill>
                <a:srgbClr val="FF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Memory Redundancy / Error Checking</a:t>
            </a:r>
            <a:endParaRPr/>
          </a:p>
        </p:txBody>
      </p:sp>
      <p:sp>
        <p:nvSpPr>
          <p:cNvPr id="680" name="Google Shape;680;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CA"/>
              <a:t>Memory errors occur when data is not stored correctly in the RAM chips. </a:t>
            </a:r>
            <a:endParaRPr/>
          </a:p>
          <a:p>
            <a:pPr indent="-228600" lvl="0" marL="228600" rtl="0" algn="l">
              <a:lnSpc>
                <a:spcPct val="90000"/>
              </a:lnSpc>
              <a:spcBef>
                <a:spcPts val="900"/>
              </a:spcBef>
              <a:spcAft>
                <a:spcPts val="0"/>
              </a:spcAft>
              <a:buClr>
                <a:srgbClr val="7F7F7F"/>
              </a:buClr>
              <a:buSzPts val="3000"/>
              <a:buChar char="•"/>
            </a:pPr>
            <a:r>
              <a:rPr lang="en-CA"/>
              <a:t>Computers use different methods to detect and correct data errors in memory.</a:t>
            </a:r>
            <a:endParaRPr/>
          </a:p>
          <a:p>
            <a:pPr indent="-228600" lvl="1" marL="685800" rtl="0" algn="l">
              <a:lnSpc>
                <a:spcPct val="90000"/>
              </a:lnSpc>
              <a:spcBef>
                <a:spcPts val="780"/>
              </a:spcBef>
              <a:spcAft>
                <a:spcPts val="0"/>
              </a:spcAft>
              <a:buClr>
                <a:srgbClr val="7F7F7F"/>
              </a:buClr>
              <a:buSzPts val="2600"/>
              <a:buChar char="•"/>
            </a:pPr>
            <a:r>
              <a:rPr lang="en-CA"/>
              <a:t>Non-parity memory.</a:t>
            </a:r>
            <a:endParaRPr/>
          </a:p>
          <a:p>
            <a:pPr indent="-228600" lvl="1" marL="685800" rtl="0" algn="l">
              <a:lnSpc>
                <a:spcPct val="90000"/>
              </a:lnSpc>
              <a:spcBef>
                <a:spcPts val="780"/>
              </a:spcBef>
              <a:spcAft>
                <a:spcPts val="0"/>
              </a:spcAft>
              <a:buClr>
                <a:srgbClr val="7F7F7F"/>
              </a:buClr>
              <a:buSzPts val="2600"/>
              <a:buChar char="•"/>
            </a:pPr>
            <a:r>
              <a:rPr lang="en-CA"/>
              <a:t>Parity memory.</a:t>
            </a:r>
            <a:endParaRPr/>
          </a:p>
          <a:p>
            <a:pPr indent="-228600" lvl="1" marL="685800" rtl="0" algn="l">
              <a:lnSpc>
                <a:spcPct val="90000"/>
              </a:lnSpc>
              <a:spcBef>
                <a:spcPts val="780"/>
              </a:spcBef>
              <a:spcAft>
                <a:spcPts val="0"/>
              </a:spcAft>
              <a:buClr>
                <a:srgbClr val="7F7F7F"/>
              </a:buClr>
              <a:buSzPts val="2600"/>
              <a:buChar char="•"/>
            </a:pPr>
            <a:r>
              <a:rPr lang="en-CA"/>
              <a:t>Error-correcting code (ECC) memory.</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4) Parity vs ECC</a:t>
            </a:r>
            <a:endParaRPr/>
          </a:p>
        </p:txBody>
      </p:sp>
      <p:graphicFrame>
        <p:nvGraphicFramePr>
          <p:cNvPr id="686" name="Google Shape;686;p62"/>
          <p:cNvGraphicFramePr/>
          <p:nvPr/>
        </p:nvGraphicFramePr>
        <p:xfrm>
          <a:off x="838200" y="1825625"/>
          <a:ext cx="3000000" cy="3000000"/>
        </p:xfrm>
        <a:graphic>
          <a:graphicData uri="http://schemas.openxmlformats.org/drawingml/2006/table">
            <a:tbl>
              <a:tblPr>
                <a:noFill/>
                <a:tableStyleId>{3006893C-7984-4EDE-8820-A8DF85894086}</a:tableStyleId>
              </a:tblPr>
              <a:tblGrid>
                <a:gridCol w="2483850"/>
                <a:gridCol w="8031750"/>
              </a:tblGrid>
              <a:tr h="1537025">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Non-parity memory</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Cheapest level of redundancy, works fine for most applications.</a:t>
                      </a:r>
                      <a:endParaRPr sz="1400" u="none" cap="none" strike="noStrike"/>
                    </a:p>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If a memory error occurs, the OS has no way of knowing. </a:t>
                      </a:r>
                      <a:endParaRPr sz="1400" u="none" cap="none" strike="noStrike"/>
                    </a:p>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Data can be therefore be corrupted without warning.</a:t>
                      </a:r>
                      <a:endParaRPr sz="1400" u="none" cap="none" strike="noStrike"/>
                    </a:p>
                  </a:txBody>
                  <a:tcPr marT="63500" marB="63500" marR="63500" marL="63500"/>
                </a:tc>
              </a:tr>
              <a:tr h="1537025">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Parity memory</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Also called true parity.</a:t>
                      </a:r>
                      <a:endParaRPr sz="1400" u="none" cap="none" strike="noStrike"/>
                    </a:p>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Parity memory contains extra chips that act as parity chips.</a:t>
                      </a:r>
                      <a:endParaRPr sz="1400" u="none" cap="none" strike="noStrike"/>
                    </a:p>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A memory error can be detected, and the OS is informed.</a:t>
                      </a:r>
                      <a:endParaRPr sz="1400" u="none" cap="none" strike="noStrike"/>
                    </a:p>
                  </a:txBody>
                  <a:tcPr marT="63500" marB="63500" marR="63500" marL="63500"/>
                </a:tc>
              </a:tr>
              <a:tr h="1106825">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ECC memory</a:t>
                      </a:r>
                      <a:endParaRPr sz="1400" u="none" cap="none" strike="noStrike"/>
                    </a:p>
                  </a:txBody>
                  <a:tcPr marT="63500" marB="63500" marR="63500" marL="63500"/>
                </a:tc>
                <a:tc>
                  <a:txBody>
                    <a:bodyPr/>
                    <a:lstStyle/>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Also called error checking and correcting, most expensive.</a:t>
                      </a:r>
                      <a:endParaRPr sz="1400" u="none" cap="none" strike="noStrike"/>
                    </a:p>
                    <a:p>
                      <a:pPr indent="0" lvl="0" marL="0" marR="0" rtl="0" algn="l">
                        <a:lnSpc>
                          <a:spcPct val="115000"/>
                        </a:lnSpc>
                        <a:spcBef>
                          <a:spcPts val="0"/>
                        </a:spcBef>
                        <a:spcAft>
                          <a:spcPts val="0"/>
                        </a:spcAft>
                        <a:buClr>
                          <a:srgbClr val="000000"/>
                        </a:buClr>
                        <a:buSzPts val="2000"/>
                        <a:buFont typeface="Arial"/>
                        <a:buNone/>
                      </a:pPr>
                      <a:r>
                        <a:rPr lang="en-CA" sz="2000" u="none" cap="none" strike="noStrike">
                          <a:latin typeface="Quattrocento Sans"/>
                          <a:ea typeface="Quattrocento Sans"/>
                          <a:cs typeface="Quattrocento Sans"/>
                          <a:sym typeface="Quattrocento Sans"/>
                        </a:rPr>
                        <a:t>Detects multiple-bit memory errors and can correct 1-bit errors.</a:t>
                      </a:r>
                      <a:endParaRPr sz="1400" u="none" cap="none" strike="noStrike"/>
                    </a:p>
                  </a:txBody>
                  <a:tcPr marT="63500" marB="63500" marR="63500" marL="6350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5) RAM Latency</a:t>
            </a:r>
            <a:endParaRPr/>
          </a:p>
        </p:txBody>
      </p:sp>
      <p:sp>
        <p:nvSpPr>
          <p:cNvPr id="692" name="Google Shape;692;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157161" lvl="0" marL="228600" rtl="0" algn="l">
              <a:lnSpc>
                <a:spcPct val="115000"/>
              </a:lnSpc>
              <a:spcBef>
                <a:spcPts val="0"/>
              </a:spcBef>
              <a:spcAft>
                <a:spcPts val="0"/>
              </a:spcAft>
              <a:buClr>
                <a:srgbClr val="7F7F7F"/>
              </a:buClr>
              <a:buSzPct val="100000"/>
              <a:buChar char="•"/>
            </a:pPr>
            <a:r>
              <a:rPr lang="en-CA"/>
              <a:t>Latency refers to the slight delay that occurs when the memory controller starts to grab a line of memory. </a:t>
            </a:r>
            <a:endParaRPr/>
          </a:p>
          <a:p>
            <a:pPr indent="-157161" lvl="0" marL="228600" rtl="0" algn="l">
              <a:lnSpc>
                <a:spcPct val="115000"/>
              </a:lnSpc>
              <a:spcBef>
                <a:spcPts val="900"/>
              </a:spcBef>
              <a:spcAft>
                <a:spcPts val="0"/>
              </a:spcAft>
              <a:buClr>
                <a:srgbClr val="7F7F7F"/>
              </a:buClr>
              <a:buSzPct val="100000"/>
              <a:buChar char="•"/>
            </a:pPr>
            <a:r>
              <a:rPr lang="en-CA"/>
              <a:t>RAM with lower latency is faster than RAM with a higher latency.</a:t>
            </a:r>
            <a:endParaRPr/>
          </a:p>
          <a:p>
            <a:pPr indent="0" lvl="0" marL="0" rtl="0" algn="l">
              <a:lnSpc>
                <a:spcPct val="115000"/>
              </a:lnSpc>
              <a:spcBef>
                <a:spcPts val="900"/>
              </a:spcBef>
              <a:spcAft>
                <a:spcPts val="0"/>
              </a:spcAft>
              <a:buSzPct val="160000"/>
              <a:buNone/>
            </a:pPr>
            <a:r>
              <a:t/>
            </a:r>
            <a:endParaRPr/>
          </a:p>
          <a:p>
            <a:pPr indent="0" lvl="0" marL="0" rtl="0" algn="l">
              <a:lnSpc>
                <a:spcPct val="115000"/>
              </a:lnSpc>
              <a:spcBef>
                <a:spcPts val="900"/>
              </a:spcBef>
              <a:spcAft>
                <a:spcPts val="0"/>
              </a:spcAft>
              <a:buSzPct val="160000"/>
              <a:buNone/>
            </a:pPr>
            <a:r>
              <a:rPr b="1" lang="en-CA"/>
              <a:t>NOTE: </a:t>
            </a:r>
            <a:r>
              <a:rPr lang="en-CA"/>
              <a:t>Latency is a general concept in physics and engineering. The Wikipedia article on Latency provides a good two sentence explanation:</a:t>
            </a:r>
            <a:br>
              <a:rPr lang="en-CA"/>
            </a:br>
            <a:endParaRPr/>
          </a:p>
          <a:p>
            <a:pPr indent="0" lvl="0" marL="0" rtl="0" algn="l">
              <a:lnSpc>
                <a:spcPct val="115000"/>
              </a:lnSpc>
              <a:spcBef>
                <a:spcPts val="900"/>
              </a:spcBef>
              <a:spcAft>
                <a:spcPts val="0"/>
              </a:spcAft>
              <a:buSzPct val="160000"/>
              <a:buNone/>
            </a:pPr>
            <a:r>
              <a:rPr lang="en-CA"/>
              <a:t>“Latency from a general point of view is a time delay between the cause and the effect of some physical change in the system being observed… Latency is physically a consequence of the limited velocity which any physical interaction can propagate.”</a:t>
            </a:r>
            <a:br>
              <a:rPr lang="en-CA"/>
            </a:br>
            <a:endParaRPr/>
          </a:p>
          <a:p>
            <a:pPr indent="0" lvl="0" marL="0" rtl="0" algn="l">
              <a:lnSpc>
                <a:spcPct val="115000"/>
              </a:lnSpc>
              <a:spcBef>
                <a:spcPts val="900"/>
              </a:spcBef>
              <a:spcAft>
                <a:spcPts val="0"/>
              </a:spcAft>
              <a:buSzPct val="160000"/>
              <a:buNone/>
            </a:pPr>
            <a:r>
              <a:rPr lang="en-CA"/>
              <a:t>Remember from lecture 2: CRT monitors have lower latency than LCD/LED monitors due to electrons travelling faster in a vacuum than through digital circuits!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4"/>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CA"/>
              <a:t>Other RAMs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SO-DIMM</a:t>
            </a:r>
            <a:endParaRPr/>
          </a:p>
        </p:txBody>
      </p:sp>
      <p:sp>
        <p:nvSpPr>
          <p:cNvPr id="704" name="Google Shape;704;p65"/>
          <p:cNvSpPr txBox="1"/>
          <p:nvPr>
            <p:ph idx="1" type="body"/>
          </p:nvPr>
        </p:nvSpPr>
        <p:spPr>
          <a:xfrm>
            <a:off x="838200" y="1825625"/>
            <a:ext cx="5690937"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CA"/>
              <a:t>Smaller RAM sticks</a:t>
            </a:r>
            <a:endParaRPr/>
          </a:p>
          <a:p>
            <a:pPr indent="-419100" lvl="0" marL="457200" rtl="0" algn="l">
              <a:lnSpc>
                <a:spcPct val="90000"/>
              </a:lnSpc>
              <a:spcBef>
                <a:spcPts val="900"/>
              </a:spcBef>
              <a:spcAft>
                <a:spcPts val="0"/>
              </a:spcAft>
              <a:buClr>
                <a:srgbClr val="7F7F7F"/>
              </a:buClr>
              <a:buSzPts val="3000"/>
              <a:buChar char="•"/>
            </a:pPr>
            <a:r>
              <a:rPr lang="en-CA"/>
              <a:t>Used in laptops</a:t>
            </a:r>
            <a:endParaRPr/>
          </a:p>
        </p:txBody>
      </p:sp>
      <p:pic>
        <p:nvPicPr>
          <p:cNvPr descr="Types of RAM - An Overview Guide to PC Memory" id="705" name="Google Shape;705;p65"/>
          <p:cNvPicPr preferRelativeResize="0"/>
          <p:nvPr/>
        </p:nvPicPr>
        <p:blipFill rotWithShape="1">
          <a:blip r:embed="rId3">
            <a:alphaModFix/>
          </a:blip>
          <a:srcRect b="0" l="0" r="0" t="0"/>
          <a:stretch/>
        </p:blipFill>
        <p:spPr>
          <a:xfrm>
            <a:off x="5582652" y="1825625"/>
            <a:ext cx="6142789" cy="44825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Virtual Memory</a:t>
            </a:r>
            <a:endParaRPr/>
          </a:p>
        </p:txBody>
      </p:sp>
      <p:sp>
        <p:nvSpPr>
          <p:cNvPr id="711" name="Google Shape;711;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10000"/>
              </a:lnSpc>
              <a:spcBef>
                <a:spcPts val="0"/>
              </a:spcBef>
              <a:spcAft>
                <a:spcPts val="0"/>
              </a:spcAft>
              <a:buClr>
                <a:srgbClr val="7F7F7F"/>
              </a:buClr>
              <a:buSzPct val="100000"/>
              <a:buChar char="•"/>
            </a:pPr>
            <a:r>
              <a:rPr lang="en-CA"/>
              <a:t>Each computer has the capability to make a portion of your hard drive work like RAM when you run out of real RAM. This is called virtual memory. </a:t>
            </a:r>
            <a:endParaRPr/>
          </a:p>
          <a:p>
            <a:pPr indent="-228600" lvl="1" marL="685800" rtl="0" algn="l">
              <a:lnSpc>
                <a:spcPct val="110000"/>
              </a:lnSpc>
              <a:spcBef>
                <a:spcPts val="605"/>
              </a:spcBef>
              <a:spcAft>
                <a:spcPts val="0"/>
              </a:spcAft>
              <a:buClr>
                <a:srgbClr val="7F7F7F"/>
              </a:buClr>
              <a:buSzPct val="100000"/>
              <a:buChar char="•"/>
            </a:pPr>
            <a:r>
              <a:rPr lang="en-CA"/>
              <a:t>It is also referred to as setting part of your hard drive aside as a “swap file” or “page file”.</a:t>
            </a:r>
            <a:endParaRPr/>
          </a:p>
          <a:p>
            <a:pPr indent="0" lvl="0" marL="0" rtl="0" algn="l">
              <a:lnSpc>
                <a:spcPct val="110000"/>
              </a:lnSpc>
              <a:spcBef>
                <a:spcPts val="698"/>
              </a:spcBef>
              <a:spcAft>
                <a:spcPts val="0"/>
              </a:spcAft>
              <a:buClr>
                <a:srgbClr val="7F7F7F"/>
              </a:buClr>
              <a:buSzPct val="100000"/>
              <a:buNone/>
            </a:pPr>
            <a:r>
              <a:t/>
            </a:r>
            <a:endParaRPr/>
          </a:p>
          <a:p>
            <a:pPr indent="-228600" lvl="0" marL="228600" rtl="0" algn="l">
              <a:lnSpc>
                <a:spcPct val="110000"/>
              </a:lnSpc>
              <a:spcBef>
                <a:spcPts val="698"/>
              </a:spcBef>
              <a:spcAft>
                <a:spcPts val="0"/>
              </a:spcAft>
              <a:buClr>
                <a:srgbClr val="7F7F7F"/>
              </a:buClr>
              <a:buSzPct val="100000"/>
              <a:buChar char="•"/>
            </a:pPr>
            <a:r>
              <a:rPr lang="en-CA"/>
              <a:t>When a computer starts running out of real RAM because you have loaded too many programs, the system swaps programs from RAM to the page file, leaving more space for the programs currently running.</a:t>
            </a:r>
            <a:endParaRPr/>
          </a:p>
          <a:p>
            <a:pPr indent="-80962" lvl="0" marL="228600" rtl="0" algn="l">
              <a:lnSpc>
                <a:spcPct val="110000"/>
              </a:lnSpc>
              <a:spcBef>
                <a:spcPts val="698"/>
              </a:spcBef>
              <a:spcAft>
                <a:spcPts val="0"/>
              </a:spcAft>
              <a:buClr>
                <a:srgbClr val="7F7F7F"/>
              </a:buClr>
              <a:buSzPct val="100000"/>
              <a:buNone/>
            </a:pPr>
            <a:r>
              <a:t/>
            </a:r>
            <a:endParaRPr/>
          </a:p>
          <a:p>
            <a:pPr indent="-228600" lvl="0" marL="228600" rtl="0" algn="l">
              <a:lnSpc>
                <a:spcPct val="110000"/>
              </a:lnSpc>
              <a:spcBef>
                <a:spcPts val="698"/>
              </a:spcBef>
              <a:spcAft>
                <a:spcPts val="0"/>
              </a:spcAft>
              <a:buClr>
                <a:srgbClr val="7F7F7F"/>
              </a:buClr>
              <a:buSzPct val="100000"/>
              <a:buChar char="•"/>
            </a:pPr>
            <a:r>
              <a:rPr lang="en-CA"/>
              <a:t>Exam question: Why is virtual memory not good?</a:t>
            </a:r>
            <a:endParaRPr/>
          </a:p>
          <a:p>
            <a:pPr indent="-80962" lvl="0" marL="228600" rtl="0" algn="l">
              <a:lnSpc>
                <a:spcPct val="110000"/>
              </a:lnSpc>
              <a:spcBef>
                <a:spcPts val="698"/>
              </a:spcBef>
              <a:spcAft>
                <a:spcPts val="0"/>
              </a:spcAft>
              <a:buClr>
                <a:srgbClr val="7F7F7F"/>
              </a:buClr>
              <a:buSzPct val="1000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CA"/>
              <a:t>Virtual Memory: Example</a:t>
            </a:r>
            <a:endParaRPr/>
          </a:p>
        </p:txBody>
      </p:sp>
      <p:sp>
        <p:nvSpPr>
          <p:cNvPr id="717" name="Google Shape;717;p67"/>
          <p:cNvSpPr txBox="1"/>
          <p:nvPr>
            <p:ph idx="1" type="body"/>
          </p:nvPr>
        </p:nvSpPr>
        <p:spPr>
          <a:xfrm>
            <a:off x="838200" y="1392000"/>
            <a:ext cx="10515600" cy="5328000"/>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115000"/>
              </a:lnSpc>
              <a:spcBef>
                <a:spcPts val="0"/>
              </a:spcBef>
              <a:spcAft>
                <a:spcPts val="0"/>
              </a:spcAft>
              <a:buClr>
                <a:srgbClr val="7F7F7F"/>
              </a:buClr>
              <a:buSzPct val="100000"/>
              <a:buChar char="•"/>
            </a:pPr>
            <a:r>
              <a:rPr lang="en-CA"/>
              <a:t>Assume your computer has 4 Gb RAM.</a:t>
            </a:r>
            <a:endParaRPr/>
          </a:p>
          <a:p>
            <a:pPr indent="-228600" lvl="1" marL="685800" rtl="0" algn="l">
              <a:lnSpc>
                <a:spcPct val="115000"/>
              </a:lnSpc>
              <a:spcBef>
                <a:spcPts val="429"/>
              </a:spcBef>
              <a:spcAft>
                <a:spcPts val="0"/>
              </a:spcAft>
              <a:buClr>
                <a:srgbClr val="7F7F7F"/>
              </a:buClr>
              <a:buSzPct val="100000"/>
              <a:buChar char="•"/>
            </a:pPr>
            <a:r>
              <a:rPr lang="en-CA"/>
              <a:t>And you have several programs installed on your hard drive (A, B, C, D).</a:t>
            </a:r>
            <a:endParaRPr/>
          </a:p>
          <a:p>
            <a:pPr indent="-228600" lvl="1" marL="685800" rtl="0" algn="l">
              <a:lnSpc>
                <a:spcPct val="115000"/>
              </a:lnSpc>
              <a:spcBef>
                <a:spcPts val="429"/>
              </a:spcBef>
              <a:spcAft>
                <a:spcPts val="0"/>
              </a:spcAft>
              <a:buClr>
                <a:srgbClr val="7F7F7F"/>
              </a:buClr>
              <a:buSzPct val="100000"/>
              <a:buChar char="•"/>
            </a:pPr>
            <a:r>
              <a:rPr lang="en-CA"/>
              <a:t>As programs load they take up RAM. Let’s say you run programs A B and C.</a:t>
            </a:r>
            <a:endParaRPr/>
          </a:p>
          <a:p>
            <a:pPr indent="-228600" lvl="1" marL="685800" rtl="0" algn="l">
              <a:lnSpc>
                <a:spcPct val="115000"/>
              </a:lnSpc>
              <a:spcBef>
                <a:spcPts val="429"/>
              </a:spcBef>
              <a:spcAft>
                <a:spcPts val="0"/>
              </a:spcAft>
              <a:buClr>
                <a:srgbClr val="7F7F7F"/>
              </a:buClr>
              <a:buSzPct val="100000"/>
              <a:buChar char="•"/>
            </a:pPr>
            <a:r>
              <a:rPr lang="en-CA"/>
              <a:t>At a certain point you won’t have enough RAM to run any more programs, but you want to run program D.</a:t>
            </a:r>
            <a:endParaRPr/>
          </a:p>
          <a:p>
            <a:pPr indent="-228600" lvl="0" marL="228600" rtl="0" algn="l">
              <a:lnSpc>
                <a:spcPct val="115000"/>
              </a:lnSpc>
              <a:spcBef>
                <a:spcPts val="495"/>
              </a:spcBef>
              <a:spcAft>
                <a:spcPts val="0"/>
              </a:spcAft>
              <a:buClr>
                <a:srgbClr val="7F7F7F"/>
              </a:buClr>
              <a:buSzPct val="100000"/>
              <a:buChar char="•"/>
            </a:pPr>
            <a:r>
              <a:rPr lang="en-CA"/>
              <a:t>This is where virtual memory comes in.</a:t>
            </a:r>
            <a:endParaRPr/>
          </a:p>
          <a:p>
            <a:pPr indent="-228600" lvl="1" marL="685800" rtl="0" algn="l">
              <a:lnSpc>
                <a:spcPct val="115000"/>
              </a:lnSpc>
              <a:spcBef>
                <a:spcPts val="429"/>
              </a:spcBef>
              <a:spcAft>
                <a:spcPts val="0"/>
              </a:spcAft>
              <a:buClr>
                <a:srgbClr val="7F7F7F"/>
              </a:buClr>
              <a:buSzPct val="100000"/>
              <a:buChar char="•"/>
            </a:pPr>
            <a:r>
              <a:rPr lang="en-CA"/>
              <a:t>A page file is created on your hard drive which acts as a temporary storage box.</a:t>
            </a:r>
            <a:endParaRPr/>
          </a:p>
          <a:p>
            <a:pPr indent="-228600" lvl="1" marL="685800" rtl="0" algn="l">
              <a:lnSpc>
                <a:spcPct val="115000"/>
              </a:lnSpc>
              <a:spcBef>
                <a:spcPts val="429"/>
              </a:spcBef>
              <a:spcAft>
                <a:spcPts val="0"/>
              </a:spcAft>
              <a:buClr>
                <a:srgbClr val="7F7F7F"/>
              </a:buClr>
              <a:buSzPct val="100000"/>
              <a:buChar char="•"/>
            </a:pPr>
            <a:r>
              <a:rPr lang="en-CA"/>
              <a:t>Whichever program is least used (A, B or C) is swapped out of RAM and into the page file.</a:t>
            </a:r>
            <a:endParaRPr/>
          </a:p>
          <a:p>
            <a:pPr indent="-228600" lvl="1" marL="685800" rtl="0" algn="l">
              <a:lnSpc>
                <a:spcPct val="115000"/>
              </a:lnSpc>
              <a:spcBef>
                <a:spcPts val="429"/>
              </a:spcBef>
              <a:spcAft>
                <a:spcPts val="0"/>
              </a:spcAft>
              <a:buClr>
                <a:srgbClr val="7F7F7F"/>
              </a:buClr>
              <a:buSzPct val="100000"/>
              <a:buChar char="•"/>
            </a:pPr>
            <a:r>
              <a:rPr lang="en-CA"/>
              <a:t>In this case let’s assume this is B, so B is removed from RAM and into the page file.</a:t>
            </a:r>
            <a:endParaRPr/>
          </a:p>
          <a:p>
            <a:pPr indent="-228600" lvl="1" marL="685800" rtl="0" algn="l">
              <a:lnSpc>
                <a:spcPct val="115000"/>
              </a:lnSpc>
              <a:spcBef>
                <a:spcPts val="429"/>
              </a:spcBef>
              <a:spcAft>
                <a:spcPts val="0"/>
              </a:spcAft>
              <a:buClr>
                <a:srgbClr val="7F7F7F"/>
              </a:buClr>
              <a:buSzPct val="100000"/>
              <a:buChar char="•"/>
            </a:pPr>
            <a:r>
              <a:rPr lang="en-CA"/>
              <a:t>Then program D runs and takes up its space in RAM.</a:t>
            </a:r>
            <a:endParaRPr/>
          </a:p>
          <a:p>
            <a:pPr indent="-228600" lvl="0" marL="228600" rtl="0" algn="l">
              <a:lnSpc>
                <a:spcPct val="115000"/>
              </a:lnSpc>
              <a:spcBef>
                <a:spcPts val="495"/>
              </a:spcBef>
              <a:spcAft>
                <a:spcPts val="0"/>
              </a:spcAft>
              <a:buClr>
                <a:srgbClr val="7F7F7F"/>
              </a:buClr>
              <a:buSzPct val="100000"/>
              <a:buChar char="•"/>
            </a:pPr>
            <a:r>
              <a:rPr lang="en-CA"/>
              <a:t>If you later click on B, it cannot run from the page file.</a:t>
            </a:r>
            <a:endParaRPr/>
          </a:p>
          <a:p>
            <a:pPr indent="-228600" lvl="1" marL="685800" rtl="0" algn="l">
              <a:lnSpc>
                <a:spcPct val="115000"/>
              </a:lnSpc>
              <a:spcBef>
                <a:spcPts val="429"/>
              </a:spcBef>
              <a:spcAft>
                <a:spcPts val="0"/>
              </a:spcAft>
              <a:buClr>
                <a:srgbClr val="7F7F7F"/>
              </a:buClr>
              <a:buSzPct val="100000"/>
              <a:buChar char="•"/>
            </a:pPr>
            <a:r>
              <a:rPr lang="en-CA"/>
              <a:t>Again a less-used program in RAM needs to swap over to the page file.</a:t>
            </a:r>
            <a:endParaRPr/>
          </a:p>
          <a:p>
            <a:pPr indent="-228600" lvl="1" marL="685800" rtl="0" algn="l">
              <a:lnSpc>
                <a:spcPct val="115000"/>
              </a:lnSpc>
              <a:spcBef>
                <a:spcPts val="429"/>
              </a:spcBef>
              <a:spcAft>
                <a:spcPts val="0"/>
              </a:spcAft>
              <a:buClr>
                <a:srgbClr val="7F7F7F"/>
              </a:buClr>
              <a:buSzPct val="100000"/>
              <a:buChar char="•"/>
            </a:pPr>
            <a:r>
              <a:rPr lang="en-CA"/>
              <a:t>Once that is done, program B can be swapped back into RAM to be used.</a:t>
            </a:r>
            <a:endParaRPr/>
          </a:p>
          <a:p>
            <a:pPr indent="0" lvl="0" marL="0" rtl="0" algn="l">
              <a:lnSpc>
                <a:spcPct val="115000"/>
              </a:lnSpc>
              <a:spcBef>
                <a:spcPts val="495"/>
              </a:spcBef>
              <a:spcAft>
                <a:spcPts val="0"/>
              </a:spcAft>
              <a:buClr>
                <a:srgbClr val="7F7F7F"/>
              </a:buClr>
              <a:buSzPct val="100000"/>
              <a:buNone/>
            </a:pPr>
            <a:r>
              <a:t/>
            </a:r>
            <a:endParaRPr/>
          </a:p>
          <a:p>
            <a:pPr indent="-228600" lvl="0" marL="228600" rtl="0" algn="l">
              <a:lnSpc>
                <a:spcPct val="115000"/>
              </a:lnSpc>
              <a:spcBef>
                <a:spcPts val="495"/>
              </a:spcBef>
              <a:spcAft>
                <a:spcPts val="0"/>
              </a:spcAft>
              <a:buClr>
                <a:srgbClr val="7F7F7F"/>
              </a:buClr>
              <a:buSzPct val="100000"/>
              <a:buChar char="•"/>
            </a:pPr>
            <a:r>
              <a:rPr lang="en-CA" u="sng"/>
              <a:t>Note:</a:t>
            </a:r>
            <a:r>
              <a:rPr lang="en-CA"/>
              <a:t> </a:t>
            </a:r>
            <a:endParaRPr/>
          </a:p>
          <a:p>
            <a:pPr indent="-228600" lvl="1" marL="685800" rtl="0" algn="l">
              <a:lnSpc>
                <a:spcPct val="115000"/>
              </a:lnSpc>
              <a:spcBef>
                <a:spcPts val="429"/>
              </a:spcBef>
              <a:spcAft>
                <a:spcPts val="0"/>
              </a:spcAft>
              <a:buClr>
                <a:srgbClr val="7F7F7F"/>
              </a:buClr>
              <a:buSzPct val="100000"/>
              <a:buChar char="•"/>
            </a:pPr>
            <a:r>
              <a:rPr lang="en-CA"/>
              <a:t>This swapping is invisible to the user, but takes time (and Windows will slow down).</a:t>
            </a:r>
            <a:endParaRPr/>
          </a:p>
          <a:p>
            <a:pPr indent="-228600" lvl="1" marL="685800" rtl="0" algn="l">
              <a:lnSpc>
                <a:spcPct val="115000"/>
              </a:lnSpc>
              <a:spcBef>
                <a:spcPts val="429"/>
              </a:spcBef>
              <a:spcAft>
                <a:spcPts val="0"/>
              </a:spcAft>
              <a:buClr>
                <a:srgbClr val="7F7F7F"/>
              </a:buClr>
              <a:buSzPct val="100000"/>
              <a:buChar char="•"/>
            </a:pPr>
            <a:r>
              <a:rPr lang="en-CA"/>
              <a:t>If page file is accessed too frequently, user may notice the hard drive LED going crazy.</a:t>
            </a:r>
            <a:endParaRPr/>
          </a:p>
          <a:p>
            <a:pPr indent="-228600" lvl="1" marL="685800" rtl="0" algn="l">
              <a:lnSpc>
                <a:spcPct val="115000"/>
              </a:lnSpc>
              <a:spcBef>
                <a:spcPts val="429"/>
              </a:spcBef>
              <a:spcAft>
                <a:spcPts val="0"/>
              </a:spcAft>
              <a:buClr>
                <a:srgbClr val="7F7F7F"/>
              </a:buClr>
              <a:buSzPct val="100000"/>
              <a:buChar char="•"/>
            </a:pPr>
            <a:r>
              <a:rPr lang="en-CA"/>
              <a:t>This is called “</a:t>
            </a:r>
            <a:r>
              <a:rPr lang="en-CA">
                <a:solidFill>
                  <a:srgbClr val="0055A4"/>
                </a:solidFill>
              </a:rPr>
              <a:t>disk thrashing</a:t>
            </a:r>
            <a:r>
              <a:rPr lang="en-CA"/>
              <a:t>” and indicates the computer would benefit from more RAM.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2023-08-18T21:11:14Z</dcterms:created>
</cp:coreProperties>
</file>