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y="6858000" cx="12192000"/>
  <p:notesSz cx="6858000" cy="9144000"/>
  <p:embeddedFontLst>
    <p:embeddedFont>
      <p:font typeface="Quattrocento Sans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7" roundtripDataSignature="AMtx7miHE9k6rtpWRpddy1+7esKbjaXr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F07A8C-DEC2-4896-BA0B-73D9109C7020}">
  <a:tblStyle styleId="{E2F07A8C-DEC2-4896-BA0B-73D9109C7020}" styleName="Table_0">
    <a:wholeTbl>
      <a:tcTxStyle b="off" i="off">
        <a:font>
          <a:latin typeface="Segoe UI"/>
          <a:ea typeface="Segoe UI"/>
          <a:cs typeface="Segoe UI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QuattrocentoSans-regular.fntdata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QuattrocentoSans-italic.fntdata"/><Relationship Id="rId10" Type="http://schemas.openxmlformats.org/officeDocument/2006/relationships/slide" Target="slides/slide4.xml"/><Relationship Id="rId54" Type="http://schemas.openxmlformats.org/officeDocument/2006/relationships/font" Target="fonts/QuattrocentoSans-bold.fntdata"/><Relationship Id="rId13" Type="http://schemas.openxmlformats.org/officeDocument/2006/relationships/slide" Target="slides/slide7.xml"/><Relationship Id="rId57" Type="http://customschemas.google.com/relationships/presentationmetadata" Target="metadata"/><Relationship Id="rId12" Type="http://schemas.openxmlformats.org/officeDocument/2006/relationships/slide" Target="slides/slide6.xml"/><Relationship Id="rId56" Type="http://schemas.openxmlformats.org/officeDocument/2006/relationships/font" Target="fonts/Quattrocento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ee6a8bc5c8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ee6a8bc5c8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ee6a8bc5c8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e1b13ebf0_0_4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0e1b13ebf0_0_4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Lecture notes go here</a:t>
            </a:r>
            <a:endParaRPr/>
          </a:p>
        </p:txBody>
      </p:sp>
      <p:sp>
        <p:nvSpPr>
          <p:cNvPr id="139" name="Google Shape;139;g30e1b13ebf0_0_4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0e1b13ebf0_0_3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0e1b13ebf0_0_3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0e1b13ebf0_0_2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0e1b13ebf0_0_2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0e1b13ebf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0e1b13ebf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e1b13ebf0_0_3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0e1b13ebf0_0_3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0e1b13ebf0_0_3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0e1b13ebf0_0_3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0e1b13ebf0_0_6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0e1b13ebf0_0_6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0e1b13ebf0_0_5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0e1b13ebf0_0_5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Lecture notes go here</a:t>
            </a:r>
            <a:endParaRPr/>
          </a:p>
        </p:txBody>
      </p:sp>
      <p:sp>
        <p:nvSpPr>
          <p:cNvPr id="195" name="Google Shape;195;g30e1b13ebf0_0_5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e1b13ebf0_0_5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0e1b13ebf0_0_5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0e1b13ebf0_0_6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0e1b13ebf0_0_6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0e1b13ebf0_0_6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0e1b13ebf0_0_6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0e1b13ebf0_0_6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0e1b13ebf0_0_6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0e1b13ebf0_0_6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0e1b13ebf0_0_6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0e1b13ebf0_0_6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0e1b13ebf0_0_6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0e1b13ebf0_0_5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0e1b13ebf0_0_5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Lecture notes go here</a:t>
            </a:r>
            <a:endParaRPr/>
          </a:p>
        </p:txBody>
      </p:sp>
      <p:sp>
        <p:nvSpPr>
          <p:cNvPr id="260" name="Google Shape;260;g30e1b13ebf0_0_5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0e1b13ebf0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0e1b13ebf0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0e1b13ebf0_0_3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0e1b13ebf0_0_3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0e1b13ebf0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0e1b13ebf0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0e1b13ebf0_0_3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0e1b13ebf0_0_3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0e1b13ebf0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0e1b13ebf0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0e1b13ebf0_0_4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0e1b13ebf0_0_4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0e1b13ebf0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0e1b13ebf0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0e1b13ebf0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0e1b13ebf0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0e1b13ebf0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0e1b13ebf0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0e1b13ebf0_0_4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0e1b13ebf0_0_4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0e1b13ebf0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0e1b13ebf0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0e1b13ebf0_0_4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0e1b13ebf0_0_4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0e1b13ebf0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0e1b13ebf0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0e1b13ebf0_0_4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0e1b13ebf0_0_4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0e1b13ebf0_0_4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0e1b13ebf0_0_4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0e1b13ebf0_0_4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0e1b13ebf0_0_4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0e1b13ebf0_0_4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0e1b13ebf0_0_4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0e1b13ebf0_0_4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0e1b13ebf0_0_4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0e1b13ebf0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0e1b13ebf0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0e1b13ebf0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0e1b13ebf0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g30e1b13ebf0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0e1b13ebf0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0e1b13ebf0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0e1b13ebf0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g30e1b13ebf0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0e1b13ebf0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g30e1b13ebf0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0e1b13ebf0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g30e1b13ebf0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0e1b13ebf0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" name="Google Shape;427;g30e1b13ebf0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0e1b13ebf0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g30e1b13ebf0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0e1b13ebf0_0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g30e1b13ebf0_0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0e1b13ebf0_0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5" name="Google Shape;445;g30e1b13ebf0_0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0e1b13ebf0_0_4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0e1b13ebf0_0_4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56565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0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" name="Google Shape;17;p80"/>
          <p:cNvSpPr txBox="1"/>
          <p:nvPr>
            <p:ph type="ctrTitle"/>
          </p:nvPr>
        </p:nvSpPr>
        <p:spPr>
          <a:xfrm>
            <a:off x="838200" y="2061006"/>
            <a:ext cx="105156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80"/>
          <p:cNvSpPr txBox="1"/>
          <p:nvPr>
            <p:ph idx="1" type="subTitle"/>
          </p:nvPr>
        </p:nvSpPr>
        <p:spPr>
          <a:xfrm>
            <a:off x="838202" y="5110609"/>
            <a:ext cx="10515598" cy="1137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80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0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0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80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3" name="Google Shape;23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0525" y="315939"/>
            <a:ext cx="4686300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1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" name="Google Shape;26;p81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  <a:defRPr sz="3000">
                <a:solidFill>
                  <a:srgbClr val="7F7F7F"/>
                </a:solidFill>
              </a:defRPr>
            </a:lvl1pPr>
            <a:lvl2pPr indent="-393700" lvl="1" marL="914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  <a:defRPr sz="2600">
                <a:solidFill>
                  <a:srgbClr val="7F7F7F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 sz="2000">
                <a:solidFill>
                  <a:srgbClr val="7F7F7F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 sz="1800">
                <a:solidFill>
                  <a:srgbClr val="7F7F7F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81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1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1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81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2" name="Google Shape;32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29385" y="165006"/>
            <a:ext cx="2228850" cy="43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3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" name="Google Shape;35;p83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8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  <a:defRPr sz="2200">
                <a:solidFill>
                  <a:srgbClr val="7F7F7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 sz="1800">
                <a:solidFill>
                  <a:srgbClr val="7F7F7F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  <a:defRPr sz="2200">
                <a:solidFill>
                  <a:srgbClr val="7F7F7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 sz="1800">
                <a:solidFill>
                  <a:srgbClr val="7F7F7F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83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3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3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83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42" name="Google Shape;42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29385" y="165006"/>
            <a:ext cx="2228850" cy="43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2"/>
          <p:cNvSpPr/>
          <p:nvPr/>
        </p:nvSpPr>
        <p:spPr>
          <a:xfrm>
            <a:off x="0" y="1709738"/>
            <a:ext cx="12192000" cy="357518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5" name="Google Shape;45;p82"/>
          <p:cNvSpPr txBox="1"/>
          <p:nvPr>
            <p:ph type="title"/>
          </p:nvPr>
        </p:nvSpPr>
        <p:spPr>
          <a:xfrm>
            <a:off x="838201" y="2402238"/>
            <a:ext cx="10515599" cy="2187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2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2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2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4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1" name="Google Shape;51;p84"/>
          <p:cNvSpPr txBox="1"/>
          <p:nvPr>
            <p:ph type="title"/>
          </p:nvPr>
        </p:nvSpPr>
        <p:spPr>
          <a:xfrm>
            <a:off x="838201" y="2402238"/>
            <a:ext cx="4508715" cy="2187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A4"/>
              </a:buClr>
              <a:buSzPts val="4800"/>
              <a:buFont typeface="Quattrocento Sans"/>
              <a:buNone/>
              <a:defRPr sz="4800">
                <a:solidFill>
                  <a:srgbClr val="0055A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4"/>
          <p:cNvSpPr txBox="1"/>
          <p:nvPr>
            <p:ph idx="1" type="body"/>
          </p:nvPr>
        </p:nvSpPr>
        <p:spPr>
          <a:xfrm>
            <a:off x="6323308" y="2402237"/>
            <a:ext cx="5269424" cy="2187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p84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4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4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84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57" name="Google Shape;57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87643" y="3074570"/>
            <a:ext cx="4273596" cy="842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0" name="Google Shape;60;p85"/>
          <p:cNvSpPr txBox="1"/>
          <p:nvPr>
            <p:ph type="title"/>
          </p:nvPr>
        </p:nvSpPr>
        <p:spPr>
          <a:xfrm>
            <a:off x="604434" y="0"/>
            <a:ext cx="10749367" cy="12088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5"/>
          <p:cNvSpPr txBox="1"/>
          <p:nvPr>
            <p:ph idx="1" type="body"/>
          </p:nvPr>
        </p:nvSpPr>
        <p:spPr>
          <a:xfrm>
            <a:off x="838201" y="1825625"/>
            <a:ext cx="416775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indent="-3429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 sz="18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85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5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5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8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66" name="Google Shape;66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29385" y="165006"/>
            <a:ext cx="2228850" cy="43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9" name="Google Shape;69;p86"/>
          <p:cNvSpPr txBox="1"/>
          <p:nvPr>
            <p:ph type="title"/>
          </p:nvPr>
        </p:nvSpPr>
        <p:spPr>
          <a:xfrm>
            <a:off x="609600" y="0"/>
            <a:ext cx="10737851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6"/>
          <p:cNvSpPr txBox="1"/>
          <p:nvPr>
            <p:ph idx="1" type="body"/>
          </p:nvPr>
        </p:nvSpPr>
        <p:spPr>
          <a:xfrm>
            <a:off x="831851" y="1489075"/>
            <a:ext cx="51562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1" name="Google Shape;71;p86"/>
          <p:cNvSpPr txBox="1"/>
          <p:nvPr>
            <p:ph idx="2" type="body"/>
          </p:nvPr>
        </p:nvSpPr>
        <p:spPr>
          <a:xfrm>
            <a:off x="831851" y="2193927"/>
            <a:ext cx="5156200" cy="397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86"/>
          <p:cNvSpPr txBox="1"/>
          <p:nvPr>
            <p:ph idx="3" type="body"/>
          </p:nvPr>
        </p:nvSpPr>
        <p:spPr>
          <a:xfrm>
            <a:off x="6189664" y="1489075"/>
            <a:ext cx="5157787" cy="641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3" name="Google Shape;73;p86"/>
          <p:cNvSpPr txBox="1"/>
          <p:nvPr>
            <p:ph idx="4" type="body"/>
          </p:nvPr>
        </p:nvSpPr>
        <p:spPr>
          <a:xfrm>
            <a:off x="6189664" y="2193927"/>
            <a:ext cx="5157787" cy="397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86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86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6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8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78" name="Google Shape;78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29385" y="165006"/>
            <a:ext cx="2228850" cy="43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1" name="Google Shape;81;p87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7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7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87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8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86" name="Google Shape;86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29385" y="165006"/>
            <a:ext cx="2228850" cy="43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8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88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88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89"/>
          <p:cNvSpPr txBox="1"/>
          <p:nvPr>
            <p:ph idx="1" type="body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89"/>
          <p:cNvSpPr txBox="1"/>
          <p:nvPr>
            <p:ph idx="2" type="body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5" name="Google Shape;95;p89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89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89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90"/>
          <p:cNvSpPr/>
          <p:nvPr>
            <p:ph idx="2" type="pic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90"/>
          <p:cNvSpPr txBox="1"/>
          <p:nvPr>
            <p:ph idx="1" type="body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2" name="Google Shape;102;p90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90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90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1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7" name="Google Shape;107;p91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9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91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91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91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91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13" name="Google Shape;113;p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29385" y="165006"/>
            <a:ext cx="2228850" cy="43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2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6" name="Google Shape;116;p92"/>
          <p:cNvSpPr txBox="1"/>
          <p:nvPr>
            <p:ph type="title"/>
          </p:nvPr>
        </p:nvSpPr>
        <p:spPr>
          <a:xfrm rot="5400000">
            <a:off x="8219282" y="2361262"/>
            <a:ext cx="5811838" cy="18195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92"/>
          <p:cNvSpPr txBox="1"/>
          <p:nvPr>
            <p:ph idx="1" type="body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92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92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92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92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9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  <a:defRPr b="0" i="0" sz="4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2" name="Google Shape;12;p79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3" name="Google Shape;13;p79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4" name="Google Shape;14;p79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Relationship Id="rId4" Type="http://schemas.openxmlformats.org/officeDocument/2006/relationships/image" Target="../media/image7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learn.microsoft.com/en-us/dotnet/csharp/language-reference/builtin-types/integral-numeric-types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"/>
          <p:cNvSpPr txBox="1"/>
          <p:nvPr>
            <p:ph type="ctrTitle"/>
          </p:nvPr>
        </p:nvSpPr>
        <p:spPr>
          <a:xfrm>
            <a:off x="838200" y="2061006"/>
            <a:ext cx="105156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Quattrocento Sans"/>
              <a:buNone/>
            </a:pPr>
            <a:br>
              <a:rPr lang="en-US"/>
            </a:br>
            <a:r>
              <a:rPr lang="en-US"/>
              <a:t>Technical Support (420-1N6-AB)</a:t>
            </a:r>
            <a:br>
              <a:rPr lang="en-US"/>
            </a:br>
            <a:r>
              <a:rPr lang="en-US"/>
              <a:t>Bitwise Operations: ADD, XOR, SUBTRACT</a:t>
            </a:r>
            <a:endParaRPr/>
          </a:p>
        </p:txBody>
      </p:sp>
      <p:sp>
        <p:nvSpPr>
          <p:cNvPr id="128" name="Google Shape;128;p1"/>
          <p:cNvSpPr txBox="1"/>
          <p:nvPr>
            <p:ph idx="1" type="subTitle"/>
          </p:nvPr>
        </p:nvSpPr>
        <p:spPr>
          <a:xfrm>
            <a:off x="838202" y="5110609"/>
            <a:ext cx="11074877" cy="13764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/>
              <a:t>Fall 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ee6a8bc5c8_0_23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35" name="Google Shape;135;gee6a8bc5c8_0_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7662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How to perform addition in binary</a:t>
            </a:r>
            <a:endParaRPr/>
          </a:p>
          <a:p>
            <a:pPr indent="-331787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TLDR: It’s the same as decimal, with 2 </a:t>
            </a:r>
            <a:r>
              <a:rPr lang="en-US"/>
              <a:t>symbols</a:t>
            </a:r>
            <a:r>
              <a:rPr lang="en-US"/>
              <a:t> instead of 10</a:t>
            </a:r>
            <a:endParaRPr/>
          </a:p>
          <a:p>
            <a:pPr indent="-347662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How to perform XOR in binary</a:t>
            </a:r>
            <a:endParaRPr/>
          </a:p>
          <a:p>
            <a:pPr indent="-331787" lvl="1" marL="914400" rtl="0" algn="l">
              <a:lnSpc>
                <a:spcPct val="115000"/>
              </a:lnSpc>
              <a:spcBef>
                <a:spcPts val="78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TLDR: It’s the same as addition, without carrying</a:t>
            </a:r>
            <a:endParaRPr/>
          </a:p>
          <a:p>
            <a:pPr indent="-347662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How to perform subtraction in binary</a:t>
            </a:r>
            <a:endParaRPr/>
          </a:p>
          <a:p>
            <a:pPr indent="-331787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ct val="100000"/>
              <a:buChar char="•"/>
            </a:pPr>
            <a:r>
              <a:rPr b="1" lang="en-US"/>
              <a:t>The Two’s Complement method </a:t>
            </a:r>
            <a:r>
              <a:rPr lang="en-US"/>
              <a:t>is required</a:t>
            </a:r>
            <a:endParaRPr/>
          </a:p>
          <a:p>
            <a:pPr indent="-331787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What is </a:t>
            </a:r>
            <a:r>
              <a:rPr b="1" lang="en-US"/>
              <a:t>carryout?</a:t>
            </a:r>
            <a:r>
              <a:rPr lang="en-US"/>
              <a:t> What is </a:t>
            </a:r>
            <a:r>
              <a:rPr b="1" lang="en-US"/>
              <a:t>overflow?</a:t>
            </a:r>
            <a:endParaRPr/>
          </a:p>
          <a:p>
            <a:pPr indent="-347662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Examples</a:t>
            </a:r>
            <a:endParaRPr/>
          </a:p>
          <a:p>
            <a:pPr indent="-347662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ct val="115384"/>
              <a:buChar char="•"/>
            </a:pPr>
            <a:r>
              <a:rPr lang="en-US"/>
              <a:t>How to calculate 4 + (-20) in binary? [FULL SOLUTION]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Sample exercises given in class for Lab 8!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0e1b13ebf0_0_458"/>
          <p:cNvSpPr txBox="1"/>
          <p:nvPr>
            <p:ph type="title"/>
          </p:nvPr>
        </p:nvSpPr>
        <p:spPr>
          <a:xfrm>
            <a:off x="838201" y="2402238"/>
            <a:ext cx="10515600" cy="21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</a:pPr>
            <a:r>
              <a:rPr lang="en-US"/>
              <a:t>Bitwise ADD: Addition in Binary</a:t>
            </a:r>
            <a:endParaRPr/>
          </a:p>
        </p:txBody>
      </p:sp>
      <p:sp>
        <p:nvSpPr>
          <p:cNvPr id="142" name="Google Shape;142;g30e1b13ebf0_0_458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0e1b13ebf0_0_359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Decimal Math: Addition</a:t>
            </a:r>
            <a:endParaRPr/>
          </a:p>
        </p:txBody>
      </p:sp>
      <p:sp>
        <p:nvSpPr>
          <p:cNvPr id="148" name="Google Shape;148;g30e1b13ebf0_0_35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</a:pPr>
            <a:r>
              <a:t/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</a:pPr>
            <a:r>
              <a:t/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r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</a:pPr>
            <a:r>
              <a:rPr b="1" lang="en-US" sz="3200">
                <a:latin typeface="Courier New"/>
                <a:ea typeface="Courier New"/>
                <a:cs typeface="Courier New"/>
                <a:sym typeface="Courier New"/>
              </a:rPr>
              <a:t>1       6      5     1     0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</a:pPr>
            <a:r>
              <a:rPr b="1" lang="en-US" sz="3200">
                <a:latin typeface="Courier New"/>
                <a:ea typeface="Courier New"/>
                <a:cs typeface="Courier New"/>
                <a:sym typeface="Courier New"/>
              </a:rPr>
              <a:t>+        1       6      5     9     5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</a:pPr>
            <a:r>
              <a:rPr b="1" lang="en-US" sz="3200">
                <a:latin typeface="Courier New"/>
                <a:ea typeface="Courier New"/>
                <a:cs typeface="Courier New"/>
                <a:sym typeface="Courier New"/>
              </a:rPr>
              <a:t>-----------------------------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</a:pPr>
            <a:r>
              <a:rPr b="1" lang="en-US" sz="3200">
                <a:latin typeface="Courier New"/>
                <a:ea typeface="Courier New"/>
                <a:cs typeface="Courier New"/>
                <a:sym typeface="Courier New"/>
              </a:rPr>
              <a:t>?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49" name="Google Shape;149;g30e1b13ebf0_0_359"/>
          <p:cNvSpPr txBox="1"/>
          <p:nvPr/>
        </p:nvSpPr>
        <p:spPr>
          <a:xfrm>
            <a:off x="275975" y="1783275"/>
            <a:ext cx="24837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to add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two numbers 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decimal?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0e1b13ebf0_0_238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Decimal Math: Addition</a:t>
            </a:r>
            <a:endParaRPr/>
          </a:p>
        </p:txBody>
      </p:sp>
      <p:sp>
        <p:nvSpPr>
          <p:cNvPr id="155" name="Google Shape;155;g30e1b13ebf0_0_23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</a:pPr>
            <a:r>
              <a:rPr b="1" lang="en-US" sz="3200" u="sng">
                <a:latin typeface="Courier New"/>
                <a:ea typeface="Courier New"/>
                <a:cs typeface="Courier New"/>
                <a:sym typeface="Courier New"/>
              </a:rPr>
              <a:t>10,000’s</a:t>
            </a:r>
            <a:r>
              <a:rPr b="1" lang="en-US" sz="32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3200" u="sng">
                <a:latin typeface="Courier New"/>
                <a:ea typeface="Courier New"/>
                <a:cs typeface="Courier New"/>
                <a:sym typeface="Courier New"/>
              </a:rPr>
              <a:t>1,000’s</a:t>
            </a:r>
            <a:r>
              <a:rPr b="1" lang="en-US" sz="32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 sz="3200" u="sng">
                <a:latin typeface="Courier New"/>
                <a:ea typeface="Courier New"/>
                <a:cs typeface="Courier New"/>
                <a:sym typeface="Courier New"/>
              </a:rPr>
              <a:t>100’s</a:t>
            </a:r>
            <a:r>
              <a:rPr b="1" lang="en-US" sz="32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 sz="3200" u="sng">
                <a:latin typeface="Courier New"/>
                <a:ea typeface="Courier New"/>
                <a:cs typeface="Courier New"/>
                <a:sym typeface="Courier New"/>
              </a:rPr>
              <a:t>10’s</a:t>
            </a:r>
            <a:r>
              <a:rPr b="1" lang="en-US" sz="32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 sz="3200" u="sng">
                <a:latin typeface="Courier New"/>
                <a:ea typeface="Courier New"/>
                <a:cs typeface="Courier New"/>
                <a:sym typeface="Courier New"/>
              </a:rPr>
              <a:t>1’s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</a:pPr>
            <a:r>
              <a:t/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r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</a:pPr>
            <a:r>
              <a:rPr b="1" lang="en-US" sz="3200">
                <a:latin typeface="Courier New"/>
                <a:ea typeface="Courier New"/>
                <a:cs typeface="Courier New"/>
                <a:sym typeface="Courier New"/>
              </a:rPr>
              <a:t>1       6      5     1     0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</a:pPr>
            <a:r>
              <a:rPr b="1" lang="en-US" sz="3200">
                <a:latin typeface="Courier New"/>
                <a:ea typeface="Courier New"/>
                <a:cs typeface="Courier New"/>
                <a:sym typeface="Courier New"/>
              </a:rPr>
              <a:t>+        1       6      5     9     5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</a:pPr>
            <a:r>
              <a:rPr b="1" lang="en-US" sz="3200">
                <a:latin typeface="Courier New"/>
                <a:ea typeface="Courier New"/>
                <a:cs typeface="Courier New"/>
                <a:sym typeface="Courier New"/>
              </a:rPr>
              <a:t>-----------------------------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</a:pPr>
            <a:r>
              <a:rPr b="1" lang="en-US" sz="3200">
                <a:latin typeface="Courier New"/>
                <a:ea typeface="Courier New"/>
                <a:cs typeface="Courier New"/>
                <a:sym typeface="Courier New"/>
              </a:rPr>
              <a:t>3       3      1     0     5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56" name="Google Shape;156;g30e1b13ebf0_0_238"/>
          <p:cNvSpPr txBox="1"/>
          <p:nvPr/>
        </p:nvSpPr>
        <p:spPr>
          <a:xfrm>
            <a:off x="4093821" y="2626382"/>
            <a:ext cx="405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1          1        1</a:t>
            </a:r>
            <a:endParaRPr sz="2400">
              <a:solidFill>
                <a:srgbClr val="D247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7" name="Google Shape;157;g30e1b13ebf0_0_238"/>
          <p:cNvSpPr txBox="1"/>
          <p:nvPr/>
        </p:nvSpPr>
        <p:spPr>
          <a:xfrm>
            <a:off x="275975" y="1783275"/>
            <a:ext cx="24837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to add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two numbers 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decimal?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8" name="Google Shape;158;g30e1b13ebf0_0_238"/>
          <p:cNvSpPr txBox="1"/>
          <p:nvPr/>
        </p:nvSpPr>
        <p:spPr>
          <a:xfrm>
            <a:off x="275975" y="5633125"/>
            <a:ext cx="89139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Answer: line up columns by powers of 10, add each column, keep track of any carryover in next column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0e1b13ebf0_0_0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Binary Math: Addition</a:t>
            </a:r>
            <a:endParaRPr/>
          </a:p>
        </p:txBody>
      </p:sp>
      <p:sp>
        <p:nvSpPr>
          <p:cNvPr id="164" name="Google Shape;164;g30e1b13ebf0_0_0"/>
          <p:cNvSpPr txBox="1"/>
          <p:nvPr>
            <p:ph idx="1" type="body"/>
          </p:nvPr>
        </p:nvSpPr>
        <p:spPr>
          <a:xfrm>
            <a:off x="838199" y="1825625"/>
            <a:ext cx="8415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1    1    1    0    1    0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+        1    1    0    1    1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-----------------------------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?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t/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65" name="Google Shape;165;g30e1b13ebf0_0_0"/>
          <p:cNvSpPr txBox="1"/>
          <p:nvPr/>
        </p:nvSpPr>
        <p:spPr>
          <a:xfrm>
            <a:off x="2676082" y="2391490"/>
            <a:ext cx="424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D247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6" name="Google Shape;166;g30e1b13ebf0_0_0"/>
          <p:cNvSpPr txBox="1"/>
          <p:nvPr/>
        </p:nvSpPr>
        <p:spPr>
          <a:xfrm>
            <a:off x="275975" y="1783275"/>
            <a:ext cx="24837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to add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two numbers 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</a:t>
            </a:r>
            <a:r>
              <a:rPr b="1"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binary</a:t>
            </a: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?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0e1b13ebf0_0_367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Binary Math: Addition</a:t>
            </a:r>
            <a:endParaRPr/>
          </a:p>
        </p:txBody>
      </p:sp>
      <p:sp>
        <p:nvSpPr>
          <p:cNvPr id="172" name="Google Shape;172;g30e1b13ebf0_0_367"/>
          <p:cNvSpPr txBox="1"/>
          <p:nvPr>
            <p:ph idx="1" type="body"/>
          </p:nvPr>
        </p:nvSpPr>
        <p:spPr>
          <a:xfrm>
            <a:off x="838199" y="1825625"/>
            <a:ext cx="8415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b="1" lang="en-US" sz="2400" u="sng">
                <a:latin typeface="Courier New"/>
                <a:ea typeface="Courier New"/>
                <a:cs typeface="Courier New"/>
                <a:sym typeface="Courier New"/>
              </a:rPr>
              <a:t>64’s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2400" u="sng">
                <a:latin typeface="Courier New"/>
                <a:ea typeface="Courier New"/>
                <a:cs typeface="Courier New"/>
                <a:sym typeface="Courier New"/>
              </a:rPr>
              <a:t>32’s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 sz="2400" u="sng">
                <a:latin typeface="Courier New"/>
                <a:ea typeface="Courier New"/>
                <a:cs typeface="Courier New"/>
                <a:sym typeface="Courier New"/>
              </a:rPr>
              <a:t>16’s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 sz="2400" u="sng">
                <a:latin typeface="Courier New"/>
                <a:ea typeface="Courier New"/>
                <a:cs typeface="Courier New"/>
                <a:sym typeface="Courier New"/>
              </a:rPr>
              <a:t>8’s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 sz="2400" u="sng">
                <a:latin typeface="Courier New"/>
                <a:ea typeface="Courier New"/>
                <a:cs typeface="Courier New"/>
                <a:sym typeface="Courier New"/>
              </a:rPr>
              <a:t>4’s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 sz="2400" u="sng">
                <a:latin typeface="Courier New"/>
                <a:ea typeface="Courier New"/>
                <a:cs typeface="Courier New"/>
                <a:sym typeface="Courier New"/>
              </a:rPr>
              <a:t>2’s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 sz="2400" u="sng">
                <a:latin typeface="Courier New"/>
                <a:ea typeface="Courier New"/>
                <a:cs typeface="Courier New"/>
                <a:sym typeface="Courier New"/>
              </a:rPr>
              <a:t>1’s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1    1    1    0    1    0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+               1    1    0    1    1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-----------------------------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		1   0    1    0    1    0    1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t/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73" name="Google Shape;173;g30e1b13ebf0_0_367"/>
          <p:cNvSpPr txBox="1"/>
          <p:nvPr/>
        </p:nvSpPr>
        <p:spPr>
          <a:xfrm>
            <a:off x="2676075" y="2391500"/>
            <a:ext cx="521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24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1   1    1           1</a:t>
            </a:r>
            <a:endParaRPr sz="2400">
              <a:solidFill>
                <a:srgbClr val="D247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4" name="Google Shape;174;g30e1b13ebf0_0_367"/>
          <p:cNvSpPr txBox="1"/>
          <p:nvPr/>
        </p:nvSpPr>
        <p:spPr>
          <a:xfrm>
            <a:off x="275975" y="1783275"/>
            <a:ext cx="24837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to add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two numbers 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</a:t>
            </a:r>
            <a:r>
              <a:rPr b="1"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binary</a:t>
            </a: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?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5" name="Google Shape;175;g30e1b13ebf0_0_367"/>
          <p:cNvSpPr txBox="1"/>
          <p:nvPr/>
        </p:nvSpPr>
        <p:spPr>
          <a:xfrm>
            <a:off x="275975" y="5633125"/>
            <a:ext cx="89139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Answer: line up columns by powers of 2, add each column, keep track of any carryover in next column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0e1b13ebf0_0_374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Binary Math: Addition</a:t>
            </a:r>
            <a:endParaRPr/>
          </a:p>
        </p:txBody>
      </p:sp>
      <p:sp>
        <p:nvSpPr>
          <p:cNvPr id="181" name="Google Shape;181;g30e1b13ebf0_0_374"/>
          <p:cNvSpPr txBox="1"/>
          <p:nvPr>
            <p:ph idx="1" type="body"/>
          </p:nvPr>
        </p:nvSpPr>
        <p:spPr>
          <a:xfrm>
            <a:off x="838199" y="1825625"/>
            <a:ext cx="8415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b="1" lang="en-US" sz="2400" u="sng">
                <a:latin typeface="Courier New"/>
                <a:ea typeface="Courier New"/>
                <a:cs typeface="Courier New"/>
                <a:sym typeface="Courier New"/>
              </a:rPr>
              <a:t>64’s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2400" u="sng">
                <a:latin typeface="Courier New"/>
                <a:ea typeface="Courier New"/>
                <a:cs typeface="Courier New"/>
                <a:sym typeface="Courier New"/>
              </a:rPr>
              <a:t>32’s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 sz="2400" u="sng">
                <a:latin typeface="Courier New"/>
                <a:ea typeface="Courier New"/>
                <a:cs typeface="Courier New"/>
                <a:sym typeface="Courier New"/>
              </a:rPr>
              <a:t>16’s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 sz="2400" u="sng">
                <a:latin typeface="Courier New"/>
                <a:ea typeface="Courier New"/>
                <a:cs typeface="Courier New"/>
                <a:sym typeface="Courier New"/>
              </a:rPr>
              <a:t>8’s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 sz="2400" u="sng">
                <a:latin typeface="Courier New"/>
                <a:ea typeface="Courier New"/>
                <a:cs typeface="Courier New"/>
                <a:sym typeface="Courier New"/>
              </a:rPr>
              <a:t>4’s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 sz="2400" u="sng">
                <a:latin typeface="Courier New"/>
                <a:ea typeface="Courier New"/>
                <a:cs typeface="Courier New"/>
                <a:sym typeface="Courier New"/>
              </a:rPr>
              <a:t>2’s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 sz="2400" u="sng">
                <a:latin typeface="Courier New"/>
                <a:ea typeface="Courier New"/>
                <a:cs typeface="Courier New"/>
                <a:sym typeface="Courier New"/>
              </a:rPr>
              <a:t>1’s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1    1    1    0    1    0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+               1    1    0    1    1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-----------------------------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		1   0    1    0    1    0    1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t/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Char char="•"/>
            </a:pPr>
            <a:r>
              <a:rPr lang="en-US" sz="2800"/>
              <a:t>Pro tip: </a:t>
            </a:r>
            <a:r>
              <a:rPr lang="en-US" sz="2800"/>
              <a:t>Double check results by converting to  decimal. Should give same result.</a:t>
            </a:r>
            <a:endParaRPr sz="2800"/>
          </a:p>
        </p:txBody>
      </p:sp>
      <p:sp>
        <p:nvSpPr>
          <p:cNvPr id="182" name="Google Shape;182;g30e1b13ebf0_0_374"/>
          <p:cNvSpPr txBox="1"/>
          <p:nvPr>
            <p:ph idx="2" type="body"/>
          </p:nvPr>
        </p:nvSpPr>
        <p:spPr>
          <a:xfrm>
            <a:off x="9580228" y="1825625"/>
            <a:ext cx="1773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24726"/>
              </a:buClr>
              <a:buSzPts val="2800"/>
              <a:buNone/>
            </a:pPr>
            <a:r>
              <a:rPr b="1" lang="en-US" sz="2800" u="sng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Dec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t/>
            </a:r>
            <a:endParaRPr b="1" sz="2800">
              <a:solidFill>
                <a:srgbClr val="D2472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D24726"/>
              </a:buClr>
              <a:buSzPts val="2800"/>
              <a:buNone/>
            </a:pPr>
            <a:r>
              <a:rPr b="1" lang="en-US" sz="28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  58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D24726"/>
              </a:buClr>
              <a:buSzPts val="2800"/>
              <a:buNone/>
            </a:pPr>
            <a:r>
              <a:rPr b="1" lang="en-US" sz="28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+ 27</a:t>
            </a:r>
            <a:br>
              <a:rPr b="1" lang="en-US" sz="28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28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-------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D24726"/>
              </a:buClr>
              <a:buSzPts val="2800"/>
              <a:buNone/>
            </a:pPr>
            <a:r>
              <a:rPr b="1" lang="en-US" sz="28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  85</a:t>
            </a:r>
            <a:endParaRPr/>
          </a:p>
        </p:txBody>
      </p:sp>
      <p:sp>
        <p:nvSpPr>
          <p:cNvPr id="183" name="Google Shape;183;g30e1b13ebf0_0_374"/>
          <p:cNvSpPr txBox="1"/>
          <p:nvPr/>
        </p:nvSpPr>
        <p:spPr>
          <a:xfrm>
            <a:off x="2676075" y="2391500"/>
            <a:ext cx="449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24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1   1    1           1</a:t>
            </a:r>
            <a:endParaRPr sz="2400">
              <a:solidFill>
                <a:srgbClr val="D247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0e1b13ebf0_0_625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Binary Math: Addition (more than two numbers)</a:t>
            </a:r>
            <a:endParaRPr/>
          </a:p>
        </p:txBody>
      </p:sp>
      <p:sp>
        <p:nvSpPr>
          <p:cNvPr id="189" name="Google Shape;189;g30e1b13ebf0_0_625"/>
          <p:cNvSpPr txBox="1"/>
          <p:nvPr>
            <p:ph idx="1" type="body"/>
          </p:nvPr>
        </p:nvSpPr>
        <p:spPr>
          <a:xfrm>
            <a:off x="838200" y="1520825"/>
            <a:ext cx="8415000" cy="49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b="1" lang="en-US" sz="2400" u="sng">
                <a:latin typeface="Courier New"/>
                <a:ea typeface="Courier New"/>
                <a:cs typeface="Courier New"/>
                <a:sym typeface="Courier New"/>
              </a:rPr>
              <a:t>64’s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2400" u="sng">
                <a:latin typeface="Courier New"/>
                <a:ea typeface="Courier New"/>
                <a:cs typeface="Courier New"/>
                <a:sym typeface="Courier New"/>
              </a:rPr>
              <a:t>32’s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 sz="2400" u="sng">
                <a:latin typeface="Courier New"/>
                <a:ea typeface="Courier New"/>
                <a:cs typeface="Courier New"/>
                <a:sym typeface="Courier New"/>
              </a:rPr>
              <a:t>16’s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 sz="2400" u="sng">
                <a:latin typeface="Courier New"/>
                <a:ea typeface="Courier New"/>
                <a:cs typeface="Courier New"/>
                <a:sym typeface="Courier New"/>
              </a:rPr>
              <a:t>8’s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 sz="2400" u="sng">
                <a:latin typeface="Courier New"/>
                <a:ea typeface="Courier New"/>
                <a:cs typeface="Courier New"/>
                <a:sym typeface="Courier New"/>
              </a:rPr>
              <a:t>4’s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 sz="2400" u="sng">
                <a:latin typeface="Courier New"/>
                <a:ea typeface="Courier New"/>
                <a:cs typeface="Courier New"/>
                <a:sym typeface="Courier New"/>
              </a:rPr>
              <a:t>2’s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 sz="2400" u="sng">
                <a:latin typeface="Courier New"/>
                <a:ea typeface="Courier New"/>
                <a:cs typeface="Courier New"/>
                <a:sym typeface="Courier New"/>
              </a:rPr>
              <a:t>1’s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1    1    1    0    1    0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            1    1    0    1    1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                    1	  0	  1	   </a:t>
            </a: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-----------------------------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		1   0    1    1    1    1    1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t/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Char char="•"/>
            </a:pPr>
            <a:r>
              <a:rPr lang="en-US" sz="2800"/>
              <a:t>You can add more than two numbers this way!</a:t>
            </a:r>
            <a:endParaRPr sz="2800"/>
          </a:p>
          <a:p>
            <a:pPr indent="-228600" lvl="0" marL="2286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Just make sure you don’t lose track of the carries.</a:t>
            </a:r>
            <a:endParaRPr sz="2800"/>
          </a:p>
        </p:txBody>
      </p:sp>
      <p:sp>
        <p:nvSpPr>
          <p:cNvPr id="190" name="Google Shape;190;g30e1b13ebf0_0_625"/>
          <p:cNvSpPr txBox="1"/>
          <p:nvPr>
            <p:ph idx="2" type="body"/>
          </p:nvPr>
        </p:nvSpPr>
        <p:spPr>
          <a:xfrm>
            <a:off x="9580225" y="1444625"/>
            <a:ext cx="1773600" cy="50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24726"/>
              </a:buClr>
              <a:buSzPts val="2800"/>
              <a:buNone/>
            </a:pPr>
            <a:r>
              <a:rPr b="1" lang="en-US" sz="2800" u="sng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Dec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t/>
            </a:r>
            <a:endParaRPr b="1" sz="2800">
              <a:solidFill>
                <a:srgbClr val="D2472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D24726"/>
              </a:buClr>
              <a:buSzPts val="2800"/>
              <a:buNone/>
            </a:pPr>
            <a:r>
              <a:rPr b="1" lang="en-US" sz="28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  58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D24726"/>
              </a:buClr>
              <a:buSzPts val="2800"/>
              <a:buNone/>
            </a:pPr>
            <a:r>
              <a:rPr b="1" lang="en-US" sz="28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28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 27</a:t>
            </a:r>
            <a:endParaRPr b="1" sz="2800">
              <a:solidFill>
                <a:srgbClr val="D2472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D24726"/>
              </a:buClr>
              <a:buSzPts val="2800"/>
              <a:buNone/>
            </a:pPr>
            <a:r>
              <a:rPr b="1" lang="en-US" sz="28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  + 10</a:t>
            </a:r>
            <a:br>
              <a:rPr b="1" lang="en-US" sz="28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28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-------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D24726"/>
              </a:buClr>
              <a:buSzPts val="2800"/>
              <a:buNone/>
            </a:pPr>
            <a:r>
              <a:rPr b="1" lang="en-US" sz="28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  95</a:t>
            </a:r>
            <a:endParaRPr/>
          </a:p>
        </p:txBody>
      </p:sp>
      <p:sp>
        <p:nvSpPr>
          <p:cNvPr id="191" name="Google Shape;191;g30e1b13ebf0_0_625"/>
          <p:cNvSpPr txBox="1"/>
          <p:nvPr/>
        </p:nvSpPr>
        <p:spPr>
          <a:xfrm>
            <a:off x="2676075" y="1934300"/>
            <a:ext cx="643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 1   1    1           1</a:t>
            </a:r>
            <a:endParaRPr sz="2400">
              <a:solidFill>
                <a:srgbClr val="D247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0e1b13ebf0_0_586"/>
          <p:cNvSpPr txBox="1"/>
          <p:nvPr>
            <p:ph type="title"/>
          </p:nvPr>
        </p:nvSpPr>
        <p:spPr>
          <a:xfrm>
            <a:off x="838201" y="2402238"/>
            <a:ext cx="10515600" cy="21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</a:pPr>
            <a:r>
              <a:rPr lang="en-US"/>
              <a:t>Bitwise XOR: The XOR operation</a:t>
            </a:r>
            <a:endParaRPr/>
          </a:p>
        </p:txBody>
      </p:sp>
      <p:sp>
        <p:nvSpPr>
          <p:cNvPr id="198" name="Google Shape;198;g30e1b13ebf0_0_586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0e1b13ebf0_0_598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Binary Math: XOR</a:t>
            </a:r>
            <a:endParaRPr/>
          </a:p>
        </p:txBody>
      </p:sp>
      <p:sp>
        <p:nvSpPr>
          <p:cNvPr id="204" name="Google Shape;204;g30e1b13ebf0_0_598"/>
          <p:cNvSpPr txBox="1"/>
          <p:nvPr>
            <p:ph idx="1" type="body"/>
          </p:nvPr>
        </p:nvSpPr>
        <p:spPr>
          <a:xfrm>
            <a:off x="838199" y="1825625"/>
            <a:ext cx="8415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1    1    1    0    1    0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⊕</a:t>
            </a: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     1    1    0    1    1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-----------------------------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?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t/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05" name="Google Shape;205;g30e1b13ebf0_0_598"/>
          <p:cNvSpPr txBox="1"/>
          <p:nvPr/>
        </p:nvSpPr>
        <p:spPr>
          <a:xfrm>
            <a:off x="2676082" y="2391490"/>
            <a:ext cx="424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D247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6" name="Google Shape;206;g30e1b13ebf0_0_598"/>
          <p:cNvSpPr txBox="1"/>
          <p:nvPr/>
        </p:nvSpPr>
        <p:spPr>
          <a:xfrm>
            <a:off x="275975" y="1783275"/>
            <a:ext cx="24837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to </a:t>
            </a:r>
            <a:r>
              <a:rPr b="1"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XOR</a:t>
            </a:r>
            <a:endParaRPr b="1"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two numbers 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</a:t>
            </a:r>
            <a:r>
              <a:rPr b="1"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binary</a:t>
            </a: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?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0e1b13ebf0_0_605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Binary Math: XOR</a:t>
            </a:r>
            <a:endParaRPr/>
          </a:p>
        </p:txBody>
      </p:sp>
      <p:sp>
        <p:nvSpPr>
          <p:cNvPr id="212" name="Google Shape;212;g30e1b13ebf0_0_605"/>
          <p:cNvSpPr txBox="1"/>
          <p:nvPr>
            <p:ph idx="1" type="body"/>
          </p:nvPr>
        </p:nvSpPr>
        <p:spPr>
          <a:xfrm>
            <a:off x="838199" y="1825625"/>
            <a:ext cx="8415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1    1    1    0    1    0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⊕</a:t>
            </a: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0    1    1    0    1    1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-----------------------------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		   1    0    0    0    0    1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t/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13" name="Google Shape;213;g30e1b13ebf0_0_605"/>
          <p:cNvSpPr txBox="1"/>
          <p:nvPr/>
        </p:nvSpPr>
        <p:spPr>
          <a:xfrm>
            <a:off x="275975" y="1783275"/>
            <a:ext cx="24837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to </a:t>
            </a:r>
            <a:r>
              <a:rPr b="1"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XOR</a:t>
            </a:r>
            <a:endParaRPr b="1"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two numbers 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</a:t>
            </a:r>
            <a:r>
              <a:rPr b="1"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binary</a:t>
            </a: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?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4" name="Google Shape;214;g30e1b13ebf0_0_605"/>
          <p:cNvSpPr txBox="1"/>
          <p:nvPr/>
        </p:nvSpPr>
        <p:spPr>
          <a:xfrm>
            <a:off x="214525" y="5018600"/>
            <a:ext cx="9775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Answer: </a:t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-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 logical XOR on each input (shown </a:t>
            </a: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explicit</a:t>
            </a: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 0’s column)</a:t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-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 only if inputs don’t match, 0 otherwise</a:t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-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 is the same as addition, but don’t keep track of carry.</a:t>
            </a:r>
            <a:b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15" name="Google Shape;215;g30e1b13ebf0_0_6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53200" y="2669100"/>
            <a:ext cx="1972024" cy="925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0e1b13ebf0_0_605"/>
          <p:cNvSpPr/>
          <p:nvPr/>
        </p:nvSpPr>
        <p:spPr>
          <a:xfrm>
            <a:off x="9082775" y="2266874"/>
            <a:ext cx="435300" cy="772050"/>
          </a:xfrm>
          <a:custGeom>
            <a:rect b="b" l="l" r="r" t="t"/>
            <a:pathLst>
              <a:path extrusionOk="0" h="30882" w="17412">
                <a:moveTo>
                  <a:pt x="0" y="14554"/>
                </a:moveTo>
                <a:cubicBezTo>
                  <a:pt x="1735" y="8481"/>
                  <a:pt x="7051" y="-2332"/>
                  <a:pt x="12700" y="493"/>
                </a:cubicBezTo>
                <a:cubicBezTo>
                  <a:pt x="18112" y="3199"/>
                  <a:pt x="17778" y="12213"/>
                  <a:pt x="16782" y="18182"/>
                </a:cubicBezTo>
                <a:cubicBezTo>
                  <a:pt x="16337" y="20850"/>
                  <a:pt x="13810" y="22815"/>
                  <a:pt x="13153" y="25439"/>
                </a:cubicBezTo>
                <a:cubicBezTo>
                  <a:pt x="12602" y="27639"/>
                  <a:pt x="15083" y="30165"/>
                  <a:pt x="17235" y="30882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7" name="Google Shape;217;g30e1b13ebf0_0_605"/>
          <p:cNvSpPr/>
          <p:nvPr/>
        </p:nvSpPr>
        <p:spPr>
          <a:xfrm>
            <a:off x="9207500" y="3254375"/>
            <a:ext cx="444775" cy="443600"/>
          </a:xfrm>
          <a:custGeom>
            <a:rect b="b" l="l" r="r" t="t"/>
            <a:pathLst>
              <a:path extrusionOk="0" h="17744" w="17791">
                <a:moveTo>
                  <a:pt x="0" y="8164"/>
                </a:moveTo>
                <a:cubicBezTo>
                  <a:pt x="5461" y="9986"/>
                  <a:pt x="10899" y="20854"/>
                  <a:pt x="14968" y="16782"/>
                </a:cubicBezTo>
                <a:cubicBezTo>
                  <a:pt x="17463" y="14285"/>
                  <a:pt x="18739" y="9287"/>
                  <a:pt x="16782" y="6350"/>
                </a:cubicBezTo>
                <a:cubicBezTo>
                  <a:pt x="15339" y="4185"/>
                  <a:pt x="12246" y="2601"/>
                  <a:pt x="12246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8" name="Google Shape;218;g30e1b13ebf0_0_605"/>
          <p:cNvSpPr/>
          <p:nvPr/>
        </p:nvSpPr>
        <p:spPr>
          <a:xfrm>
            <a:off x="9411600" y="3106975"/>
            <a:ext cx="1987800" cy="1357400"/>
          </a:xfrm>
          <a:custGeom>
            <a:rect b="b" l="l" r="r" t="t"/>
            <a:pathLst>
              <a:path extrusionOk="0" h="54296" w="79512">
                <a:moveTo>
                  <a:pt x="65768" y="0"/>
                </a:moveTo>
                <a:cubicBezTo>
                  <a:pt x="72369" y="4123"/>
                  <a:pt x="74911" y="12944"/>
                  <a:pt x="77107" y="20410"/>
                </a:cubicBezTo>
                <a:cubicBezTo>
                  <a:pt x="79244" y="27675"/>
                  <a:pt x="81661" y="38359"/>
                  <a:pt x="75747" y="43089"/>
                </a:cubicBezTo>
                <a:cubicBezTo>
                  <a:pt x="55859" y="58996"/>
                  <a:pt x="25467" y="53067"/>
                  <a:pt x="0" y="5306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9" name="Google Shape;219;g30e1b13ebf0_0_605"/>
          <p:cNvSpPr/>
          <p:nvPr/>
        </p:nvSpPr>
        <p:spPr>
          <a:xfrm>
            <a:off x="9253448" y="4229550"/>
            <a:ext cx="336175" cy="383800"/>
          </a:xfrm>
          <a:custGeom>
            <a:rect b="b" l="l" r="r" t="t"/>
            <a:pathLst>
              <a:path extrusionOk="0" h="15352" w="13447">
                <a:moveTo>
                  <a:pt x="7233" y="0"/>
                </a:moveTo>
                <a:cubicBezTo>
                  <a:pt x="4752" y="1862"/>
                  <a:pt x="-1290" y="3769"/>
                  <a:pt x="430" y="6350"/>
                </a:cubicBezTo>
                <a:cubicBezTo>
                  <a:pt x="1106" y="7364"/>
                  <a:pt x="2876" y="6509"/>
                  <a:pt x="4058" y="6804"/>
                </a:cubicBezTo>
                <a:cubicBezTo>
                  <a:pt x="8005" y="7789"/>
                  <a:pt x="14948" y="11328"/>
                  <a:pt x="13130" y="14968"/>
                </a:cubicBezTo>
                <a:cubicBezTo>
                  <a:pt x="12399" y="16431"/>
                  <a:pt x="11139" y="12349"/>
                  <a:pt x="10408" y="10886"/>
                </a:cubicBezTo>
                <a:cubicBezTo>
                  <a:pt x="8975" y="8020"/>
                  <a:pt x="8666" y="4680"/>
                  <a:pt x="7233" y="181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0e1b13ebf0_0_632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Binary Math: XOR, multiple numbers</a:t>
            </a:r>
            <a:endParaRPr/>
          </a:p>
        </p:txBody>
      </p:sp>
      <p:sp>
        <p:nvSpPr>
          <p:cNvPr id="225" name="Google Shape;225;g30e1b13ebf0_0_632"/>
          <p:cNvSpPr txBox="1"/>
          <p:nvPr>
            <p:ph idx="1" type="body"/>
          </p:nvPr>
        </p:nvSpPr>
        <p:spPr>
          <a:xfrm>
            <a:off x="838200" y="987425"/>
            <a:ext cx="96495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1    1    1    0    1    0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ct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               0</a:t>
            </a: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 1    0    0    1    0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⊕</a:t>
            </a: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0    1    1    0    0    1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-----------------------------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		   ?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t/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26" name="Google Shape;226;g30e1b13ebf0_0_632"/>
          <p:cNvSpPr txBox="1"/>
          <p:nvPr/>
        </p:nvSpPr>
        <p:spPr>
          <a:xfrm>
            <a:off x="275975" y="1783275"/>
            <a:ext cx="24837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to </a:t>
            </a:r>
            <a:r>
              <a:rPr b="1"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XOR</a:t>
            </a:r>
            <a:endParaRPr b="1"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multiple</a:t>
            </a: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numbers 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</a:t>
            </a:r>
            <a:r>
              <a:rPr b="1"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binary</a:t>
            </a: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?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7" name="Google Shape;227;g30e1b13ebf0_0_632"/>
          <p:cNvSpPr txBox="1"/>
          <p:nvPr/>
        </p:nvSpPr>
        <p:spPr>
          <a:xfrm>
            <a:off x="208900" y="4446750"/>
            <a:ext cx="10805700" cy="2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0e1b13ebf0_0_646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Binary Math: XOR, multiple numbers</a:t>
            </a:r>
            <a:endParaRPr/>
          </a:p>
        </p:txBody>
      </p:sp>
      <p:sp>
        <p:nvSpPr>
          <p:cNvPr id="233" name="Google Shape;233;g30e1b13ebf0_0_646"/>
          <p:cNvSpPr txBox="1"/>
          <p:nvPr>
            <p:ph idx="1" type="body"/>
          </p:nvPr>
        </p:nvSpPr>
        <p:spPr>
          <a:xfrm>
            <a:off x="838200" y="987425"/>
            <a:ext cx="96495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1    1    1    0    1    0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ct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               0    1    0    0    1    0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⊕</a:t>
            </a: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0    1    1    0    0    1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-----------------------------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		   1    1    0    0    0    1</a:t>
            </a:r>
            <a:endParaRPr>
              <a:solidFill>
                <a:srgbClr val="C00000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t/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34" name="Google Shape;234;g30e1b13ebf0_0_646"/>
          <p:cNvSpPr txBox="1"/>
          <p:nvPr/>
        </p:nvSpPr>
        <p:spPr>
          <a:xfrm>
            <a:off x="275975" y="1783275"/>
            <a:ext cx="24837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to </a:t>
            </a:r>
            <a:r>
              <a:rPr b="1"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XOR</a:t>
            </a:r>
            <a:endParaRPr b="1"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multiple numbers 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</a:t>
            </a:r>
            <a:r>
              <a:rPr b="1"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binary</a:t>
            </a: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?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5" name="Google Shape;235;g30e1b13ebf0_0_646"/>
          <p:cNvSpPr txBox="1"/>
          <p:nvPr/>
        </p:nvSpPr>
        <p:spPr>
          <a:xfrm>
            <a:off x="208900" y="4599150"/>
            <a:ext cx="10805700" cy="2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Answer: still the same as addition, without the carry</a:t>
            </a:r>
            <a:b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Note:</a:t>
            </a: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 there are an </a:t>
            </a:r>
            <a:r>
              <a:rPr b="1"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odd</a:t>
            </a: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number of </a:t>
            </a:r>
            <a:r>
              <a:rPr b="1"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values</a:t>
            </a: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 XOR, what’s the answer? </a:t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 there are an </a:t>
            </a:r>
            <a:r>
              <a:rPr b="1"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even </a:t>
            </a: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number of </a:t>
            </a:r>
            <a:r>
              <a:rPr b="1"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values</a:t>
            </a: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 XOR, what’s the answer?</a:t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g30e1b13ebf0_0_6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1459725"/>
            <a:ext cx="4863375" cy="459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0e1b13ebf0_0_639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Binary Math: XOR, forbidden knowledge</a:t>
            </a:r>
            <a:endParaRPr/>
          </a:p>
        </p:txBody>
      </p:sp>
      <p:sp>
        <p:nvSpPr>
          <p:cNvPr id="242" name="Google Shape;242;g30e1b13ebf0_0_639"/>
          <p:cNvSpPr txBox="1"/>
          <p:nvPr/>
        </p:nvSpPr>
        <p:spPr>
          <a:xfrm>
            <a:off x="275975" y="1783275"/>
            <a:ext cx="24837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</a:t>
            </a: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XOR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any</a:t>
            </a: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number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 numbers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</a:t>
            </a: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binary</a:t>
            </a: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?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3" name="Google Shape;243;g30e1b13ebf0_0_639"/>
          <p:cNvSpPr/>
          <p:nvPr/>
        </p:nvSpPr>
        <p:spPr>
          <a:xfrm>
            <a:off x="7367797" y="3594381"/>
            <a:ext cx="1527900" cy="141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44" name="Google Shape;244;g30e1b13ebf0_0_6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0245" y="3568513"/>
            <a:ext cx="1546021" cy="146205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30e1b13ebf0_0_639"/>
          <p:cNvSpPr txBox="1"/>
          <p:nvPr/>
        </p:nvSpPr>
        <p:spPr>
          <a:xfrm>
            <a:off x="8572100" y="4673200"/>
            <a:ext cx="15978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OPERATION</a:t>
            </a:r>
            <a:endParaRPr b="1" sz="24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cxnSp>
        <p:nvCxnSpPr>
          <p:cNvPr id="246" name="Google Shape;246;g30e1b13ebf0_0_639"/>
          <p:cNvCxnSpPr/>
          <p:nvPr/>
        </p:nvCxnSpPr>
        <p:spPr>
          <a:xfrm>
            <a:off x="8717456" y="5275819"/>
            <a:ext cx="604200" cy="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g30e1b13ebf0_0_639"/>
          <p:cNvSpPr txBox="1"/>
          <p:nvPr>
            <p:ph idx="1" type="body"/>
          </p:nvPr>
        </p:nvSpPr>
        <p:spPr>
          <a:xfrm>
            <a:off x="2568600" y="2495700"/>
            <a:ext cx="3527400" cy="18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why we have this “⊕” at all??</a:t>
            </a: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48" name="Google Shape;248;g30e1b13ebf0_0_639"/>
          <p:cNvSpPr txBox="1"/>
          <p:nvPr/>
        </p:nvSpPr>
        <p:spPr>
          <a:xfrm>
            <a:off x="9486499" y="3260375"/>
            <a:ext cx="11529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DOMAINS</a:t>
            </a:r>
            <a:endParaRPr b="1" sz="16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0e1b13ebf0_0_653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Binary Math: XOR, forbidden knowledge</a:t>
            </a:r>
            <a:endParaRPr/>
          </a:p>
        </p:txBody>
      </p:sp>
      <p:sp>
        <p:nvSpPr>
          <p:cNvPr id="254" name="Google Shape;254;g30e1b13ebf0_0_653"/>
          <p:cNvSpPr txBox="1"/>
          <p:nvPr>
            <p:ph idx="1" type="body"/>
          </p:nvPr>
        </p:nvSpPr>
        <p:spPr>
          <a:xfrm>
            <a:off x="838200" y="987425"/>
            <a:ext cx="96495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t/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ct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               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why bother with “⊕” at all?</a:t>
            </a: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/>
          </a:p>
          <a:p>
            <a:pPr indent="-228600" lvl="0" marL="22860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t/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55" name="Google Shape;255;g30e1b13ebf0_0_653"/>
          <p:cNvSpPr txBox="1"/>
          <p:nvPr/>
        </p:nvSpPr>
        <p:spPr>
          <a:xfrm>
            <a:off x="275975" y="1783275"/>
            <a:ext cx="24837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</a:t>
            </a: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XOR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any number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 numbers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binary?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6" name="Google Shape;256;g30e1b13ebf0_0_653"/>
          <p:cNvSpPr txBox="1"/>
          <p:nvPr/>
        </p:nvSpPr>
        <p:spPr>
          <a:xfrm>
            <a:off x="208900" y="4751550"/>
            <a:ext cx="10805700" cy="19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Answer: </a:t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-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you’ll need to for Assignment 2</a:t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-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note I left in the multiple XOR operations slide shows what XOR can be useful for</a:t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-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surprisingly large number other things I’ll tell you about in class</a:t>
            </a:r>
            <a:b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0e1b13ebf0_0_592"/>
          <p:cNvSpPr txBox="1"/>
          <p:nvPr>
            <p:ph type="title"/>
          </p:nvPr>
        </p:nvSpPr>
        <p:spPr>
          <a:xfrm>
            <a:off x="838201" y="2402238"/>
            <a:ext cx="10515600" cy="21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</a:pPr>
            <a:r>
              <a:rPr lang="en-US"/>
              <a:t>Subtraction in Binary</a:t>
            </a:r>
            <a:endParaRPr/>
          </a:p>
        </p:txBody>
      </p:sp>
      <p:sp>
        <p:nvSpPr>
          <p:cNvPr id="263" name="Google Shape;263;g30e1b13ebf0_0_592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0e1b13ebf0_0_7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Subtraction: Negative Numbers</a:t>
            </a:r>
            <a:endParaRPr/>
          </a:p>
        </p:txBody>
      </p:sp>
      <p:sp>
        <p:nvSpPr>
          <p:cNvPr id="269" name="Google Shape;269;g30e1b13ebf0_0_7"/>
          <p:cNvSpPr txBox="1"/>
          <p:nvPr>
            <p:ph idx="1" type="body"/>
          </p:nvPr>
        </p:nvSpPr>
        <p:spPr>
          <a:xfrm>
            <a:off x="838200" y="1825625"/>
            <a:ext cx="10579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600"/>
              <a:t>To perform </a:t>
            </a:r>
            <a:r>
              <a:rPr b="1" lang="en-US" sz="2600"/>
              <a:t>subtraction</a:t>
            </a:r>
            <a:r>
              <a:rPr lang="en-US" sz="2600"/>
              <a:t>, we can </a:t>
            </a:r>
            <a:r>
              <a:rPr b="1" lang="en-US" sz="2600"/>
              <a:t>add</a:t>
            </a:r>
            <a:r>
              <a:rPr lang="en-US" sz="2600"/>
              <a:t> a negative number</a:t>
            </a:r>
            <a:endParaRPr sz="2600"/>
          </a:p>
          <a:p>
            <a:pPr indent="45720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600"/>
              <a:t>But for that, we need negative numbers!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Not all numbers are positive.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Winter weather temperatures in Canada ☹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Bank accounts … ☹☹☹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Clearly, computers need to represent both</a:t>
            </a:r>
            <a:br>
              <a:rPr lang="en-US"/>
            </a:br>
            <a:r>
              <a:rPr lang="en-US"/>
              <a:t>positive and negative numbers.</a:t>
            </a:r>
            <a:endParaRPr/>
          </a:p>
          <a:p>
            <a:pPr indent="-38100" lvl="0" marL="2286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t/>
            </a:r>
            <a:endParaRPr/>
          </a:p>
        </p:txBody>
      </p:sp>
      <p:pic>
        <p:nvPicPr>
          <p:cNvPr descr="A screenshot of a cell phone&#10;&#10;Description generated with very high confidence" id="270" name="Google Shape;270;g30e1b13ebf0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2544" y="2480641"/>
            <a:ext cx="2662805" cy="1993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outdoor, device, person, skiing&#10;&#10;Description generated with very high confidence" id="271" name="Google Shape;271;g30e1b13ebf0_0_7"/>
          <p:cNvPicPr preferRelativeResize="0"/>
          <p:nvPr/>
        </p:nvPicPr>
        <p:blipFill rotWithShape="1">
          <a:blip r:embed="rId4">
            <a:alphaModFix/>
          </a:blip>
          <a:srcRect b="0" l="8425" r="40821" t="0"/>
          <a:stretch/>
        </p:blipFill>
        <p:spPr>
          <a:xfrm>
            <a:off x="9137153" y="3913840"/>
            <a:ext cx="2567031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0e1b13ebf0_0_388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Negative numbers: integer representation</a:t>
            </a:r>
            <a:endParaRPr/>
          </a:p>
        </p:txBody>
      </p:sp>
      <p:sp>
        <p:nvSpPr>
          <p:cNvPr id="277" name="Google Shape;277;g30e1b13ebf0_0_38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00025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In C#, the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-US"/>
              <a:t>variable type is </a:t>
            </a:r>
            <a:r>
              <a:rPr lang="en-US">
                <a:solidFill>
                  <a:srgbClr val="0055A4"/>
                </a:solidFill>
              </a:rPr>
              <a:t>32 bits (4 bytes) </a:t>
            </a:r>
            <a:r>
              <a:rPr lang="en-US"/>
              <a:t>by default. </a:t>
            </a:r>
            <a:br>
              <a:rPr lang="en-US">
                <a:solidFill>
                  <a:srgbClr val="0055A4"/>
                </a:solidFill>
              </a:rPr>
            </a:br>
            <a:endParaRPr/>
          </a:p>
          <a:p>
            <a:pPr indent="-200025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With 32 bits  we can represent a total of: 2</a:t>
            </a:r>
            <a:r>
              <a:rPr baseline="30000" lang="en-US"/>
              <a:t>32</a:t>
            </a:r>
            <a:r>
              <a:rPr lang="en-US"/>
              <a:t> = 4,294,967,296 different numbers</a:t>
            </a:r>
            <a:br>
              <a:rPr lang="en-US"/>
            </a:br>
            <a:endParaRPr/>
          </a:p>
          <a:p>
            <a:pPr indent="-200025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However, the range was want is often not 0-4,294,967,295!</a:t>
            </a:r>
            <a:endParaRPr/>
          </a:p>
          <a:p>
            <a:pPr indent="-368935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We want to be able to define negatives too!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int negNum = -20; # this should be possible! But not if the range starts at 0…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0e1b13ebf0_0_14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b="1" lang="en-US"/>
              <a:t>Signed</a:t>
            </a:r>
            <a:r>
              <a:rPr lang="en-US"/>
              <a:t> integers</a:t>
            </a:r>
            <a:endParaRPr/>
          </a:p>
        </p:txBody>
      </p:sp>
      <p:sp>
        <p:nvSpPr>
          <p:cNvPr id="283" name="Google Shape;283;g30e1b13ebf0_0_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Solution: split the range in half by </a:t>
            </a:r>
            <a:r>
              <a:rPr b="1" lang="en-US"/>
              <a:t>using the first bit to represent the sign</a:t>
            </a:r>
            <a:r>
              <a:rPr lang="en-US"/>
              <a:t>:</a:t>
            </a:r>
            <a:endParaRPr/>
          </a:p>
          <a:p>
            <a:pPr indent="-228600" lvl="1" marL="685800" rtl="0" algn="l">
              <a:lnSpc>
                <a:spcPct val="115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Number starts with 1: negative </a:t>
            </a:r>
            <a:endParaRPr/>
          </a:p>
          <a:p>
            <a:pPr indent="-228600" lvl="1" marL="685800" rtl="0" algn="l">
              <a:lnSpc>
                <a:spcPct val="115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Number starts with 0: positive</a:t>
            </a:r>
            <a:endParaRPr/>
          </a:p>
          <a:p>
            <a:pPr indent="-228600" lvl="1" marL="685800" rtl="0" algn="l">
              <a:lnSpc>
                <a:spcPct val="115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Use the remaining 31 bits for the number itself. </a:t>
            </a:r>
            <a:endParaRPr/>
          </a:p>
          <a:p>
            <a:pPr indent="-228600" lvl="1" marL="685800" rtl="0" algn="l">
              <a:lnSpc>
                <a:spcPct val="115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Range of possible values for 32 bit </a:t>
            </a:r>
            <a:r>
              <a:rPr b="1" lang="en-US"/>
              <a:t>signed </a:t>
            </a:r>
            <a:r>
              <a:rPr lang="en-US"/>
              <a:t>integer</a:t>
            </a:r>
            <a:r>
              <a:rPr lang="en-US"/>
              <a:t>: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-2,147,483,648 to 2,147,483,647 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0e1b13ebf0_0_393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Aside: the C# integer types, unsigned vs signed</a:t>
            </a:r>
            <a:endParaRPr/>
          </a:p>
        </p:txBody>
      </p:sp>
      <p:sp>
        <p:nvSpPr>
          <p:cNvPr id="289" name="Google Shape;289;g30e1b13ebf0_0_393"/>
          <p:cNvSpPr txBox="1"/>
          <p:nvPr>
            <p:ph idx="1" type="body"/>
          </p:nvPr>
        </p:nvSpPr>
        <p:spPr>
          <a:xfrm>
            <a:off x="441550" y="1825625"/>
            <a:ext cx="1153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Now we can understand all of the different types of integers there are in C#:</a:t>
            </a:r>
            <a:br>
              <a:rPr lang="en-US"/>
            </a:br>
            <a:r>
              <a:rPr lang="en-US" sz="1898"/>
              <a:t>See </a:t>
            </a:r>
            <a:r>
              <a:rPr lang="en-US" sz="1898" u="sng">
                <a:solidFill>
                  <a:schemeClr val="hlink"/>
                </a:solidFill>
                <a:hlinkClick r:id="rId3"/>
              </a:rPr>
              <a:t>https://learn.microsoft.com/en-us/dotnet/csharp/language-reference/builtin-types/integral-numeric-types</a:t>
            </a:r>
            <a:r>
              <a:rPr lang="en-US" sz="1898"/>
              <a:t> for more detail</a:t>
            </a:r>
            <a:endParaRPr sz="1898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br>
              <a:rPr lang="en-US"/>
            </a:br>
            <a:r>
              <a:rPr b="1" lang="en-US" u="sng"/>
              <a:t>Type</a:t>
            </a:r>
            <a:r>
              <a:rPr lang="en-US" u="sng"/>
              <a:t>	</a:t>
            </a:r>
            <a:r>
              <a:rPr b="1" lang="en-US" u="sng"/>
              <a:t>Number of Bits	Signed or Unsigned?	Value range</a:t>
            </a:r>
            <a:br>
              <a:rPr lang="en-US"/>
            </a:br>
            <a:r>
              <a:rPr lang="en-US">
                <a:latin typeface="Consolas"/>
                <a:ea typeface="Consolas"/>
                <a:cs typeface="Consolas"/>
                <a:sym typeface="Consolas"/>
              </a:rPr>
              <a:t>sbyte 	8-bit			Signed				-128 to 127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byte 		8-bit			Unsigned				0 to 255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short 	16-bit		Signed				-32,768 to 32,767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ushort 	16-bit		Unsigned				0 to 65,535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int 		32-bit		Signed				-2,147,483,648 to 2,147,483,647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uint 		32-bit		Unsigned				0 to 4,294,967,295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long 		64-bit		Signed 				-2</a:t>
            </a:r>
            <a:r>
              <a:rPr baseline="30000" lang="en-US">
                <a:latin typeface="Consolas"/>
                <a:ea typeface="Consolas"/>
                <a:cs typeface="Consolas"/>
                <a:sym typeface="Consolas"/>
              </a:rPr>
              <a:t>63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to 2</a:t>
            </a:r>
            <a:r>
              <a:rPr baseline="30000" lang="en-US">
                <a:latin typeface="Consolas"/>
                <a:ea typeface="Consolas"/>
                <a:cs typeface="Consolas"/>
                <a:sym typeface="Consolas"/>
              </a:rPr>
              <a:t>63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-1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ulong 	64-bit 		Unsigned				0 to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2</a:t>
            </a:r>
            <a:r>
              <a:rPr baseline="30000" lang="en-US">
                <a:latin typeface="Consolas"/>
                <a:ea typeface="Consolas"/>
                <a:cs typeface="Consolas"/>
                <a:sym typeface="Consolas"/>
              </a:rPr>
              <a:t>63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-1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0e1b13ebf0_0_19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Signed ints: Is it </a:t>
            </a:r>
            <a:r>
              <a:rPr lang="en-US"/>
              <a:t>really so s</a:t>
            </a:r>
            <a:r>
              <a:rPr lang="en-US"/>
              <a:t>imple?</a:t>
            </a:r>
            <a:endParaRPr/>
          </a:p>
        </p:txBody>
      </p:sp>
      <p:sp>
        <p:nvSpPr>
          <p:cNvPr id="295" name="Google Shape;295;g30e1b13ebf0_0_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/>
              <a:t>Does this mean we can just flip the first bit and we’re done?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/>
              <a:t>E.g.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rPr lang="en-US" u="sng"/>
              <a:t>Decimal</a:t>
            </a:r>
            <a:r>
              <a:rPr lang="en-US"/>
              <a:t>		</a:t>
            </a:r>
            <a:r>
              <a:rPr lang="en-US" u="sng"/>
              <a:t>Binary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173			</a:t>
            </a:r>
            <a:r>
              <a:rPr lang="en-US" sz="28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0000000 00000000 00000000 10101101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-173			</a:t>
            </a:r>
            <a:r>
              <a:rPr lang="en-US" sz="28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0000000 00000000 00000000 10101101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0e1b13ebf0_0_405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Signed ints: An example, if it were simple</a:t>
            </a:r>
            <a:endParaRPr/>
          </a:p>
        </p:txBody>
      </p:sp>
      <p:sp>
        <p:nvSpPr>
          <p:cNvPr id="301" name="Google Shape;301;g30e1b13ebf0_0_405"/>
          <p:cNvSpPr txBox="1"/>
          <p:nvPr>
            <p:ph idx="1" type="body"/>
          </p:nvPr>
        </p:nvSpPr>
        <p:spPr>
          <a:xfrm>
            <a:off x="609600" y="22425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1 1		-7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1 0		-6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0 1		-5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0 0		-4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1 1		-3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1 0		-2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0 1		-1</a:t>
            </a:r>
            <a:endParaRPr/>
          </a:p>
          <a:p>
            <a:pPr indent="0" lvl="0" marL="0" rtl="0" algn="l">
              <a:spcBef>
                <a:spcPts val="660"/>
              </a:spcBef>
              <a:spcAft>
                <a:spcPts val="0"/>
              </a:spcAft>
              <a:buClr>
                <a:srgbClr val="0055A4"/>
              </a:buClr>
              <a:buSzPct val="100000"/>
              <a:buNone/>
            </a:pPr>
            <a:r>
              <a:rPr lang="en-US"/>
              <a:t>1 0 0 0		-0 </a:t>
            </a:r>
            <a:endParaRPr/>
          </a:p>
          <a:p>
            <a:pPr indent="0" lvl="0" marL="0" rtl="0" algn="l">
              <a:spcBef>
                <a:spcPts val="660"/>
              </a:spcBef>
              <a:spcAft>
                <a:spcPts val="0"/>
              </a:spcAft>
              <a:buClr>
                <a:srgbClr val="0055A4"/>
              </a:buClr>
              <a:buSzPct val="100000"/>
              <a:buNone/>
            </a:pPr>
            <a:r>
              <a:rPr lang="en-US"/>
              <a:t>0 0 0 0		 0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0 1		 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1 0		 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1 1		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0 0		 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0 1		 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1 0		 6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1 1 		 7</a:t>
            </a:r>
            <a:endParaRPr/>
          </a:p>
        </p:txBody>
      </p:sp>
      <p:sp>
        <p:nvSpPr>
          <p:cNvPr id="302" name="Google Shape;302;g30e1b13ebf0_0_405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60032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</a:pPr>
            <a:r>
              <a:rPr lang="en-US"/>
              <a:t>What happens when we do math?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               (  2 )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             + ( -1 )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           -----------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 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 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 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 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 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               (  5 )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             + ( -5 )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           -----------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" name="Google Shape;303;g30e1b13ebf0_0_405"/>
          <p:cNvSpPr txBox="1"/>
          <p:nvPr/>
        </p:nvSpPr>
        <p:spPr>
          <a:xfrm>
            <a:off x="92650" y="1535375"/>
            <a:ext cx="533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Quattrocento Sans"/>
                <a:ea typeface="Quattrocento Sans"/>
                <a:cs typeface="Quattrocento Sans"/>
                <a:sym typeface="Quattrocento Sans"/>
              </a:rPr>
              <a:t>Let’s look at a 4 bit integer for example:</a:t>
            </a: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0e1b13ebf0_0_24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Signed ints: No, it’s not so simple</a:t>
            </a:r>
            <a:endParaRPr/>
          </a:p>
        </p:txBody>
      </p:sp>
      <p:sp>
        <p:nvSpPr>
          <p:cNvPr id="309" name="Google Shape;309;g30e1b13ebf0_0_24"/>
          <p:cNvSpPr txBox="1"/>
          <p:nvPr>
            <p:ph idx="1" type="body"/>
          </p:nvPr>
        </p:nvSpPr>
        <p:spPr>
          <a:xfrm>
            <a:off x="609600" y="22425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1 1		-7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1 0		-6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0 1		-5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0 0		-4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1 1		-3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1 0		-2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0 1		-1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0055A4"/>
              </a:buClr>
              <a:buSzPct val="100000"/>
              <a:buNone/>
            </a:pPr>
            <a:r>
              <a:rPr b="1" lang="en-US">
                <a:solidFill>
                  <a:srgbClr val="0055A4"/>
                </a:solidFill>
              </a:rPr>
              <a:t>1 0 0 0		-0  Negative zero??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0055A4"/>
              </a:buClr>
              <a:buSzPct val="100000"/>
              <a:buNone/>
            </a:pPr>
            <a:r>
              <a:rPr b="1" lang="en-US">
                <a:solidFill>
                  <a:srgbClr val="0055A4"/>
                </a:solidFill>
              </a:rPr>
              <a:t>0 0 0 0		 0   Zero appears twice!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0 1		 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1 0		 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1 1		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0 0		 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0 1		 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1 0		 6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1 1 		 7</a:t>
            </a:r>
            <a:endParaRPr/>
          </a:p>
        </p:txBody>
      </p:sp>
      <p:sp>
        <p:nvSpPr>
          <p:cNvPr id="310" name="Google Shape;310;g30e1b13ebf0_0_24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60032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</a:pPr>
            <a:r>
              <a:rPr lang="en-US"/>
              <a:t>What happens when we do math?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0010           (  2 )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1001         + ( -1 )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--------     -----------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  1011				 -5 (?)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 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None/>
            </a:pPr>
            <a:br>
              <a:rPr lang="en-US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0101           (  5 )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1101         + ( -5 )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--------     -----------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 10010				18? -18??</a:t>
            </a:r>
            <a:br>
              <a:rPr lang="en-US">
                <a:latin typeface="Consolas"/>
                <a:ea typeface="Consolas"/>
                <a:cs typeface="Consolas"/>
                <a:sym typeface="Consolas"/>
              </a:rPr>
            </a:br>
            <a:r>
              <a:rPr lang="en-US">
                <a:latin typeface="Consolas"/>
                <a:ea typeface="Consolas"/>
                <a:cs typeface="Consolas"/>
                <a:sym typeface="Consolas"/>
              </a:rPr>
              <a:t>					not defined???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1" name="Google Shape;311;g30e1b13ebf0_0_24"/>
          <p:cNvSpPr txBox="1"/>
          <p:nvPr/>
        </p:nvSpPr>
        <p:spPr>
          <a:xfrm>
            <a:off x="92650" y="1535375"/>
            <a:ext cx="533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Quattrocento Sans"/>
                <a:ea typeface="Quattrocento Sans"/>
                <a:cs typeface="Quattrocento Sans"/>
                <a:sym typeface="Quattrocento Sans"/>
              </a:rPr>
              <a:t>Let’s look at a 4 bit integer for example:</a:t>
            </a: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0e1b13ebf0_0_31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Fixing the “Simple” Method: Two’s Complement</a:t>
            </a:r>
            <a:endParaRPr/>
          </a:p>
        </p:txBody>
      </p:sp>
      <p:sp>
        <p:nvSpPr>
          <p:cNvPr id="317" name="Google Shape;317;g30e1b13ebf0_0_3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1717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 sz="2400"/>
              <a:t>We need something more robust…</a:t>
            </a:r>
            <a:endParaRPr sz="2400"/>
          </a:p>
          <a:p>
            <a:pPr indent="-21717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b="1" lang="en-US" sz="2400"/>
              <a:t>Two’s complement </a:t>
            </a:r>
            <a:r>
              <a:rPr lang="en-US" sz="2400"/>
              <a:t>is </a:t>
            </a:r>
            <a:r>
              <a:rPr lang="en-US" sz="2400"/>
              <a:t>another method for </a:t>
            </a:r>
            <a:r>
              <a:rPr lang="en-US" sz="2400"/>
              <a:t>representing negative binary numbers.</a:t>
            </a:r>
            <a:endParaRPr sz="2400"/>
          </a:p>
          <a:p>
            <a:pPr indent="-21717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400"/>
              <a:t>Basic idea: </a:t>
            </a:r>
            <a:endParaRPr sz="2400"/>
          </a:p>
          <a:p>
            <a:pPr indent="-204469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400"/>
              <a:t>we still use the left-most bit to indicate whether a number is positive (0) or negative (1)</a:t>
            </a:r>
            <a:endParaRPr sz="2400"/>
          </a:p>
          <a:p>
            <a:pPr indent="-204469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400"/>
              <a:t>BUT: we convert the rest of the bits into the “two’s complement” (negative image in binary) of the positive number. </a:t>
            </a:r>
            <a:endParaRPr sz="2400"/>
          </a:p>
          <a:p>
            <a:pPr indent="-369569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400"/>
              <a:t>Basically, take advantage of modular arithmetic (not covered really in this class) and even “set theory” (definitely not covered in this class)</a:t>
            </a:r>
            <a:endParaRPr sz="2400"/>
          </a:p>
          <a:p>
            <a:pPr indent="-369569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400"/>
              <a:t>Result: we will be able to perform normal mathematical operations we would expect to do with negative numbers in binary</a:t>
            </a:r>
            <a:endParaRPr sz="2400"/>
          </a:p>
          <a:p>
            <a:pPr indent="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2" marL="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ct val="12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0e1b13ebf0_0_36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How to do Two’s Complement in general</a:t>
            </a:r>
            <a:endParaRPr/>
          </a:p>
        </p:txBody>
      </p:sp>
      <p:sp>
        <p:nvSpPr>
          <p:cNvPr id="323" name="Google Shape;323;g30e1b13ebf0_0_3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2400"/>
              <a:t>H</a:t>
            </a:r>
            <a:r>
              <a:rPr lang="en-US" sz="2400"/>
              <a:t>ow to represent a negative in binary using two’s complement: the </a:t>
            </a:r>
            <a:r>
              <a:rPr b="1" lang="en-US" sz="2400"/>
              <a:t>algorithm</a:t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Find the binary value for the positive value of the given number</a:t>
            </a:r>
            <a:endParaRPr sz="15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Invert all the bits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Add one to the result</a:t>
            </a:r>
            <a:endParaRPr sz="2400"/>
          </a:p>
          <a:p>
            <a:pPr indent="0" lvl="0" marL="91440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2400"/>
              <a:t>You’re done!</a:t>
            </a:r>
            <a:endParaRPr sz="2400"/>
          </a:p>
          <a:p>
            <a:pPr indent="0" lvl="2" marL="91440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0e1b13ebf0_0_418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How to do Two’s Complement: an example</a:t>
            </a:r>
            <a:endParaRPr/>
          </a:p>
        </p:txBody>
      </p:sp>
      <p:sp>
        <p:nvSpPr>
          <p:cNvPr id="329" name="Google Shape;329;g30e1b13ebf0_0_4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2400"/>
              <a:t>How to represent a </a:t>
            </a:r>
            <a:r>
              <a:rPr b="1" lang="en-US" sz="2400"/>
              <a:t>-5</a:t>
            </a:r>
            <a:r>
              <a:rPr lang="en-US" sz="2400"/>
              <a:t> in binary using two’s complement: </a:t>
            </a:r>
            <a:r>
              <a:rPr b="1" lang="en-US" sz="2400"/>
              <a:t>an example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Find the binary value for the positive value of the given number</a:t>
            </a:r>
            <a:endParaRPr baseline="-25000" sz="2400"/>
          </a:p>
          <a:p>
            <a:pPr indent="0" lvl="2" marL="91440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baseline="-25000" lang="en-US" sz="24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= 0101</a:t>
            </a:r>
            <a:r>
              <a:rPr b="1" baseline="-25000" lang="en-US" sz="2400"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(note: important that positive numbers start with a 0)</a:t>
            </a:r>
            <a:endParaRPr sz="1500"/>
          </a:p>
          <a:p>
            <a:pPr indent="-381000" lvl="0" marL="45720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Invert all the bits:</a:t>
            </a:r>
            <a:endParaRPr/>
          </a:p>
          <a:p>
            <a:pPr indent="0" lvl="2" marL="91440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0101</a:t>
            </a:r>
            <a:r>
              <a:rPr b="1" baseline="-25000" lang="en-US" sz="2400"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-&gt; invert -&gt; 1010</a:t>
            </a:r>
            <a:r>
              <a:rPr b="1" baseline="-25000" lang="en-US" sz="2400"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aseline="-25000" sz="2400"/>
          </a:p>
          <a:p>
            <a:pPr indent="-381000" lvl="0" marL="45720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Add 1 to the inverted value</a:t>
            </a:r>
            <a:endParaRPr/>
          </a:p>
          <a:p>
            <a:pPr indent="0" lvl="2" marL="91440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b="1" lang="en-US" sz="2400">
                <a:solidFill>
                  <a:srgbClr val="0055A4"/>
                </a:solidFill>
                <a:latin typeface="Courier New"/>
                <a:ea typeface="Courier New"/>
                <a:cs typeface="Courier New"/>
                <a:sym typeface="Courier New"/>
              </a:rPr>
              <a:t>-5</a:t>
            </a:r>
            <a:r>
              <a:rPr b="1" baseline="-25000" lang="en-US" sz="2400">
                <a:solidFill>
                  <a:srgbClr val="0055A4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en-US" sz="2400">
                <a:solidFill>
                  <a:srgbClr val="0055A4"/>
                </a:solidFill>
                <a:latin typeface="Courier New"/>
                <a:ea typeface="Courier New"/>
                <a:cs typeface="Courier New"/>
                <a:sym typeface="Courier New"/>
              </a:rPr>
              <a:t> = 1011</a:t>
            </a:r>
            <a:r>
              <a:rPr b="1" baseline="-25000" lang="en-US" sz="2400">
                <a:solidFill>
                  <a:srgbClr val="0055A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-US" sz="2400">
                <a:solidFill>
                  <a:srgbClr val="0055A4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0e1b13ebf0_0_41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Two’s Complement: Representation with 4 bits</a:t>
            </a:r>
            <a:endParaRPr/>
          </a:p>
        </p:txBody>
      </p:sp>
      <p:sp>
        <p:nvSpPr>
          <p:cNvPr id="335" name="Google Shape;335;g30e1b13ebf0_0_41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0 0		-8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0 1 		-7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1 0		-6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1 1		-5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0 0		-4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0 1		-3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1 0		-2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1 1		-1	</a:t>
            </a:r>
            <a:endParaRPr/>
          </a:p>
          <a:p>
            <a:pPr indent="0" lvl="0" marL="0" rtl="0" algn="l">
              <a:spcBef>
                <a:spcPts val="660"/>
              </a:spcBef>
              <a:spcAft>
                <a:spcPts val="0"/>
              </a:spcAft>
              <a:buClr>
                <a:srgbClr val="0055A4"/>
              </a:buClr>
              <a:buSzPct val="100000"/>
              <a:buNone/>
            </a:pPr>
            <a:r>
              <a:rPr lang="en-US"/>
              <a:t>0 0 0 0		 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0 1		 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1 0		 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1 1		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0 0		 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0 1		 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1 0		 6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1 1 		 7</a:t>
            </a:r>
            <a:endParaRPr/>
          </a:p>
        </p:txBody>
      </p:sp>
      <p:sp>
        <p:nvSpPr>
          <p:cNvPr id="336" name="Google Shape;336;g30e1b13ebf0_0_41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rPr lang="en-US"/>
              <a:t>Here’s what two’s complement looks like applied to the range of 4 bit numbers.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0e1b13ebf0_0_423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Two’s Complement: Addition/Subtraction</a:t>
            </a:r>
            <a:endParaRPr/>
          </a:p>
        </p:txBody>
      </p:sp>
      <p:sp>
        <p:nvSpPr>
          <p:cNvPr id="342" name="Google Shape;342;g30e1b13ebf0_0_423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0 0		-8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0 1 		-7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1 0		-6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1 1		-5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0 0		-4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0 1		-3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1 0		-2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1 1		-1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0055A4"/>
              </a:buClr>
              <a:buSzPct val="100000"/>
              <a:buNone/>
            </a:pPr>
            <a:r>
              <a:rPr b="1" lang="en-US">
                <a:solidFill>
                  <a:srgbClr val="0055A4"/>
                </a:solidFill>
              </a:rPr>
              <a:t>0 0 0 0		 0	Only one zero now! Phew!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0 1		 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1 0		 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1 1		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0 0		 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0 1		 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1 0		 6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1 1 		 7</a:t>
            </a:r>
            <a:endParaRPr/>
          </a:p>
        </p:txBody>
      </p:sp>
      <p:sp>
        <p:nvSpPr>
          <p:cNvPr id="343" name="Google Shape;343;g30e1b13ebf0_0_423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Now, let’s try some math operations: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rPr lang="en-US"/>
              <a:t> </a:t>
            </a:r>
            <a:endParaRPr/>
          </a:p>
          <a:p>
            <a:pPr indent="457200" lvl="0" marL="45720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         (  2 )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       + ( -1 )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   -----------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br>
              <a:rPr lang="en-US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br>
              <a:rPr lang="en-US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      (  5 )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37160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    + ( -5 )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37160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   -----------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0e1b13ebf0_0_47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Two’s Complement: </a:t>
            </a:r>
            <a:r>
              <a:rPr lang="en-US"/>
              <a:t>Addition/Subtraction</a:t>
            </a:r>
            <a:endParaRPr/>
          </a:p>
        </p:txBody>
      </p:sp>
      <p:sp>
        <p:nvSpPr>
          <p:cNvPr id="349" name="Google Shape;349;g30e1b13ebf0_0_47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0 0		-8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0 1 		-7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1 0		-6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b="1" lang="en-US"/>
              <a:t>1 0 1 1		-5	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0 0		-4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0 1		-3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1 0		-2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b="1" lang="en-US"/>
              <a:t>1 1 1 1		-1	</a:t>
            </a:r>
            <a:endParaRPr b="1"/>
          </a:p>
          <a:p>
            <a:pPr indent="0" lvl="0" marL="0" rtl="0" algn="l">
              <a:spcBef>
                <a:spcPts val="660"/>
              </a:spcBef>
              <a:spcAft>
                <a:spcPts val="0"/>
              </a:spcAft>
              <a:buClr>
                <a:srgbClr val="0055A4"/>
              </a:buClr>
              <a:buSzPct val="100000"/>
              <a:buNone/>
            </a:pPr>
            <a:r>
              <a:rPr lang="en-US"/>
              <a:t>0 0 0 0		 0	At least there’s only one 0…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0 1		 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b="1" lang="en-US"/>
              <a:t>0 0 1 0		 2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1 1		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0 0		 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b="1" lang="en-US"/>
              <a:t>0 1 0 1		 5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1 0		 6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1 1 		 7</a:t>
            </a:r>
            <a:endParaRPr/>
          </a:p>
        </p:txBody>
      </p:sp>
      <p:sp>
        <p:nvSpPr>
          <p:cNvPr id="350" name="Google Shape;350;g30e1b13ebf0_0_47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Now, let’s try some math operations: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0010           (  2 )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1111         + ( -1 )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--------     -----------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1 0001			  17? -17??</a:t>
            </a:r>
            <a:br>
              <a:rPr lang="en-US">
                <a:latin typeface="Consolas"/>
                <a:ea typeface="Consolas"/>
                <a:cs typeface="Consolas"/>
                <a:sym typeface="Consolas"/>
              </a:rPr>
            </a:br>
            <a:r>
              <a:rPr lang="en-US">
                <a:latin typeface="Consolas"/>
                <a:ea typeface="Consolas"/>
                <a:cs typeface="Consolas"/>
                <a:sym typeface="Consolas"/>
              </a:rPr>
              <a:t>				have we fixed nothing?</a:t>
            </a:r>
            <a:br>
              <a:rPr lang="en-US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br>
              <a:rPr lang="en-US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0101           (  5 )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1011         + ( -5 )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--------     -----------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1 0000				16? -16??</a:t>
            </a:r>
            <a:br>
              <a:rPr lang="en-US">
                <a:latin typeface="Consolas"/>
                <a:ea typeface="Consolas"/>
                <a:cs typeface="Consolas"/>
                <a:sym typeface="Consolas"/>
              </a:rPr>
            </a:br>
            <a:r>
              <a:rPr lang="en-US">
                <a:latin typeface="Consolas"/>
                <a:ea typeface="Consolas"/>
                <a:cs typeface="Consolas"/>
                <a:sym typeface="Consolas"/>
              </a:rPr>
              <a:t>				 what’s happening??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0e1b13ebf0_0_412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Two’s Complement: Carryout</a:t>
            </a:r>
            <a:endParaRPr/>
          </a:p>
        </p:txBody>
      </p:sp>
      <p:sp>
        <p:nvSpPr>
          <p:cNvPr id="356" name="Google Shape;356;g30e1b13ebf0_0_412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0 0		-8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0 1 		-7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1 0		-6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1 1		-5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0 0		-4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0 1		-3	</a:t>
            </a:r>
            <a:r>
              <a:rPr b="1" lang="en-US">
                <a:solidFill>
                  <a:srgbClr val="188038"/>
                </a:solidFill>
              </a:rPr>
              <a:t>Try removing the extra 1:</a:t>
            </a:r>
            <a:endParaRPr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1 0		-2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1 1		-1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0055A4"/>
              </a:buClr>
              <a:buSzPct val="100000"/>
              <a:buNone/>
            </a:pPr>
            <a:r>
              <a:rPr lang="en-US"/>
              <a:t>0 0 0 0		 0</a:t>
            </a:r>
            <a:r>
              <a:rPr b="1" lang="en-US">
                <a:solidFill>
                  <a:srgbClr val="0055A4"/>
                </a:solidFill>
              </a:rPr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0 1		 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1 0		 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1 1		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0 0		 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0 1		 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1 0		 6  </a:t>
            </a:r>
            <a:r>
              <a:rPr lang="en-US"/>
              <a:t>	</a:t>
            </a:r>
            <a:r>
              <a:rPr b="1" lang="en-US">
                <a:solidFill>
                  <a:srgbClr val="188038"/>
                </a:solidFill>
              </a:rPr>
              <a:t>This is called a </a:t>
            </a:r>
            <a:r>
              <a:rPr b="1" i="1" lang="en-US">
                <a:solidFill>
                  <a:srgbClr val="188038"/>
                </a:solidFill>
              </a:rPr>
              <a:t>carryout</a:t>
            </a:r>
            <a:r>
              <a:rPr b="1" lang="en-US">
                <a:solidFill>
                  <a:srgbClr val="188038"/>
                </a:solidFill>
              </a:rPr>
              <a:t> bit</a:t>
            </a:r>
            <a:endParaRPr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1 1 		 7</a:t>
            </a:r>
            <a:r>
              <a:rPr lang="en-US"/>
              <a:t>  	The carryout can be ignored.</a:t>
            </a:r>
            <a:endParaRPr/>
          </a:p>
        </p:txBody>
      </p:sp>
      <p:sp>
        <p:nvSpPr>
          <p:cNvPr id="357" name="Google Shape;357;g30e1b13ebf0_0_412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US"/>
              <a:t>Now, let’s try some math operations: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0010           (  2 )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1111         + ( -1 )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--------     -----------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 strike="sng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0001			       </a:t>
            </a: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1</a:t>
            </a:r>
            <a:br>
              <a:rPr lang="en-US">
                <a:latin typeface="Consolas"/>
                <a:ea typeface="Consolas"/>
                <a:cs typeface="Consolas"/>
                <a:sym typeface="Consolas"/>
              </a:rPr>
            </a:br>
            <a:r>
              <a:rPr lang="en-US">
                <a:latin typeface="Consolas"/>
                <a:ea typeface="Consolas"/>
                <a:cs typeface="Consolas"/>
                <a:sym typeface="Consolas"/>
              </a:rPr>
              <a:t>			(that makes more sense)</a:t>
            </a:r>
            <a:br>
              <a:rPr lang="en-US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br>
              <a:rPr lang="en-US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0101           (  5 )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1011         + ( -5 )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--------     -----------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 strike="sng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0000				    </a:t>
            </a: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0</a:t>
            </a:r>
            <a:br>
              <a:rPr lang="en-US">
                <a:latin typeface="Consolas"/>
                <a:ea typeface="Consolas"/>
                <a:cs typeface="Consolas"/>
                <a:sym typeface="Consolas"/>
              </a:rPr>
            </a:br>
            <a:r>
              <a:rPr lang="en-US">
                <a:latin typeface="Consolas"/>
                <a:ea typeface="Consolas"/>
                <a:cs typeface="Consolas"/>
                <a:sym typeface="Consolas"/>
              </a:rPr>
              <a:t>							(good!)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0e1b13ebf0_0_429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Two’s Complement Addition/Subtraction</a:t>
            </a:r>
            <a:endParaRPr/>
          </a:p>
        </p:txBody>
      </p:sp>
      <p:sp>
        <p:nvSpPr>
          <p:cNvPr id="363" name="Google Shape;363;g30e1b13ebf0_0_429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0 0		-8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0 1 		-7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1 0		-6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1 1		-5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0 0		-4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b="1" lang="en-US"/>
              <a:t>1 1 0 1		-3	</a:t>
            </a:r>
            <a:endParaRPr b="1"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b="1" lang="en-US"/>
              <a:t>1 1 1 0		-2	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b="1" lang="en-US"/>
              <a:t>1 1 1 1		-1	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0055A4"/>
              </a:buClr>
              <a:buSzPct val="100000"/>
              <a:buNone/>
            </a:pPr>
            <a:r>
              <a:rPr lang="en-US"/>
              <a:t>0 0 0 0		 0</a:t>
            </a:r>
            <a:r>
              <a:rPr b="1" lang="en-US">
                <a:solidFill>
                  <a:srgbClr val="0055A4"/>
                </a:solidFill>
              </a:rPr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b="1" lang="en-US"/>
              <a:t>0 0 0 1		 1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b="1" lang="en-US"/>
              <a:t>0 0 1 0		 2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b="1" lang="en-US"/>
              <a:t>0 0 1 1		 3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0 0		 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0 1		 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1 0		 6  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1 1 		 7  	</a:t>
            </a:r>
            <a:endParaRPr/>
          </a:p>
        </p:txBody>
      </p:sp>
      <p:sp>
        <p:nvSpPr>
          <p:cNvPr id="364" name="Google Shape;364;g30e1b13ebf0_0_429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few more examples just to be sure…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0010           (  2 )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0001         + (  1 )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--------     -----------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0011			     </a:t>
            </a: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3</a:t>
            </a:r>
            <a:br>
              <a:rPr lang="en-US"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		(normal addition still works)</a:t>
            </a:r>
            <a:br>
              <a:rPr lang="en-US" sz="1800">
                <a:latin typeface="Consolas"/>
                <a:ea typeface="Consolas"/>
                <a:cs typeface="Consolas"/>
                <a:sym typeface="Consolas"/>
              </a:rPr>
            </a:b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1110           ( -2 )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1111         + ( -1 )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--------     -----------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trike="sng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1101				 -</a:t>
            </a: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3</a:t>
            </a:r>
            <a:br>
              <a:rPr lang="en-US"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		(adding two negatives works)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0e1b13ebf0_0_441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Two’s Complement: Overflow</a:t>
            </a:r>
            <a:endParaRPr/>
          </a:p>
        </p:txBody>
      </p:sp>
      <p:sp>
        <p:nvSpPr>
          <p:cNvPr id="370" name="Google Shape;370;g30e1b13ebf0_0_441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0 0		-8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b="1" lang="en-US"/>
              <a:t>1 0 0 1 		-7	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1 0		-6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1 1		-5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0 0		-4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0 1		-3	</a:t>
            </a:r>
            <a:endParaRPr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b="1" lang="en-US"/>
              <a:t>1 1 1 0		-2	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1 1		-1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0055A4"/>
              </a:buClr>
              <a:buSzPct val="100000"/>
              <a:buNone/>
            </a:pPr>
            <a:r>
              <a:rPr lang="en-US"/>
              <a:t>0 0 0 0		 0</a:t>
            </a:r>
            <a:r>
              <a:rPr b="1" lang="en-US">
                <a:solidFill>
                  <a:srgbClr val="0055A4"/>
                </a:solidFill>
              </a:rPr>
              <a:t>	</a:t>
            </a:r>
            <a:r>
              <a:rPr b="1" lang="en-US">
                <a:solidFill>
                  <a:srgbClr val="C00000"/>
                </a:solidFill>
              </a:rPr>
              <a:t>Can you see the problem?</a:t>
            </a:r>
            <a:endParaRPr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0 1		 1	</a:t>
            </a:r>
            <a:r>
              <a:rPr lang="en-US"/>
              <a:t>Hint: what result is expected?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b="1" lang="en-US"/>
              <a:t>0 0 1 0		 2 	</a:t>
            </a:r>
            <a:r>
              <a:rPr b="1" lang="en-US">
                <a:solidFill>
                  <a:srgbClr val="188038"/>
                </a:solidFill>
              </a:rPr>
              <a:t>          </a:t>
            </a:r>
            <a:r>
              <a:rPr lang="en-US"/>
              <a:t>is it in our table?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1 1		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0 0		 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0 1		 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1 0		 6  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b="1" lang="en-US"/>
              <a:t>0 1 1 1 		 7  	</a:t>
            </a:r>
            <a:endParaRPr b="1"/>
          </a:p>
        </p:txBody>
      </p:sp>
      <p:sp>
        <p:nvSpPr>
          <p:cNvPr id="371" name="Google Shape;371;g30e1b13ebf0_0_441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There’s a few other interesting cases…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0010           (  2 )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0111         + (  7 )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--------     -----------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trike="sng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1001			     </a:t>
            </a:r>
            <a:r>
              <a:rPr b="1" lang="en-US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-7 (?)</a:t>
            </a:r>
            <a:br>
              <a:rPr lang="en-US"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				</a:t>
            </a:r>
            <a:br>
              <a:rPr lang="en-US" sz="1800">
                <a:latin typeface="Consolas"/>
                <a:ea typeface="Consolas"/>
                <a:cs typeface="Consolas"/>
                <a:sym typeface="Consolas"/>
              </a:rPr>
            </a:b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1110           ( -2 )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1001         + ( -7 )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--------     -----------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trike="sng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0111				  </a:t>
            </a:r>
            <a:r>
              <a:rPr b="1" lang="en-US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7 (??)</a:t>
            </a:r>
            <a:br>
              <a:rPr lang="en-US"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0e1b13ebf0_0_435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Two’s Complement: Overflow</a:t>
            </a:r>
            <a:endParaRPr/>
          </a:p>
        </p:txBody>
      </p:sp>
      <p:sp>
        <p:nvSpPr>
          <p:cNvPr id="377" name="Google Shape;377;g30e1b13ebf0_0_435"/>
          <p:cNvSpPr txBox="1"/>
          <p:nvPr>
            <p:ph idx="1" type="body"/>
          </p:nvPr>
        </p:nvSpPr>
        <p:spPr>
          <a:xfrm>
            <a:off x="6993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0 0		-8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0 1 		-7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1 0		-6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1 1		-5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0 0		-4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0 1		-3	</a:t>
            </a:r>
            <a:endParaRPr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1 0		-2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1 1		-1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0055A4"/>
              </a:buClr>
              <a:buSzPct val="100000"/>
              <a:buNone/>
            </a:pPr>
            <a:r>
              <a:rPr lang="en-US"/>
              <a:t>0 0 0 0		 0</a:t>
            </a:r>
            <a:r>
              <a:rPr b="1" lang="en-US">
                <a:solidFill>
                  <a:srgbClr val="0055A4"/>
                </a:solidFill>
              </a:rPr>
              <a:t>	</a:t>
            </a:r>
            <a:r>
              <a:rPr b="1" lang="en-US">
                <a:solidFill>
                  <a:srgbClr val="C00000"/>
                </a:solidFill>
              </a:rPr>
              <a:t>When the result does not “fit”</a:t>
            </a:r>
            <a:endParaRPr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0 1		 1	</a:t>
            </a:r>
            <a:r>
              <a:rPr b="1" lang="en-US">
                <a:solidFill>
                  <a:srgbClr val="C00000"/>
                </a:solidFill>
              </a:rPr>
              <a:t>in the provided storage, this</a:t>
            </a:r>
            <a:endParaRPr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1 0		 2</a:t>
            </a:r>
            <a:r>
              <a:rPr b="1" lang="en-US"/>
              <a:t> 	</a:t>
            </a:r>
            <a:r>
              <a:rPr b="1" lang="en-US">
                <a:solidFill>
                  <a:srgbClr val="C00000"/>
                </a:solidFill>
              </a:rPr>
              <a:t>is called </a:t>
            </a:r>
            <a:r>
              <a:rPr b="1" i="1" lang="en-US">
                <a:solidFill>
                  <a:srgbClr val="C00000"/>
                </a:solidFill>
              </a:rPr>
              <a:t>overflow</a:t>
            </a:r>
            <a:endParaRPr b="1"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1 1		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0 0		 4	</a:t>
            </a:r>
            <a:r>
              <a:rPr lang="en-US"/>
              <a:t>It is not necessarily an error,</a:t>
            </a:r>
            <a:endParaRPr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0 1		 5	but is it the wrong result.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1 0		 6  	It is a common source of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1 1 		 7  	programmer bugs</a:t>
            </a:r>
            <a:endParaRPr/>
          </a:p>
        </p:txBody>
      </p:sp>
      <p:sp>
        <p:nvSpPr>
          <p:cNvPr id="378" name="Google Shape;378;g30e1b13ebf0_0_435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There’s a few other interesting cases…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0010           (  2 )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0111         + (  7 )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--------     -----------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trike="sng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1001			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-7</a:t>
            </a: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(overflow)</a:t>
            </a:r>
            <a:br>
              <a:rPr lang="en-US"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				</a:t>
            </a:r>
            <a:br>
              <a:rPr lang="en-US" sz="1800">
                <a:latin typeface="Consolas"/>
                <a:ea typeface="Consolas"/>
                <a:cs typeface="Consolas"/>
                <a:sym typeface="Consolas"/>
              </a:rPr>
            </a:b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1110           ( -2 )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1001         + ( -7 )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--------     -----------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trike="sng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0111				 </a:t>
            </a: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7 </a:t>
            </a:r>
            <a:r>
              <a:rPr b="1" lang="en-US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(overflow)</a:t>
            </a:r>
            <a:br>
              <a:rPr lang="en-US"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0e1b13ebf0_0_447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Unsigned Binary Addition: Overflow</a:t>
            </a:r>
            <a:endParaRPr/>
          </a:p>
        </p:txBody>
      </p:sp>
      <p:sp>
        <p:nvSpPr>
          <p:cNvPr id="384" name="Google Shape;384;g30e1b13ebf0_0_447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0055A4"/>
              </a:buClr>
              <a:buSzPct val="100000"/>
              <a:buNone/>
            </a:pPr>
            <a:r>
              <a:rPr lang="en-US"/>
              <a:t>0 0 0 0		 0</a:t>
            </a:r>
            <a:r>
              <a:rPr b="1" lang="en-US">
                <a:solidFill>
                  <a:srgbClr val="0055A4"/>
                </a:solidFill>
              </a:rPr>
              <a:t>	</a:t>
            </a:r>
            <a:r>
              <a:rPr b="1" i="1" lang="en-US">
                <a:solidFill>
                  <a:srgbClr val="C00000"/>
                </a:solidFill>
              </a:rPr>
              <a:t>Overflow</a:t>
            </a:r>
            <a:r>
              <a:rPr b="1" lang="en-US">
                <a:solidFill>
                  <a:srgbClr val="C00000"/>
                </a:solidFill>
              </a:rPr>
              <a:t> can happen</a:t>
            </a:r>
            <a:endParaRPr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0 1		 1	</a:t>
            </a:r>
            <a:r>
              <a:rPr b="1" lang="en-US">
                <a:solidFill>
                  <a:srgbClr val="C00000"/>
                </a:solidFill>
              </a:rPr>
              <a:t>in unsigned binary</a:t>
            </a:r>
            <a:endParaRPr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1 0		 2</a:t>
            </a:r>
            <a:r>
              <a:rPr b="1" lang="en-US"/>
              <a:t> 	</a:t>
            </a:r>
            <a:r>
              <a:rPr b="1" lang="en-US">
                <a:solidFill>
                  <a:srgbClr val="C00000"/>
                </a:solidFill>
              </a:rPr>
              <a:t>too, </a:t>
            </a:r>
            <a:r>
              <a:rPr b="1" lang="en-US">
                <a:solidFill>
                  <a:srgbClr val="C00000"/>
                </a:solidFill>
              </a:rPr>
              <a:t>because</a:t>
            </a:r>
            <a:r>
              <a:rPr b="1" lang="en-US">
                <a:solidFill>
                  <a:srgbClr val="C00000"/>
                </a:solidFill>
              </a:rPr>
              <a:t> space is limited!</a:t>
            </a:r>
            <a:endParaRPr b="1"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1 1		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0 0		 4	The result looks different,</a:t>
            </a:r>
            <a:endParaRPr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0 1		 5	since the sign doesn’t “flip”,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1 0		 6  	but nevertheless it is the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1 1 		 7  	wrong result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0 0		8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0 1		9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1 0		10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1 1		11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0 0		12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0 1		13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1 0		14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1 1		15</a:t>
            </a:r>
            <a:endParaRPr/>
          </a:p>
        </p:txBody>
      </p:sp>
      <p:sp>
        <p:nvSpPr>
          <p:cNvPr id="385" name="Google Shape;385;g30e1b13ebf0_0_447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Unsigned binary overflow: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0010           (  2 )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1111         + (  15 )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--------     -----------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trike="sng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0001			     </a:t>
            </a: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(overflow)</a:t>
            </a:r>
            <a:br>
              <a:rPr lang="en-US">
                <a:latin typeface="Consolas"/>
                <a:ea typeface="Consolas"/>
                <a:cs typeface="Consolas"/>
                <a:sym typeface="Consolas"/>
              </a:rPr>
            </a:br>
            <a:br>
              <a:rPr lang="en-US">
                <a:latin typeface="Consolas"/>
                <a:ea typeface="Consolas"/>
                <a:cs typeface="Consolas"/>
                <a:sym typeface="Consolas"/>
              </a:rPr>
            </a:b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(note: we do get the correct answer 17 if we don’t ignore the </a:t>
            </a:r>
            <a:r>
              <a:rPr i="1" lang="en-US" sz="18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carryout</a:t>
            </a:r>
            <a:r>
              <a:rPr lang="en-US" sz="18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/>
              <a:t>)</a:t>
            </a:r>
            <a:endParaRPr/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1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(Overflow only happens when there isn’t enough storage, it literally </a:t>
            </a:r>
            <a:r>
              <a:rPr i="1" lang="en-US" sz="1800">
                <a:latin typeface="Consolas"/>
                <a:ea typeface="Consolas"/>
                <a:cs typeface="Consolas"/>
                <a:sym typeface="Consolas"/>
              </a:rPr>
              <a:t>overflows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) </a:t>
            </a:r>
            <a:br>
              <a:rPr lang="en-US" sz="1800">
                <a:latin typeface="Consolas"/>
                <a:ea typeface="Consolas"/>
                <a:cs typeface="Consolas"/>
                <a:sym typeface="Consolas"/>
              </a:rPr>
            </a:b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0e1b13ebf0_0_53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Subtraction with Two’s Complement: full example</a:t>
            </a:r>
            <a:endParaRPr/>
          </a:p>
        </p:txBody>
      </p:sp>
      <p:sp>
        <p:nvSpPr>
          <p:cNvPr id="392" name="Google Shape;392;g30e1b13ebf0_0_5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3000"/>
              <a:buAutoNum type="arabicPeriod"/>
            </a:pPr>
            <a:r>
              <a:rPr lang="en-US"/>
              <a:t>What if we end up with a negative result? </a:t>
            </a:r>
            <a:endParaRPr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lphaLcPeriod"/>
            </a:pPr>
            <a:r>
              <a:rPr lang="en-US"/>
              <a:t>E.g.: How to calculate 4 + (-20) in binary? [FULL SOLUTION]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/>
              <a:t>How to do addition/subtraction in binary in general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0e1b13ebf0_0_59"/>
          <p:cNvSpPr txBox="1"/>
          <p:nvPr>
            <p:ph idx="1" type="body"/>
          </p:nvPr>
        </p:nvSpPr>
        <p:spPr>
          <a:xfrm>
            <a:off x="533400" y="1749425"/>
            <a:ext cx="11065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Steps</a:t>
            </a:r>
            <a:br>
              <a:rPr lang="en-US" sz="2800"/>
            </a:br>
            <a:endParaRPr sz="2800"/>
          </a:p>
          <a:p>
            <a:pPr indent="-4191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3000"/>
              <a:buAutoNum type="arabicPeriod"/>
            </a:pPr>
            <a:r>
              <a:rPr lang="en-US"/>
              <a:t>Convert 4 and 20 to binary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/>
              <a:t>Apply Two’s Complement rule to (-20)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/>
              <a:t>Add the two binary numbers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/>
              <a:t>4. Convert result to decimal to check your answer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2600"/>
              <a:buChar char="-"/>
            </a:pPr>
            <a:r>
              <a:rPr lang="en-US" sz="2600"/>
              <a:t>IF THE ANSWER IS NEGATIVE, how to convert to decimal?</a:t>
            </a:r>
            <a:endParaRPr sz="2600"/>
          </a:p>
          <a:p>
            <a:pPr indent="-3937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-US"/>
              <a:t>you can apply Two’s Complement rule to the answer </a:t>
            </a:r>
            <a:endParaRPr/>
          </a:p>
          <a:p>
            <a:pPr indent="-393700" lvl="2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-US"/>
              <a:t>(this will flip it to a positive number)</a:t>
            </a:r>
            <a:endParaRPr/>
          </a:p>
          <a:p>
            <a:pPr indent="-3937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-US"/>
              <a:t>THEN convert to decimal to double check your answer</a:t>
            </a:r>
            <a:endParaRPr sz="2800"/>
          </a:p>
        </p:txBody>
      </p:sp>
      <p:sp>
        <p:nvSpPr>
          <p:cNvPr id="398" name="Google Shape;398;g30e1b13ebf0_0_59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How do we calculate 4 + (-20) in binary?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0e1b13ebf0_0_64"/>
          <p:cNvSpPr txBox="1"/>
          <p:nvPr>
            <p:ph idx="1" type="body"/>
          </p:nvPr>
        </p:nvSpPr>
        <p:spPr>
          <a:xfrm>
            <a:off x="533400" y="1749425"/>
            <a:ext cx="11065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Step 1. </a:t>
            </a:r>
            <a:r>
              <a:rPr lang="en-US"/>
              <a:t>Convert 4 and 20 to binary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336550" lvl="0" marL="51435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Quattrocento Sans"/>
              <a:buNone/>
            </a:pPr>
            <a:r>
              <a:t/>
            </a:r>
            <a:endParaRPr sz="2800"/>
          </a:p>
          <a:p>
            <a:pPr indent="-336550" lvl="0" marL="51435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Quattrocento Sans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404" name="Google Shape;404;g30e1b13ebf0_0_64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How do we calculate 4 + (-20) in binary?</a:t>
            </a:r>
            <a:endParaRPr/>
          </a:p>
        </p:txBody>
      </p:sp>
      <p:graphicFrame>
        <p:nvGraphicFramePr>
          <p:cNvPr id="405" name="Google Shape;405;g30e1b13ebf0_0_64"/>
          <p:cNvGraphicFramePr/>
          <p:nvPr/>
        </p:nvGraphicFramePr>
        <p:xfrm>
          <a:off x="361129" y="25138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{E2F07A8C-DEC2-4896-BA0B-73D9109C7020}</a:tableStyleId>
              </a:tblPr>
              <a:tblGrid>
                <a:gridCol w="1389800"/>
                <a:gridCol w="1389800"/>
                <a:gridCol w="1389800"/>
              </a:tblGrid>
              <a:tr h="48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Steps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Outcome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Remainder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8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8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8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81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Quattrocento Sans"/>
                        <a:buNone/>
                      </a:pPr>
                      <a:r>
                        <a:rPr lang="en-US" sz="1800"/>
                        <a:t>Stop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707650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/>
                        <a:t>4</a:t>
                      </a:r>
                      <a:r>
                        <a:rPr b="1" baseline="-25000" lang="en-US" sz="3600"/>
                        <a:t>10 </a:t>
                      </a:r>
                      <a:r>
                        <a:rPr b="1" lang="en-US" sz="3600"/>
                        <a:t>= 100</a:t>
                      </a:r>
                      <a:r>
                        <a:rPr b="1" baseline="-25000" lang="en-US" sz="36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406" name="Google Shape;406;g30e1b13ebf0_0_64"/>
          <p:cNvGraphicFramePr/>
          <p:nvPr/>
        </p:nvGraphicFramePr>
        <p:xfrm>
          <a:off x="4849254" y="2550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{E2F07A8C-DEC2-4896-BA0B-73D9109C7020}</a:tableStyleId>
              </a:tblPr>
              <a:tblGrid>
                <a:gridCol w="1389800"/>
                <a:gridCol w="1389800"/>
                <a:gridCol w="1389800"/>
              </a:tblGrid>
              <a:tr h="48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Steps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Outcome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Remainder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8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8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8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8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8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81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Quattrocento Sans"/>
                        <a:buNone/>
                      </a:pPr>
                      <a:r>
                        <a:rPr lang="en-US" sz="1800"/>
                        <a:t>Stop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707650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/>
                        <a:t>20</a:t>
                      </a:r>
                      <a:r>
                        <a:rPr b="1" baseline="-25000" lang="en-US" sz="3600"/>
                        <a:t>10 </a:t>
                      </a:r>
                      <a:r>
                        <a:rPr b="1" lang="en-US" sz="3600"/>
                        <a:t>= 10100</a:t>
                      </a:r>
                      <a:r>
                        <a:rPr b="1" baseline="-25000" lang="en-US" sz="36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0e1b13ebf0_0_71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How do we calculate 4 + (-20) in binary?</a:t>
            </a:r>
            <a:endParaRPr/>
          </a:p>
        </p:txBody>
      </p:sp>
      <p:sp>
        <p:nvSpPr>
          <p:cNvPr id="412" name="Google Shape;412;g30e1b13ebf0_0_71"/>
          <p:cNvSpPr txBox="1"/>
          <p:nvPr>
            <p:ph idx="1" type="body"/>
          </p:nvPr>
        </p:nvSpPr>
        <p:spPr>
          <a:xfrm>
            <a:off x="533400" y="1749425"/>
            <a:ext cx="11065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20"/>
              <a:t>Step 2: </a:t>
            </a:r>
            <a:r>
              <a:rPr lang="en-US" sz="3920"/>
              <a:t>Apply Two’s Complement to 20</a:t>
            </a:r>
            <a:r>
              <a:rPr baseline="-25000" lang="en-US" sz="3920"/>
              <a:t>10</a:t>
            </a:r>
            <a:r>
              <a:rPr lang="en-US" sz="3920"/>
              <a:t> (10100)</a:t>
            </a:r>
            <a:r>
              <a:rPr baseline="-25000" lang="en-US" sz="3920"/>
              <a:t>2</a:t>
            </a:r>
            <a:br>
              <a:rPr baseline="-25000" lang="en-US" sz="2800"/>
            </a:br>
            <a:endParaRPr/>
          </a:p>
          <a:p>
            <a:pPr indent="-335280" lvl="0" marL="45720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400"/>
              <a:t>Ask yourself: do I have enough bits to prevent overflow?</a:t>
            </a:r>
            <a:endParaRPr sz="2400"/>
          </a:p>
          <a:p>
            <a:pPr indent="0" lvl="0" marL="91440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b="1" lang="en-US" sz="2400"/>
              <a:t>Rule of thumb: “pad” </a:t>
            </a:r>
            <a:r>
              <a:rPr lang="en-US" sz="2400"/>
              <a:t>the number with zeros until you reach the next “byte”</a:t>
            </a:r>
            <a:endParaRPr sz="2400"/>
          </a:p>
          <a:p>
            <a:pPr indent="457200" lvl="2" marL="91440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e.g. (20)</a:t>
            </a:r>
            <a:r>
              <a:rPr b="1" baseline="-25000" lang="en-US" sz="24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= (1 0100)</a:t>
            </a:r>
            <a:r>
              <a:rPr b="1" baseline="-25000" lang="en-US" sz="2400">
                <a:latin typeface="Courier New"/>
                <a:ea typeface="Courier New"/>
                <a:cs typeface="Courier New"/>
                <a:sym typeface="Courier New"/>
              </a:rPr>
              <a:t>2   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-&gt; (0001 0100)</a:t>
            </a:r>
            <a:r>
              <a:rPr b="1" baseline="-25000" lang="en-US" sz="2400"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1" sz="2400"/>
          </a:p>
          <a:p>
            <a:pPr indent="0" lvl="0" marL="91440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b="1" lang="en-US" sz="2400"/>
              <a:t>Rule of thumb #2: </a:t>
            </a:r>
            <a:r>
              <a:rPr lang="en-US" sz="2400"/>
              <a:t>if the byte is already full, add an extra byte</a:t>
            </a:r>
            <a:endParaRPr sz="2400"/>
          </a:p>
          <a:p>
            <a:pPr indent="0" lvl="0" marL="91440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2400"/>
              <a:t>	a different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e.g. (15)</a:t>
            </a:r>
            <a:r>
              <a:rPr baseline="-25000" lang="en-US" sz="24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= (1111)</a:t>
            </a:r>
            <a:r>
              <a:rPr baseline="-25000" lang="en-US" sz="2400">
                <a:latin typeface="Courier New"/>
                <a:ea typeface="Courier New"/>
                <a:cs typeface="Courier New"/>
                <a:sym typeface="Courier New"/>
              </a:rPr>
              <a:t>2 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-&gt; (0000 1111)</a:t>
            </a:r>
            <a:r>
              <a:rPr baseline="-25000" lang="en-US" sz="2400"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2400"/>
          </a:p>
          <a:p>
            <a:pPr indent="-335280" lvl="0" marL="45720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400"/>
              <a:t>Invert all the bits in step 1:</a:t>
            </a:r>
            <a:endParaRPr/>
          </a:p>
          <a:p>
            <a:pPr indent="0" lvl="2" marL="91440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ct val="100000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0001 0100 -&gt; invert -&gt; 1110 1011</a:t>
            </a:r>
            <a:endParaRPr sz="2400"/>
          </a:p>
          <a:p>
            <a:pPr indent="-335280" lvl="0" marL="45720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400"/>
              <a:t>Add 1 to the inverted value</a:t>
            </a:r>
            <a:endParaRPr sz="2400"/>
          </a:p>
          <a:p>
            <a:pPr indent="0" lvl="0" marL="68580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2400"/>
              <a:t>	</a:t>
            </a:r>
            <a:r>
              <a:rPr b="1" lang="en-US" sz="2400">
                <a:latin typeface="Consolas"/>
                <a:ea typeface="Consolas"/>
                <a:cs typeface="Consolas"/>
                <a:sym typeface="Consolas"/>
              </a:rPr>
              <a:t>1110 1011 + 1 = 1110 1100</a:t>
            </a:r>
            <a:endParaRPr b="1"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55A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55A4"/>
                </a:solidFill>
                <a:latin typeface="Courier New"/>
                <a:ea typeface="Courier New"/>
                <a:cs typeface="Courier New"/>
                <a:sym typeface="Courier New"/>
              </a:rPr>
              <a:t>therefore, </a:t>
            </a:r>
            <a:r>
              <a:rPr b="1" lang="en-US" sz="2400">
                <a:solidFill>
                  <a:srgbClr val="0055A4"/>
                </a:solidFill>
                <a:latin typeface="Courier New"/>
                <a:ea typeface="Courier New"/>
                <a:cs typeface="Courier New"/>
                <a:sym typeface="Courier New"/>
              </a:rPr>
              <a:t>-20</a:t>
            </a:r>
            <a:r>
              <a:rPr b="1" baseline="-25000" lang="en-US" sz="2400">
                <a:solidFill>
                  <a:srgbClr val="0055A4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en-US" sz="2400">
                <a:solidFill>
                  <a:srgbClr val="0055A4"/>
                </a:solidFill>
                <a:latin typeface="Courier New"/>
                <a:ea typeface="Courier New"/>
                <a:cs typeface="Courier New"/>
                <a:sym typeface="Courier New"/>
              </a:rPr>
              <a:t> = 1110 1100</a:t>
            </a:r>
            <a:r>
              <a:rPr b="1" baseline="-25000" lang="en-US" sz="2400">
                <a:solidFill>
                  <a:srgbClr val="0055A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-US" sz="2400">
                <a:solidFill>
                  <a:srgbClr val="0055A4"/>
                </a:solidFill>
              </a:rPr>
              <a:t> </a:t>
            </a:r>
            <a:endParaRPr sz="2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0e1b13ebf0_0_76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How do we calculate 4 + (-20) in binary?</a:t>
            </a:r>
            <a:endParaRPr/>
          </a:p>
        </p:txBody>
      </p:sp>
      <p:sp>
        <p:nvSpPr>
          <p:cNvPr id="418" name="Google Shape;418;g30e1b13ebf0_0_76"/>
          <p:cNvSpPr txBox="1"/>
          <p:nvPr>
            <p:ph idx="1" type="body"/>
          </p:nvPr>
        </p:nvSpPr>
        <p:spPr>
          <a:xfrm>
            <a:off x="533400" y="1749425"/>
            <a:ext cx="11065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Step 2: </a:t>
            </a:r>
            <a:r>
              <a:rPr lang="en-US" sz="2800"/>
              <a:t>Apply Two’s Complement to 20</a:t>
            </a:r>
            <a:r>
              <a:rPr baseline="-25000" lang="en-US" sz="2800"/>
              <a:t>10</a:t>
            </a:r>
            <a:r>
              <a:rPr lang="en-US" sz="2800"/>
              <a:t> (10100)</a:t>
            </a:r>
            <a:r>
              <a:rPr baseline="-25000" lang="en-US" sz="2800"/>
              <a:t>2</a:t>
            </a:r>
            <a:br>
              <a:rPr baseline="-25000" lang="en-US" sz="2800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ct val="100000"/>
              <a:buFont typeface="Arial"/>
              <a:buNone/>
            </a:pPr>
            <a:r>
              <a:rPr lang="en-US" sz="2800"/>
              <a:t>Aside</a:t>
            </a:r>
            <a:r>
              <a:rPr lang="en-US" sz="2800"/>
              <a:t>: why this rule of thumb to </a:t>
            </a:r>
            <a:r>
              <a:rPr b="1" lang="en-US" sz="2800"/>
              <a:t>pad </a:t>
            </a:r>
            <a:r>
              <a:rPr lang="en-US" sz="2800"/>
              <a:t>extra bits?</a:t>
            </a:r>
            <a:r>
              <a:rPr lang="en-US" sz="2800"/>
              <a:t> </a:t>
            </a:r>
            <a:endParaRPr sz="2800"/>
          </a:p>
          <a:p>
            <a:pPr indent="-339725" lvl="0" marL="457200" rtl="0" algn="l">
              <a:lnSpc>
                <a:spcPct val="115000"/>
              </a:lnSpc>
              <a:spcBef>
                <a:spcPts val="840"/>
              </a:spcBef>
              <a:spcAft>
                <a:spcPts val="0"/>
              </a:spcAft>
              <a:buSzPct val="100000"/>
              <a:buChar char="-"/>
            </a:pPr>
            <a:r>
              <a:rPr lang="en-US" sz="2800"/>
              <a:t>you can add as many bits as you like! Adding zero to the left hand side of a number never changes its value.</a:t>
            </a:r>
            <a:endParaRPr sz="2800"/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800"/>
              <a:t>These just become extra 1’s on the left hand side of a negative number in Two’s Complement.</a:t>
            </a:r>
            <a:endParaRPr sz="2800"/>
          </a:p>
          <a:p>
            <a:pPr indent="0" lvl="0" marL="0" rtl="0" algn="l">
              <a:lnSpc>
                <a:spcPct val="115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lang="en-US" sz="2800"/>
              <a:t>Let’s say we used 12 bits instead of 8. We would get:</a:t>
            </a:r>
            <a:endParaRPr sz="2800"/>
          </a:p>
          <a:p>
            <a:pPr indent="0" lvl="0" marL="0" rtl="0" algn="l">
              <a:lnSpc>
                <a:spcPct val="115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lang="en-US" sz="2800"/>
              <a:t>	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1" baseline="-25000" lang="en-US" sz="24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= 10100</a:t>
            </a:r>
            <a:r>
              <a:rPr b="1" baseline="-25000" lang="en-US" sz="2400">
                <a:latin typeface="Courier New"/>
                <a:ea typeface="Courier New"/>
                <a:cs typeface="Courier New"/>
                <a:sym typeface="Courier New"/>
              </a:rPr>
              <a:t>2    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-&gt; 0000 0001 0100</a:t>
            </a:r>
            <a:r>
              <a:rPr b="1" baseline="-25000" lang="en-US" sz="2400"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b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	0000 0001 0100 -&gt; invert -&gt; 1111 11101011</a:t>
            </a:r>
            <a:b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400">
                <a:latin typeface="Consolas"/>
                <a:ea typeface="Consolas"/>
                <a:cs typeface="Consolas"/>
                <a:sym typeface="Consolas"/>
              </a:rPr>
              <a:t>1111 1110 1011 + 1 = 1111 1110 1100</a:t>
            </a:r>
            <a:endParaRPr b="1"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55A4"/>
                </a:solidFill>
                <a:latin typeface="Courier New"/>
                <a:ea typeface="Courier New"/>
                <a:cs typeface="Courier New"/>
                <a:sym typeface="Courier New"/>
              </a:rPr>
              <a:t>therefore, </a:t>
            </a:r>
            <a:r>
              <a:rPr b="1" lang="en-US" sz="2400">
                <a:solidFill>
                  <a:srgbClr val="0055A4"/>
                </a:solidFill>
                <a:latin typeface="Courier New"/>
                <a:ea typeface="Courier New"/>
                <a:cs typeface="Courier New"/>
                <a:sym typeface="Courier New"/>
              </a:rPr>
              <a:t>-20</a:t>
            </a:r>
            <a:r>
              <a:rPr b="1" baseline="-25000" lang="en-US" sz="2400">
                <a:solidFill>
                  <a:srgbClr val="0055A4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en-US" sz="2400">
                <a:solidFill>
                  <a:srgbClr val="0055A4"/>
                </a:solidFill>
                <a:latin typeface="Courier New"/>
                <a:ea typeface="Courier New"/>
                <a:cs typeface="Courier New"/>
                <a:sym typeface="Courier New"/>
              </a:rPr>
              <a:t> = 1111 1110 1100</a:t>
            </a:r>
            <a:r>
              <a:rPr b="1" baseline="-25000" lang="en-US" sz="2400">
                <a:solidFill>
                  <a:srgbClr val="0055A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-US" sz="2400">
                <a:solidFill>
                  <a:srgbClr val="0055A4"/>
                </a:solidFill>
              </a:rPr>
              <a:t> </a:t>
            </a:r>
            <a:br>
              <a:rPr b="1" lang="en-US" sz="2400">
                <a:solidFill>
                  <a:srgbClr val="0055A4"/>
                </a:solidFill>
              </a:rPr>
            </a:br>
            <a:br>
              <a:rPr b="1" lang="en-US" sz="2400">
                <a:solidFill>
                  <a:srgbClr val="0055A4"/>
                </a:solidFill>
              </a:rPr>
            </a:br>
            <a:r>
              <a:rPr lang="en-US" sz="2400">
                <a:solidFill>
                  <a:srgbClr val="0055A4"/>
                </a:solidFill>
              </a:rPr>
              <a:t>(this is actually the same as the result on the previous slide, just with extra 1s one the left hand side).</a:t>
            </a:r>
            <a:endParaRPr sz="24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0e1b13ebf0_0_81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How do we calculate 4 + (-20) in binary?</a:t>
            </a:r>
            <a:endParaRPr/>
          </a:p>
        </p:txBody>
      </p:sp>
      <p:sp>
        <p:nvSpPr>
          <p:cNvPr id="424" name="Google Shape;424;g30e1b13ebf0_0_81"/>
          <p:cNvSpPr txBox="1"/>
          <p:nvPr>
            <p:ph idx="1" type="body"/>
          </p:nvPr>
        </p:nvSpPr>
        <p:spPr>
          <a:xfrm>
            <a:off x="533400" y="1749425"/>
            <a:ext cx="11065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Step 3: </a:t>
            </a:r>
            <a:r>
              <a:rPr lang="en-US"/>
              <a:t>Add the two binary numbers </a:t>
            </a:r>
            <a:endParaRPr/>
          </a:p>
          <a:p>
            <a:pPr indent="0" lvl="0" marL="0" rtl="0" algn="l"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None/>
            </a:pPr>
            <a:r>
              <a:rPr b="1" lang="en-US" sz="2200">
                <a:latin typeface="Consolas"/>
                <a:ea typeface="Consolas"/>
                <a:cs typeface="Consolas"/>
                <a:sym typeface="Consolas"/>
              </a:rPr>
              <a:t>0 0 </a:t>
            </a:r>
            <a:r>
              <a:rPr b="1" lang="en-US" sz="2200">
                <a:latin typeface="Consolas"/>
                <a:ea typeface="Consolas"/>
                <a:cs typeface="Consolas"/>
                <a:sym typeface="Consolas"/>
              </a:rPr>
              <a:t>0 0	 0 1 0 0		(4)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spcBef>
                <a:spcPts val="840"/>
              </a:spcBef>
              <a:spcAft>
                <a:spcPts val="0"/>
              </a:spcAft>
              <a:buNone/>
            </a:pPr>
            <a:r>
              <a:rPr b="1" lang="en-US" sz="2200">
                <a:latin typeface="Consolas"/>
                <a:ea typeface="Consolas"/>
                <a:cs typeface="Consolas"/>
                <a:sym typeface="Consolas"/>
              </a:rPr>
              <a:t>+		1 1 1	0	 1 1 0 0		(-20)</a:t>
            </a:r>
            <a:endParaRPr b="1" sz="2200"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spcBef>
                <a:spcPts val="840"/>
              </a:spcBef>
              <a:spcAft>
                <a:spcPts val="0"/>
              </a:spcAft>
              <a:buNone/>
            </a:pPr>
            <a:r>
              <a:rPr b="1" lang="en-US" sz="2200">
                <a:latin typeface="Consolas"/>
                <a:ea typeface="Consolas"/>
                <a:cs typeface="Consolas"/>
                <a:sym typeface="Consolas"/>
              </a:rPr>
              <a:t>-------------------------------</a:t>
            </a:r>
            <a:endParaRPr b="1" sz="2200"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685800" rtl="0" algn="l">
              <a:spcBef>
                <a:spcPts val="84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1 1 1 1	 0	0 0 0		</a:t>
            </a:r>
            <a:endParaRPr b="1" sz="220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spcBef>
                <a:spcPts val="84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None/>
            </a:pPr>
            <a:r>
              <a:t/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(note:</a:t>
            </a:r>
            <a:r>
              <a:rPr b="1" lang="en-US" sz="2200"/>
              <a:t>pad</a:t>
            </a:r>
            <a:r>
              <a:rPr lang="en-US" sz="2200"/>
              <a:t> the left of both numbers so that there’s the same number of bits for both)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0e1b13ebf0_0_86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How do we calculate 4 + (-20) in binary?</a:t>
            </a:r>
            <a:endParaRPr/>
          </a:p>
        </p:txBody>
      </p:sp>
      <p:sp>
        <p:nvSpPr>
          <p:cNvPr id="430" name="Google Shape;430;g30e1b13ebf0_0_86"/>
          <p:cNvSpPr txBox="1"/>
          <p:nvPr>
            <p:ph idx="1" type="body"/>
          </p:nvPr>
        </p:nvSpPr>
        <p:spPr>
          <a:xfrm>
            <a:off x="533400" y="1749425"/>
            <a:ext cx="11065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Step 4: </a:t>
            </a:r>
            <a:r>
              <a:rPr lang="en-US"/>
              <a:t>Check your answer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spcBef>
                <a:spcPts val="84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 sz="22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	1111 0000</a:t>
            </a:r>
            <a:r>
              <a:rPr b="1" baseline="-25000" lang="en-US" sz="22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-US" sz="22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is a negative number (begins with ‘1’) -- so to double check, let’s apply the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spcBef>
                <a:spcPts val="84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Two’s Complement rule to make it positive again.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spcBef>
                <a:spcPts val="84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5280" lvl="0" marL="45720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400"/>
              <a:t>Invert all the bits:</a:t>
            </a:r>
            <a:endParaRPr/>
          </a:p>
          <a:p>
            <a:pPr indent="0" lvl="2" marL="91440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-US" sz="22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r>
              <a:rPr b="1" lang="en-US" sz="22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11 0000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-&gt; invert -&gt; </a:t>
            </a:r>
            <a:r>
              <a:rPr b="1" lang="en-US" sz="22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0000 1111</a:t>
            </a:r>
            <a:endParaRPr sz="2400"/>
          </a:p>
          <a:p>
            <a:pPr indent="-335280" lvl="0" marL="45720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400"/>
              <a:t>Add 1 to the inverted value</a:t>
            </a:r>
            <a:br>
              <a:rPr lang="en-US" sz="2400"/>
            </a:br>
            <a:br>
              <a:rPr lang="en-US" sz="2400"/>
            </a:br>
            <a:r>
              <a:rPr lang="en-US" sz="2400"/>
              <a:t>	</a:t>
            </a:r>
            <a:r>
              <a:rPr b="1" lang="en-US" sz="22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0000 1111</a:t>
            </a:r>
            <a:r>
              <a:rPr b="1" lang="en-US" sz="2400"/>
              <a:t> + 1 = </a:t>
            </a:r>
            <a:r>
              <a:rPr b="1" lang="en-US" sz="22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0001 0000</a:t>
            </a:r>
            <a:endParaRPr sz="2400"/>
          </a:p>
          <a:p>
            <a:pPr indent="-3352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400"/>
              <a:t>Convert to decimal</a:t>
            </a:r>
            <a:endParaRPr sz="2400"/>
          </a:p>
          <a:p>
            <a:pPr indent="457200" lvl="0" marL="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0001 0000 = 2</a:t>
            </a:r>
            <a:r>
              <a:rPr b="1" baseline="30000" lang="en-US" sz="22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en-US" sz="2200">
                <a:solidFill>
                  <a:srgbClr val="D24726"/>
                </a:solidFill>
                <a:latin typeface="Courier New"/>
                <a:ea typeface="Courier New"/>
                <a:cs typeface="Courier New"/>
                <a:sym typeface="Courier New"/>
              </a:rPr>
              <a:t> = 16</a:t>
            </a:r>
            <a:endParaRPr b="1" sz="2200">
              <a:solidFill>
                <a:srgbClr val="D2472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26390" lvl="0" marL="457200" rtl="0" algn="l">
              <a:lnSpc>
                <a:spcPct val="115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ct val="100000"/>
              <a:buFont typeface="Courier New"/>
              <a:buAutoNum type="arabicPeriod"/>
            </a:pPr>
            <a:r>
              <a:rPr b="1" lang="en-US" sz="2200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This means we correctly calculated: 4 - 20 = -16 	[end of solution]</a:t>
            </a:r>
            <a:endParaRPr b="1" sz="2200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0e1b13ebf0_0_91"/>
          <p:cNvSpPr txBox="1"/>
          <p:nvPr>
            <p:ph idx="1" type="body"/>
          </p:nvPr>
        </p:nvSpPr>
        <p:spPr>
          <a:xfrm>
            <a:off x="533400" y="1749425"/>
            <a:ext cx="11065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Steps (Review)</a:t>
            </a:r>
            <a:br>
              <a:rPr lang="en-US" sz="2800"/>
            </a:br>
            <a:endParaRPr sz="2800"/>
          </a:p>
          <a:p>
            <a:pPr indent="-3619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Converting 4 and 20 to binary</a:t>
            </a:r>
            <a:endParaRPr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Apply Two’s Complement rule to (-20)</a:t>
            </a:r>
            <a:endParaRPr/>
          </a:p>
          <a:p>
            <a:pPr indent="-34416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How many bits do we need to represent -20?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Rule of thumb: pad the number with extra zeros to fill another byte</a:t>
            </a:r>
            <a:endParaRPr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Add the two binary numbers </a:t>
            </a:r>
            <a:endParaRPr/>
          </a:p>
          <a:p>
            <a:pPr indent="-34416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Important: use all of the bits from step 2 for both numbers</a:t>
            </a:r>
            <a:endParaRPr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Check your answer: convert the result to decimal</a:t>
            </a:r>
            <a:endParaRPr/>
          </a:p>
          <a:p>
            <a:pPr indent="-34416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Trick: if the answer is negative, apply Two’s Complement rule again </a:t>
            </a:r>
            <a:r>
              <a:rPr b="1" lang="en-US"/>
              <a:t>before</a:t>
            </a:r>
            <a:r>
              <a:rPr lang="en-US"/>
              <a:t> converting to decimal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336550" lvl="0" marL="51435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ct val="100000"/>
              <a:buFont typeface="Quattrocento Sans"/>
              <a:buNone/>
            </a:pPr>
            <a:r>
              <a:t/>
            </a:r>
            <a:endParaRPr sz="2800"/>
          </a:p>
          <a:p>
            <a:pPr indent="-336550" lvl="0" marL="51435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ct val="100000"/>
              <a:buFont typeface="Quattrocento Sans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t/>
            </a:r>
            <a:endParaRPr sz="2800"/>
          </a:p>
        </p:txBody>
      </p:sp>
      <p:sp>
        <p:nvSpPr>
          <p:cNvPr id="436" name="Google Shape;436;g30e1b13ebf0_0_91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How do we calculate 4 + (-20) in binary?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0e1b13ebf0_0_96"/>
          <p:cNvSpPr txBox="1"/>
          <p:nvPr>
            <p:ph idx="1" type="body"/>
          </p:nvPr>
        </p:nvSpPr>
        <p:spPr>
          <a:xfrm>
            <a:off x="533400" y="1749425"/>
            <a:ext cx="11065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Steps (no matter what the numbers are)</a:t>
            </a:r>
            <a:br>
              <a:rPr lang="en-US" sz="2800"/>
            </a:br>
            <a:endParaRPr sz="2800"/>
          </a:p>
          <a:p>
            <a:pPr indent="-3619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Convert from decimal to binary</a:t>
            </a:r>
            <a:endParaRPr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Apply Two’s Complement rule to all negative numbers</a:t>
            </a:r>
            <a:endParaRPr/>
          </a:p>
          <a:p>
            <a:pPr indent="-34416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Important: choosing the right number of bits to use to prevent </a:t>
            </a:r>
            <a:r>
              <a:rPr b="1" lang="en-US"/>
              <a:t>overflow</a:t>
            </a:r>
            <a:r>
              <a:rPr lang="en-US"/>
              <a:t>.</a:t>
            </a:r>
            <a:r>
              <a:rPr lang="en-US"/>
              <a:t> 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Rule of thumb: pad the number with extra zeros to fill another byte</a:t>
            </a:r>
            <a:endParaRPr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Add the two binary numbers </a:t>
            </a:r>
            <a:endParaRPr/>
          </a:p>
          <a:p>
            <a:pPr indent="-34416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Important: use all of the bits from step 2</a:t>
            </a:r>
            <a:endParaRPr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Check your answer: convert the result to decimal</a:t>
            </a:r>
            <a:endParaRPr/>
          </a:p>
          <a:p>
            <a:pPr indent="-34416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Trick: if the answer is negative, apply Two’s Complement rule again </a:t>
            </a:r>
            <a:r>
              <a:rPr b="1" lang="en-US"/>
              <a:t>before</a:t>
            </a:r>
            <a:r>
              <a:rPr lang="en-US"/>
              <a:t> converting to decimal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336550" lvl="0" marL="51435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ct val="100000"/>
              <a:buFont typeface="Quattrocento Sans"/>
              <a:buNone/>
            </a:pPr>
            <a:r>
              <a:t/>
            </a:r>
            <a:endParaRPr sz="2800"/>
          </a:p>
          <a:p>
            <a:pPr indent="-336550" lvl="0" marL="51435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ct val="100000"/>
              <a:buFont typeface="Quattrocento Sans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t/>
            </a:r>
            <a:endParaRPr sz="2800"/>
          </a:p>
        </p:txBody>
      </p:sp>
      <p:sp>
        <p:nvSpPr>
          <p:cNvPr id="442" name="Google Shape;442;g30e1b13ebf0_0_96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Binary subtraction in general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0e1b13ebf0_0_112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Reminder: Number of numbers we can represent</a:t>
            </a:r>
            <a:endParaRPr/>
          </a:p>
        </p:txBody>
      </p:sp>
      <p:sp>
        <p:nvSpPr>
          <p:cNvPr id="448" name="Google Shape;448;g30e1b13ebf0_0_112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0 0		-8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0 1 		-7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1 0		-6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0 1 1		-5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0 0		-4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0 1		-3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1 0		-2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1 1 1 1		-1</a:t>
            </a:r>
            <a:endParaRPr/>
          </a:p>
          <a:p>
            <a:pPr indent="0" lvl="0" marL="0" rtl="0" algn="l">
              <a:spcBef>
                <a:spcPts val="660"/>
              </a:spcBef>
              <a:spcAft>
                <a:spcPts val="0"/>
              </a:spcAft>
              <a:buClr>
                <a:srgbClr val="0055A4"/>
              </a:buClr>
              <a:buSzPct val="100000"/>
              <a:buNone/>
            </a:pPr>
            <a:r>
              <a:rPr lang="en-US"/>
              <a:t>0 0 0 0		 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0 1		 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1 0		 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0 1 1		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0 0		 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0 1		 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1 0		 6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0 1 1 1 		 7</a:t>
            </a:r>
            <a:endParaRPr/>
          </a:p>
        </p:txBody>
      </p:sp>
      <p:sp>
        <p:nvSpPr>
          <p:cNvPr id="449" name="Google Shape;449;g30e1b13ebf0_0_112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How many </a:t>
            </a:r>
            <a:r>
              <a:rPr b="1" lang="en-US"/>
              <a:t>signed </a:t>
            </a:r>
            <a:r>
              <a:rPr lang="en-US"/>
              <a:t>numbers can we represent with a number of bits in Two’s complement?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/>
              <a:t>Still the same magnitude as </a:t>
            </a:r>
            <a:r>
              <a:rPr b="1" lang="en-US"/>
              <a:t>un</a:t>
            </a:r>
            <a:r>
              <a:rPr b="1" lang="en-US"/>
              <a:t>signed</a:t>
            </a:r>
            <a:endParaRPr b="1"/>
          </a:p>
          <a:p>
            <a:pPr indent="-336867" lvl="0" marL="457200" rtl="0" algn="l">
              <a:lnSpc>
                <a:spcPct val="115000"/>
              </a:lnSpc>
              <a:spcBef>
                <a:spcPts val="511"/>
              </a:spcBef>
              <a:spcAft>
                <a:spcPts val="0"/>
              </a:spcAft>
              <a:buSzPct val="95652"/>
              <a:buChar char="-"/>
            </a:pPr>
            <a:r>
              <a:rPr lang="en-US"/>
              <a:t>4 bits -&gt; 2</a:t>
            </a:r>
            <a:r>
              <a:rPr baseline="30000" lang="en-US" sz="2300"/>
              <a:t>4</a:t>
            </a:r>
            <a:r>
              <a:rPr lang="en-US" sz="2300"/>
              <a:t> total numbers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95652"/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95652"/>
              <a:buNone/>
            </a:pPr>
            <a:r>
              <a:rPr lang="en-US" sz="2300"/>
              <a:t>But: the max values you can represent are approximately halved (because half of the numbers you’re representing are now negative!)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95652"/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95652"/>
              <a:buNone/>
            </a:pPr>
            <a:r>
              <a:rPr lang="en-US" sz="2300"/>
              <a:t>For 4 bits: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95652"/>
              <a:buNone/>
            </a:pPr>
            <a:r>
              <a:rPr lang="en-US" sz="2300"/>
              <a:t>Instead of </a:t>
            </a:r>
            <a:r>
              <a:rPr b="1" lang="en-US" sz="2300"/>
              <a:t>0 -&gt; 15 (unsigned)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511"/>
              </a:spcBef>
              <a:spcAft>
                <a:spcPts val="0"/>
              </a:spcAft>
              <a:buClr>
                <a:srgbClr val="7F7F7F"/>
              </a:buClr>
              <a:buSzPct val="95652"/>
              <a:buNone/>
            </a:pPr>
            <a:r>
              <a:rPr lang="en-US" sz="2300"/>
              <a:t>We now have </a:t>
            </a:r>
            <a:r>
              <a:rPr b="1" lang="en-US" sz="2300"/>
              <a:t>-8 -&gt; 7 (signed)</a:t>
            </a:r>
            <a:endParaRPr b="1" sz="23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0e1b13ebf0_0_453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Aside: the C# integer types, unsigned vs signed</a:t>
            </a:r>
            <a:endParaRPr/>
          </a:p>
        </p:txBody>
      </p:sp>
      <p:sp>
        <p:nvSpPr>
          <p:cNvPr id="455" name="Google Shape;455;g30e1b13ebf0_0_453"/>
          <p:cNvSpPr txBox="1"/>
          <p:nvPr>
            <p:ph idx="1" type="body"/>
          </p:nvPr>
        </p:nvSpPr>
        <p:spPr>
          <a:xfrm>
            <a:off x="441550" y="1825625"/>
            <a:ext cx="1153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 the difference between </a:t>
            </a:r>
            <a:r>
              <a:rPr b="1" lang="en-US"/>
              <a:t>signed</a:t>
            </a:r>
            <a:r>
              <a:rPr lang="en-US"/>
              <a:t> and </a:t>
            </a:r>
            <a:r>
              <a:rPr b="1" lang="en-US"/>
              <a:t>unsigned</a:t>
            </a:r>
            <a:r>
              <a:rPr lang="en-US"/>
              <a:t> is whether the data is stored in two’s complement or not!</a:t>
            </a:r>
            <a:endParaRPr sz="1898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b="1" lang="en-US" u="sng"/>
              <a:t>Type</a:t>
            </a:r>
            <a:r>
              <a:rPr lang="en-US" u="sng"/>
              <a:t>	</a:t>
            </a:r>
            <a:r>
              <a:rPr b="1" lang="en-US" u="sng"/>
              <a:t>Number of Bits	Signed or Unsigned?	Two’s complement?</a:t>
            </a:r>
            <a:br>
              <a:rPr lang="en-US"/>
            </a:br>
            <a:r>
              <a:rPr lang="en-US">
                <a:latin typeface="Consolas"/>
                <a:ea typeface="Consolas"/>
                <a:cs typeface="Consolas"/>
                <a:sym typeface="Consolas"/>
              </a:rPr>
              <a:t>sbyte 	8-bit			Signed				yes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byte 		8-bit			Unsigned				no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short 	16-bit		Signed				yes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ushort 	16-bit		Unsigned				no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int 		32-bit		Signed				yes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uint 		32-bit		Unsigned				no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long 		64-bit		Signed 				yes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ulong 	64-bit 		Unsigned				no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elcomeDoc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2017-10-15T21:06:31Z</dcterms:created>
  <dc:creator>Aref Mourtada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