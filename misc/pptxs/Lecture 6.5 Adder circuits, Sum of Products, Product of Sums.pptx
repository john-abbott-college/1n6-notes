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Quattrocento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qR1riVtJFW+uZqFyBwgH3fJkF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5E1A52-2E8C-4392-9D28-151D6CCC3783}">
  <a:tblStyle styleId="{C45E1A52-2E8C-4392-9D28-151D6CCC37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45CAF930-EF3B-4FF1-81B8-0488DD176A8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QuattrocentoSans-bold.fntdata"/><Relationship Id="rId23" Type="http://schemas.openxmlformats.org/officeDocument/2006/relationships/font" Target="fonts/QuattrocentoSans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QuattrocentoSans-boldItalic.fntdata"/><Relationship Id="rId25" Type="http://schemas.openxmlformats.org/officeDocument/2006/relationships/font" Target="fonts/QuattrocentoSans-italic.fntdata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4" name="Google Shape;2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0" name="Google Shape;2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fa22aae4d0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2fa22aae4d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2fa22aae4d0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fa22aae4d0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2fa22aae4d0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2fa22aae4d0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a22aae4d0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2fa22aae4d0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2fa22aae4d0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a22aae4d0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6" name="Google Shape;286;g2fa22aae4d0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fa22aae4d0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2fa22aae4d0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a22aae4d0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2fa22aae4d0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fa22aae4d0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2fa22aae4d0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fa22aae4d0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2fa22aae4d0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fa22aae4d0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2fa22aae4d0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fa22aae4d0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2fa22aae4d0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fa22aae4d0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2fa22aae4d0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56565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" name="Google Shape;17;p43"/>
          <p:cNvSpPr txBox="1"/>
          <p:nvPr>
            <p:ph type="ctrTitle"/>
          </p:nvPr>
        </p:nvSpPr>
        <p:spPr>
          <a:xfrm>
            <a:off x="838200" y="2061006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3"/>
          <p:cNvSpPr txBox="1"/>
          <p:nvPr>
            <p:ph idx="1" type="subTitle"/>
          </p:nvPr>
        </p:nvSpPr>
        <p:spPr>
          <a:xfrm>
            <a:off x="838202" y="5110609"/>
            <a:ext cx="10515598" cy="1137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43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43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3" name="Google Shape;2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0525" y="315939"/>
            <a:ext cx="46863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0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60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  <a:defRPr sz="3000">
                <a:solidFill>
                  <a:srgbClr val="7F7F7F"/>
                </a:solidFill>
              </a:defRPr>
            </a:lvl1pPr>
            <a:lvl2pPr indent="-3937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  <a:defRPr sz="2600"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0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0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0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60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2" name="Google Shape;32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1"/>
          <p:cNvSpPr/>
          <p:nvPr/>
        </p:nvSpPr>
        <p:spPr>
          <a:xfrm>
            <a:off x="0" y="1709738"/>
            <a:ext cx="12192000" cy="357518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" name="Google Shape;35;p61"/>
          <p:cNvSpPr txBox="1"/>
          <p:nvPr>
            <p:ph type="title"/>
          </p:nvPr>
        </p:nvSpPr>
        <p:spPr>
          <a:xfrm>
            <a:off x="838201" y="2402238"/>
            <a:ext cx="10515599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1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2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" name="Google Shape;41;p62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  <a:defRPr sz="22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Char char="•"/>
              <a:defRPr sz="22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2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2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62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8" name="Google Shape;4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3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" name="Google Shape;51;p63"/>
          <p:cNvSpPr txBox="1"/>
          <p:nvPr>
            <p:ph type="title"/>
          </p:nvPr>
        </p:nvSpPr>
        <p:spPr>
          <a:xfrm>
            <a:off x="838201" y="2402238"/>
            <a:ext cx="4508715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A4"/>
              </a:buClr>
              <a:buSzPts val="4800"/>
              <a:buFont typeface="Quattrocento Sans"/>
              <a:buNone/>
              <a:defRPr sz="4800">
                <a:solidFill>
                  <a:srgbClr val="0055A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" type="body"/>
          </p:nvPr>
        </p:nvSpPr>
        <p:spPr>
          <a:xfrm>
            <a:off x="6323308" y="2402237"/>
            <a:ext cx="5269424" cy="2187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63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3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3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63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7" name="Google Shape;5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87643" y="3074570"/>
            <a:ext cx="4273596" cy="842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4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" name="Google Shape;60;p64"/>
          <p:cNvSpPr txBox="1"/>
          <p:nvPr>
            <p:ph type="title"/>
          </p:nvPr>
        </p:nvSpPr>
        <p:spPr>
          <a:xfrm>
            <a:off x="604434" y="0"/>
            <a:ext cx="10749367" cy="1208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4"/>
          <p:cNvSpPr txBox="1"/>
          <p:nvPr>
            <p:ph idx="1" type="body"/>
          </p:nvPr>
        </p:nvSpPr>
        <p:spPr>
          <a:xfrm>
            <a:off x="838201" y="1825625"/>
            <a:ext cx="416775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660"/>
              </a:spcBef>
              <a:spcAft>
                <a:spcPts val="0"/>
              </a:spcAft>
              <a:buClr>
                <a:srgbClr val="7F7F7F"/>
              </a:buClr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64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4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4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64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6" name="Google Shape;6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" name="Google Shape;69;p65"/>
          <p:cNvSpPr txBox="1"/>
          <p:nvPr>
            <p:ph type="title"/>
          </p:nvPr>
        </p:nvSpPr>
        <p:spPr>
          <a:xfrm>
            <a:off x="609600" y="0"/>
            <a:ext cx="10737851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5"/>
          <p:cNvSpPr txBox="1"/>
          <p:nvPr>
            <p:ph idx="1" type="body"/>
          </p:nvPr>
        </p:nvSpPr>
        <p:spPr>
          <a:xfrm>
            <a:off x="831851" y="1489075"/>
            <a:ext cx="5156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65"/>
          <p:cNvSpPr txBox="1"/>
          <p:nvPr>
            <p:ph idx="2" type="body"/>
          </p:nvPr>
        </p:nvSpPr>
        <p:spPr>
          <a:xfrm>
            <a:off x="831851" y="2193927"/>
            <a:ext cx="515620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5"/>
          <p:cNvSpPr txBox="1"/>
          <p:nvPr>
            <p:ph idx="3" type="body"/>
          </p:nvPr>
        </p:nvSpPr>
        <p:spPr>
          <a:xfrm>
            <a:off x="6189664" y="1489075"/>
            <a:ext cx="51577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65"/>
          <p:cNvSpPr txBox="1"/>
          <p:nvPr>
            <p:ph idx="4" type="body"/>
          </p:nvPr>
        </p:nvSpPr>
        <p:spPr>
          <a:xfrm>
            <a:off x="6189664" y="2193927"/>
            <a:ext cx="5157787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5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5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5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6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8" name="Google Shape;7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" name="Google Shape;81;p66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6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6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6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6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6" name="Google Shape;86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7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7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7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8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68"/>
          <p:cNvSpPr txBox="1"/>
          <p:nvPr>
            <p:ph idx="2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68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8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8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9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69"/>
          <p:cNvSpPr txBox="1"/>
          <p:nvPr>
            <p:ph idx="1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69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9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9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0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70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7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70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0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70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70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3" name="Google Shape;113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1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71"/>
          <p:cNvSpPr txBox="1"/>
          <p:nvPr>
            <p:ph type="title"/>
          </p:nvPr>
        </p:nvSpPr>
        <p:spPr>
          <a:xfrm rot="5400000">
            <a:off x="8219282" y="2361262"/>
            <a:ext cx="5811838" cy="18195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1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71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71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1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71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72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7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73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867"/>
            </a:lvl1pPr>
            <a:lvl2pPr indent="-304800" lvl="1" marL="914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2pPr>
            <a:lvl3pPr indent="-304800" lvl="2" marL="1371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3pPr>
            <a:lvl4pPr indent="-304800" lvl="3" marL="18288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4pPr>
            <a:lvl5pPr indent="-304800" lvl="4" marL="22860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5pPr>
            <a:lvl6pPr indent="-304800" lvl="5" marL="27432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6pPr>
            <a:lvl7pPr indent="-304800" lvl="6" marL="3200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7pPr>
            <a:lvl8pPr indent="-304800" lvl="7" marL="3657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8pPr>
            <a:lvl9pPr indent="-304800" lvl="8" marL="4114800" algn="l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200"/>
              <a:buChar char="■"/>
              <a:defRPr sz="1600"/>
            </a:lvl9pPr>
          </a:lstStyle>
          <a:p/>
        </p:txBody>
      </p:sp>
      <p:sp>
        <p:nvSpPr>
          <p:cNvPr id="129" name="Google Shape;129;p73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867"/>
            </a:lvl1pPr>
            <a:lvl2pPr indent="-304800" lvl="1" marL="914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2pPr>
            <a:lvl3pPr indent="-304800" lvl="2" marL="1371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3pPr>
            <a:lvl4pPr indent="-304800" lvl="3" marL="18288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4pPr>
            <a:lvl5pPr indent="-304800" lvl="4" marL="22860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5pPr>
            <a:lvl6pPr indent="-304800" lvl="5" marL="27432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600"/>
            </a:lvl6pPr>
            <a:lvl7pPr indent="-304800" lvl="6" marL="32004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600"/>
            </a:lvl7pPr>
            <a:lvl8pPr indent="-304800" lvl="7" marL="365760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600"/>
            </a:lvl8pPr>
            <a:lvl9pPr indent="-304800" lvl="8" marL="4114800" algn="l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200"/>
              <a:buChar char="■"/>
              <a:defRPr sz="1600"/>
            </a:lvl9pPr>
          </a:lstStyle>
          <a:p/>
        </p:txBody>
      </p:sp>
      <p:sp>
        <p:nvSpPr>
          <p:cNvPr id="130" name="Google Shape;130;p7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Quattrocento Sans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/>
          <p:nvPr/>
        </p:nvSpPr>
        <p:spPr>
          <a:xfrm>
            <a:off x="0" y="1709738"/>
            <a:ext cx="12192000" cy="357518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5"/>
          <p:cNvSpPr txBox="1"/>
          <p:nvPr>
            <p:ph type="title"/>
          </p:nvPr>
        </p:nvSpPr>
        <p:spPr>
          <a:xfrm>
            <a:off x="838201" y="2402238"/>
            <a:ext cx="10515599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5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1" name="Google Shape;141;p45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2" name="Google Shape;142;p45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6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  <a:defRPr sz="3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algn="l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7F7F7F"/>
              </a:buClr>
              <a:buSzPts val="2600"/>
              <a:buChar char="•"/>
              <a:defRPr sz="2600"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 sz="1800">
                <a:solidFill>
                  <a:srgbClr val="7F7F7F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46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8" name="Google Shape;148;p46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9" name="Google Shape;149;p46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4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29385" y="165006"/>
            <a:ext cx="2228850" cy="4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4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2" name="Google Shape;16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5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4" name="Google Shape;174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5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0" name="Google Shape;180;p5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5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2" name="Google Shape;182;p5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8" name="Google Shape;198;p5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9" name="Google Shape;199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5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6" name="Google Shape;206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5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  <a:defRPr b="0" i="0" sz="4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upload.wikimedia.org/wikipedia/commons/1/14/Half-adder.svg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pload.wikimedia.org/wikipedia/commons/1/14/Half-adder.svg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://upload.wikimedia.org/wikipedia/commons/1/14/Half-adder.sv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www.allaboutelectronics.org/half-adder-and-full-adder-explained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"/>
          <p:cNvSpPr txBox="1"/>
          <p:nvPr>
            <p:ph type="ctrTitle"/>
          </p:nvPr>
        </p:nvSpPr>
        <p:spPr>
          <a:xfrm>
            <a:off x="838200" y="2061006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br>
              <a:rPr lang="en-US"/>
            </a:br>
            <a:r>
              <a:rPr lang="en-US"/>
              <a:t>Technical Support (420-1N6-AB)</a:t>
            </a:r>
            <a:br>
              <a:rPr lang="en-US"/>
            </a:br>
            <a:r>
              <a:rPr lang="en-US"/>
              <a:t>More detail on Logic Circuits</a:t>
            </a:r>
            <a:endParaRPr/>
          </a:p>
        </p:txBody>
      </p:sp>
      <p:sp>
        <p:nvSpPr>
          <p:cNvPr id="227" name="Google Shape;227;p1"/>
          <p:cNvSpPr txBox="1"/>
          <p:nvPr>
            <p:ph idx="1" type="subTitle"/>
          </p:nvPr>
        </p:nvSpPr>
        <p:spPr>
          <a:xfrm>
            <a:off x="838202" y="5110609"/>
            <a:ext cx="11074877" cy="1376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Fall 2023</a:t>
            </a:r>
            <a:endParaRPr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Adapted for Fall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"/>
          <p:cNvSpPr txBox="1"/>
          <p:nvPr>
            <p:ph type="title"/>
          </p:nvPr>
        </p:nvSpPr>
        <p:spPr>
          <a:xfrm>
            <a:off x="838201" y="2402238"/>
            <a:ext cx="10515599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Half, Full, and Multibit </a:t>
            </a:r>
            <a:r>
              <a:rPr lang="en-US"/>
              <a:t>Adder circuits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Half Adder</a:t>
            </a:r>
            <a:endParaRPr/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 sz="3200"/>
              <a:t>Review: we can add two bits using a combo of an XOR and an AND gate</a:t>
            </a:r>
            <a:endParaRPr sz="3200"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descr="Image:Half-adder.svg" id="240" name="Google Shape;240;p3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6522" y="3527174"/>
            <a:ext cx="3979278" cy="257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3238" y="3047700"/>
            <a:ext cx="456247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a22aae4d0_0_9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Half Adder</a:t>
            </a:r>
            <a:endParaRPr/>
          </a:p>
        </p:txBody>
      </p:sp>
      <p:sp>
        <p:nvSpPr>
          <p:cNvPr id="248" name="Google Shape;248;g2fa22aae4d0_0_9"/>
          <p:cNvSpPr txBox="1"/>
          <p:nvPr>
            <p:ph idx="1" type="body"/>
          </p:nvPr>
        </p:nvSpPr>
        <p:spPr>
          <a:xfrm>
            <a:off x="838200" y="13070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Char char="•"/>
            </a:pPr>
            <a:r>
              <a:rPr lang="en-US" sz="3200"/>
              <a:t>Why do we call it a half adder?</a:t>
            </a:r>
            <a:endParaRPr sz="3200"/>
          </a:p>
          <a:p>
            <a:pPr indent="-431800" lvl="1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It can only add 1 bit to another -- we cannot get numbers like 100</a:t>
            </a:r>
            <a:r>
              <a:rPr baseline="-25000" lang="en-US" sz="3200"/>
              <a:t>2</a:t>
            </a:r>
            <a:r>
              <a:rPr lang="en-US" sz="3200"/>
              <a:t> (4</a:t>
            </a:r>
            <a:r>
              <a:rPr baseline="-25000" lang="en-US" sz="3200"/>
              <a:t>10</a:t>
            </a:r>
            <a:r>
              <a:rPr lang="en-US" sz="3200"/>
              <a:t>) .</a:t>
            </a:r>
            <a:endParaRPr sz="3200"/>
          </a:p>
          <a:p>
            <a:pPr indent="-431800" lvl="1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We cannot simply combine two half adders -- need to be able to track if there is any CARRY from previous addition</a:t>
            </a:r>
            <a:endParaRPr sz="3200"/>
          </a:p>
          <a:p>
            <a:pPr indent="0" lvl="0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descr="Image:Half-adder.svg" id="249" name="Google Shape;249;g2fa22aae4d0_0_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2422" y="4064724"/>
            <a:ext cx="3979278" cy="2571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:Half-adder.svg" id="250" name="Google Shape;250;g2fa22aae4d0_0_9">
            <a:hlinkClick r:id="rId5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0" y="4434787"/>
            <a:ext cx="4085410" cy="27974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g2fa22aae4d0_0_9"/>
          <p:cNvCxnSpPr/>
          <p:nvPr/>
        </p:nvCxnSpPr>
        <p:spPr>
          <a:xfrm flipH="1" rot="10800000">
            <a:off x="6129736" y="5366277"/>
            <a:ext cx="1016100" cy="439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2" name="Google Shape;252;g2fa22aae4d0_0_9"/>
          <p:cNvCxnSpPr/>
          <p:nvPr/>
        </p:nvCxnSpPr>
        <p:spPr>
          <a:xfrm>
            <a:off x="5981699" y="4769157"/>
            <a:ext cx="1059300" cy="67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3" name="Google Shape;253;g2fa22aae4d0_0_9"/>
          <p:cNvSpPr txBox="1"/>
          <p:nvPr/>
        </p:nvSpPr>
        <p:spPr>
          <a:xfrm>
            <a:off x="6031075" y="5497425"/>
            <a:ext cx="22935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another input here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Full Adder</a:t>
            </a:r>
            <a:endParaRPr/>
          </a:p>
        </p:txBody>
      </p:sp>
      <p:pic>
        <p:nvPicPr>
          <p:cNvPr descr="upload.wikimedia.org/wikipedia/commons/thumb/a/..." id="260" name="Google Shape;2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6620" y="1739264"/>
            <a:ext cx="6878955" cy="43775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1" name="Google Shape;261;p35"/>
          <p:cNvGraphicFramePr/>
          <p:nvPr/>
        </p:nvGraphicFramePr>
        <p:xfrm>
          <a:off x="509451" y="21435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{C45E1A52-2E8C-4392-9D28-151D6CCC3783}</a:tableStyleId>
              </a:tblPr>
              <a:tblGrid>
                <a:gridCol w="820250"/>
                <a:gridCol w="915800"/>
                <a:gridCol w="817600"/>
                <a:gridCol w="817600"/>
                <a:gridCol w="817600"/>
              </a:tblGrid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Cin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2F5496"/>
                          </a:solidFill>
                        </a:rPr>
                        <a:t>Cout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2F5496"/>
                          </a:solidFill>
                        </a:rPr>
                        <a:t>S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2F5496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35"/>
          <p:cNvSpPr txBox="1"/>
          <p:nvPr/>
        </p:nvSpPr>
        <p:spPr>
          <a:xfrm>
            <a:off x="1689100" y="5943600"/>
            <a:ext cx="383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complete this truth table in lab 5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fa22aae4d0_0_23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Full Adder: structure</a:t>
            </a:r>
            <a:endParaRPr/>
          </a:p>
        </p:txBody>
      </p:sp>
      <p:pic>
        <p:nvPicPr>
          <p:cNvPr descr="upload.wikimedia.org/wikipedia/commons/thumb/a/..." id="269" name="Google Shape;269;g2fa22aae4d0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6620" y="1739264"/>
            <a:ext cx="6878955" cy="437751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2fa22aae4d0_0_23"/>
          <p:cNvSpPr/>
          <p:nvPr/>
        </p:nvSpPr>
        <p:spPr>
          <a:xfrm>
            <a:off x="4997301" y="1744275"/>
            <a:ext cx="4419250" cy="4481600"/>
          </a:xfrm>
          <a:custGeom>
            <a:rect b="b" l="l" r="r" t="t"/>
            <a:pathLst>
              <a:path extrusionOk="0" h="179264" w="176770">
                <a:moveTo>
                  <a:pt x="48407" y="0"/>
                </a:moveTo>
                <a:cubicBezTo>
                  <a:pt x="35480" y="0"/>
                  <a:pt x="19436" y="1373"/>
                  <a:pt x="11361" y="11467"/>
                </a:cubicBezTo>
                <a:cubicBezTo>
                  <a:pt x="5832" y="18378"/>
                  <a:pt x="6069" y="28636"/>
                  <a:pt x="6069" y="37487"/>
                </a:cubicBezTo>
                <a:cubicBezTo>
                  <a:pt x="6069" y="41162"/>
                  <a:pt x="7714" y="45226"/>
                  <a:pt x="6069" y="48513"/>
                </a:cubicBezTo>
                <a:cubicBezTo>
                  <a:pt x="-5864" y="72352"/>
                  <a:pt x="1355" y="105473"/>
                  <a:pt x="15771" y="127898"/>
                </a:cubicBezTo>
                <a:cubicBezTo>
                  <a:pt x="20607" y="135420"/>
                  <a:pt x="26906" y="142265"/>
                  <a:pt x="34294" y="147303"/>
                </a:cubicBezTo>
                <a:cubicBezTo>
                  <a:pt x="39568" y="150899"/>
                  <a:pt x="46763" y="150137"/>
                  <a:pt x="52818" y="152155"/>
                </a:cubicBezTo>
                <a:cubicBezTo>
                  <a:pt x="59920" y="154522"/>
                  <a:pt x="66774" y="157649"/>
                  <a:pt x="73987" y="159652"/>
                </a:cubicBezTo>
                <a:cubicBezTo>
                  <a:pt x="91053" y="164392"/>
                  <a:pt x="106864" y="173538"/>
                  <a:pt x="124264" y="176852"/>
                </a:cubicBezTo>
                <a:cubicBezTo>
                  <a:pt x="130357" y="178012"/>
                  <a:pt x="136846" y="180398"/>
                  <a:pt x="142787" y="178616"/>
                </a:cubicBezTo>
                <a:cubicBezTo>
                  <a:pt x="148222" y="176986"/>
                  <a:pt x="151477" y="171190"/>
                  <a:pt x="156459" y="168473"/>
                </a:cubicBezTo>
                <a:cubicBezTo>
                  <a:pt x="161597" y="165671"/>
                  <a:pt x="167654" y="164487"/>
                  <a:pt x="172336" y="160975"/>
                </a:cubicBezTo>
                <a:cubicBezTo>
                  <a:pt x="183459" y="152633"/>
                  <a:pt x="171290" y="126475"/>
                  <a:pt x="158223" y="121724"/>
                </a:cubicBezTo>
                <a:cubicBezTo>
                  <a:pt x="140812" y="115394"/>
                  <a:pt x="120802" y="120115"/>
                  <a:pt x="103095" y="114667"/>
                </a:cubicBezTo>
                <a:cubicBezTo>
                  <a:pt x="97140" y="112835"/>
                  <a:pt x="89346" y="113358"/>
                  <a:pt x="85454" y="108493"/>
                </a:cubicBezTo>
                <a:cubicBezTo>
                  <a:pt x="78380" y="99651"/>
                  <a:pt x="79827" y="84816"/>
                  <a:pt x="84572" y="74534"/>
                </a:cubicBezTo>
                <a:cubicBezTo>
                  <a:pt x="92156" y="58098"/>
                  <a:pt x="108367" y="41376"/>
                  <a:pt x="103977" y="23815"/>
                </a:cubicBezTo>
                <a:cubicBezTo>
                  <a:pt x="98925" y="3607"/>
                  <a:pt x="67032" y="0"/>
                  <a:pt x="46202" y="0"/>
                </a:cubicBezTo>
              </a:path>
            </a:pathLst>
          </a:cu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1" name="Google Shape;271;g2fa22aae4d0_0_23"/>
          <p:cNvSpPr/>
          <p:nvPr/>
        </p:nvSpPr>
        <p:spPr>
          <a:xfrm>
            <a:off x="6953530" y="1997850"/>
            <a:ext cx="2722675" cy="2843425"/>
          </a:xfrm>
          <a:custGeom>
            <a:rect b="b" l="l" r="r" t="t"/>
            <a:pathLst>
              <a:path extrusionOk="0" h="113737" w="108907">
                <a:moveTo>
                  <a:pt x="86590" y="1324"/>
                </a:moveTo>
                <a:cubicBezTo>
                  <a:pt x="68772" y="1324"/>
                  <a:pt x="49579" y="2629"/>
                  <a:pt x="34107" y="11467"/>
                </a:cubicBezTo>
                <a:cubicBezTo>
                  <a:pt x="30166" y="13718"/>
                  <a:pt x="24968" y="13992"/>
                  <a:pt x="21759" y="17201"/>
                </a:cubicBezTo>
                <a:cubicBezTo>
                  <a:pt x="14420" y="24540"/>
                  <a:pt x="18879" y="38388"/>
                  <a:pt x="13379" y="47191"/>
                </a:cubicBezTo>
                <a:cubicBezTo>
                  <a:pt x="10051" y="52517"/>
                  <a:pt x="4888" y="57009"/>
                  <a:pt x="3235" y="63068"/>
                </a:cubicBezTo>
                <a:cubicBezTo>
                  <a:pt x="-265" y="75896"/>
                  <a:pt x="-3010" y="94248"/>
                  <a:pt x="7205" y="102760"/>
                </a:cubicBezTo>
                <a:cubicBezTo>
                  <a:pt x="18216" y="111936"/>
                  <a:pt x="35299" y="108675"/>
                  <a:pt x="49544" y="110258"/>
                </a:cubicBezTo>
                <a:cubicBezTo>
                  <a:pt x="60803" y="111509"/>
                  <a:pt x="76805" y="118071"/>
                  <a:pt x="83503" y="108935"/>
                </a:cubicBezTo>
                <a:cubicBezTo>
                  <a:pt x="96191" y="91630"/>
                  <a:pt x="104591" y="70291"/>
                  <a:pt x="106877" y="48955"/>
                </a:cubicBezTo>
                <a:cubicBezTo>
                  <a:pt x="107973" y="38723"/>
                  <a:pt x="110698" y="27638"/>
                  <a:pt x="106877" y="18083"/>
                </a:cubicBezTo>
                <a:cubicBezTo>
                  <a:pt x="103176" y="8828"/>
                  <a:pt x="92518" y="3152"/>
                  <a:pt x="8306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2" name="Google Shape;272;g2fa22aae4d0_0_23"/>
          <p:cNvSpPr txBox="1"/>
          <p:nvPr>
            <p:ph idx="1" type="body"/>
          </p:nvPr>
        </p:nvSpPr>
        <p:spPr>
          <a:xfrm>
            <a:off x="533400" y="1535675"/>
            <a:ext cx="4009200" cy="45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3200"/>
              <a:t>Full adder:</a:t>
            </a:r>
            <a:endParaRPr sz="3200"/>
          </a:p>
          <a:p>
            <a:pPr indent="-40132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 sz="3200"/>
              <a:t>2 half adders,</a:t>
            </a:r>
            <a:endParaRPr sz="3200"/>
          </a:p>
          <a:p>
            <a:pPr indent="-40132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 sz="3200"/>
              <a:t>combine with OR</a:t>
            </a:r>
            <a:endParaRPr sz="3200"/>
          </a:p>
          <a:p>
            <a:pPr indent="-401319" lvl="1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 sz="3200"/>
              <a:t>If there is CARRY from the sum of inputs,</a:t>
            </a:r>
            <a:endParaRPr sz="3200"/>
          </a:p>
          <a:p>
            <a:pPr indent="-401319" lvl="1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 sz="3200"/>
              <a:t>OR if there is carry from previous addition</a:t>
            </a:r>
            <a:endParaRPr sz="3200"/>
          </a:p>
          <a:p>
            <a:pPr indent="-401319" lvl="1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ct val="100000"/>
              <a:buChar char="•"/>
            </a:pPr>
            <a:r>
              <a:rPr lang="en-US" sz="3200"/>
              <a:t>then Cout = 1</a:t>
            </a:r>
            <a:endParaRPr sz="3200"/>
          </a:p>
          <a:p>
            <a:pPr indent="0" lvl="0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a22aae4d0_0_34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US"/>
              <a:t>Full Adder: structure</a:t>
            </a:r>
            <a:endParaRPr/>
          </a:p>
        </p:txBody>
      </p:sp>
      <p:sp>
        <p:nvSpPr>
          <p:cNvPr id="279" name="Google Shape;279;g2fa22aae4d0_0_34"/>
          <p:cNvSpPr txBox="1"/>
          <p:nvPr>
            <p:ph idx="1" type="body"/>
          </p:nvPr>
        </p:nvSpPr>
        <p:spPr>
          <a:xfrm>
            <a:off x="533400" y="1535675"/>
            <a:ext cx="4009200" cy="45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3200"/>
              <a:t>Another way to draw the same thing:</a:t>
            </a:r>
            <a:endParaRPr sz="3200"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228600" lvl="0" marL="457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280" name="Google Shape;280;g2fa22aae4d0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7050" y="2637826"/>
            <a:ext cx="7344599" cy="2496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2fa22aae4d0_0_34"/>
          <p:cNvSpPr txBox="1"/>
          <p:nvPr/>
        </p:nvSpPr>
        <p:spPr>
          <a:xfrm>
            <a:off x="609600" y="5133850"/>
            <a:ext cx="10518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</a:t>
            </a:r>
            <a:r>
              <a:rPr lang="en-US" sz="2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https://www.allaboutelectronics.org/half-adder-and-full-adder-explained/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 great explanation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2fa22aae4d0_0_34"/>
          <p:cNvSpPr/>
          <p:nvPr/>
        </p:nvSpPr>
        <p:spPr>
          <a:xfrm>
            <a:off x="4107813" y="2827004"/>
            <a:ext cx="2597850" cy="1701925"/>
          </a:xfrm>
          <a:custGeom>
            <a:rect b="b" l="l" r="r" t="t"/>
            <a:pathLst>
              <a:path extrusionOk="0" h="68077" w="103914">
                <a:moveTo>
                  <a:pt x="23231" y="892"/>
                </a:moveTo>
                <a:cubicBezTo>
                  <a:pt x="17017" y="1668"/>
                  <a:pt x="12053" y="7184"/>
                  <a:pt x="8122" y="12059"/>
                </a:cubicBezTo>
                <a:cubicBezTo>
                  <a:pt x="5469" y="15349"/>
                  <a:pt x="1643" y="18154"/>
                  <a:pt x="568" y="22241"/>
                </a:cubicBezTo>
                <a:cubicBezTo>
                  <a:pt x="-1512" y="30147"/>
                  <a:pt x="2949" y="38421"/>
                  <a:pt x="3853" y="46546"/>
                </a:cubicBezTo>
                <a:cubicBezTo>
                  <a:pt x="4460" y="52004"/>
                  <a:pt x="6665" y="57648"/>
                  <a:pt x="10421" y="61654"/>
                </a:cubicBezTo>
                <a:cubicBezTo>
                  <a:pt x="16215" y="67833"/>
                  <a:pt x="26599" y="68392"/>
                  <a:pt x="35055" y="67895"/>
                </a:cubicBezTo>
                <a:cubicBezTo>
                  <a:pt x="39484" y="67635"/>
                  <a:pt x="43430" y="64409"/>
                  <a:pt x="47865" y="64282"/>
                </a:cubicBezTo>
                <a:cubicBezTo>
                  <a:pt x="56510" y="64035"/>
                  <a:pt x="65165" y="64076"/>
                  <a:pt x="73812" y="64282"/>
                </a:cubicBezTo>
                <a:cubicBezTo>
                  <a:pt x="82143" y="64481"/>
                  <a:pt x="92839" y="66177"/>
                  <a:pt x="98446" y="60012"/>
                </a:cubicBezTo>
                <a:cubicBezTo>
                  <a:pt x="105749" y="51982"/>
                  <a:pt x="103372" y="38678"/>
                  <a:pt x="103372" y="27824"/>
                </a:cubicBezTo>
                <a:cubicBezTo>
                  <a:pt x="103372" y="24293"/>
                  <a:pt x="105174" y="18975"/>
                  <a:pt x="102059" y="17314"/>
                </a:cubicBezTo>
                <a:cubicBezTo>
                  <a:pt x="96337" y="14263"/>
                  <a:pt x="89424" y="14316"/>
                  <a:pt x="83009" y="13373"/>
                </a:cubicBezTo>
                <a:cubicBezTo>
                  <a:pt x="68929" y="11302"/>
                  <a:pt x="54761" y="9880"/>
                  <a:pt x="40639" y="8117"/>
                </a:cubicBezTo>
                <a:cubicBezTo>
                  <a:pt x="37105" y="7676"/>
                  <a:pt x="36419" y="1813"/>
                  <a:pt x="33084" y="563"/>
                </a:cubicBezTo>
                <a:cubicBezTo>
                  <a:pt x="30519" y="-399"/>
                  <a:pt x="27612" y="235"/>
                  <a:pt x="24873" y="235"/>
                </a:cubicBezTo>
              </a:path>
            </a:pathLst>
          </a:cu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3" name="Google Shape;283;g2fa22aae4d0_0_34"/>
          <p:cNvSpPr/>
          <p:nvPr/>
        </p:nvSpPr>
        <p:spPr>
          <a:xfrm>
            <a:off x="6491725" y="3062038"/>
            <a:ext cx="2333650" cy="2129350"/>
          </a:xfrm>
          <a:custGeom>
            <a:rect b="b" l="l" r="r" t="t"/>
            <a:pathLst>
              <a:path extrusionOk="0" h="85174" w="93346">
                <a:moveTo>
                  <a:pt x="44803" y="7912"/>
                </a:moveTo>
                <a:cubicBezTo>
                  <a:pt x="43186" y="13571"/>
                  <a:pt x="35606" y="15419"/>
                  <a:pt x="31993" y="20065"/>
                </a:cubicBezTo>
                <a:cubicBezTo>
                  <a:pt x="27363" y="26018"/>
                  <a:pt x="21283" y="30925"/>
                  <a:pt x="17541" y="37472"/>
                </a:cubicBezTo>
                <a:cubicBezTo>
                  <a:pt x="14625" y="42573"/>
                  <a:pt x="12919" y="48350"/>
                  <a:pt x="9659" y="53238"/>
                </a:cubicBezTo>
                <a:cubicBezTo>
                  <a:pt x="7788" y="56044"/>
                  <a:pt x="3182" y="56258"/>
                  <a:pt x="1447" y="59150"/>
                </a:cubicBezTo>
                <a:cubicBezTo>
                  <a:pt x="-865" y="63004"/>
                  <a:pt x="-78" y="68687"/>
                  <a:pt x="2104" y="72616"/>
                </a:cubicBezTo>
                <a:cubicBezTo>
                  <a:pt x="3891" y="75833"/>
                  <a:pt x="8219" y="76815"/>
                  <a:pt x="11629" y="78200"/>
                </a:cubicBezTo>
                <a:cubicBezTo>
                  <a:pt x="22513" y="82621"/>
                  <a:pt x="35103" y="82175"/>
                  <a:pt x="46773" y="80827"/>
                </a:cubicBezTo>
                <a:cubicBezTo>
                  <a:pt x="61248" y="79156"/>
                  <a:pt x="77961" y="89966"/>
                  <a:pt x="90457" y="82470"/>
                </a:cubicBezTo>
                <a:cubicBezTo>
                  <a:pt x="93422" y="80692"/>
                  <a:pt x="92428" y="75745"/>
                  <a:pt x="92428" y="72288"/>
                </a:cubicBezTo>
                <a:cubicBezTo>
                  <a:pt x="92428" y="64843"/>
                  <a:pt x="92428" y="57398"/>
                  <a:pt x="92428" y="49953"/>
                </a:cubicBezTo>
                <a:cubicBezTo>
                  <a:pt x="92428" y="34186"/>
                  <a:pt x="96942" y="13056"/>
                  <a:pt x="84545" y="3314"/>
                </a:cubicBezTo>
                <a:cubicBezTo>
                  <a:pt x="77744" y="-2030"/>
                  <a:pt x="66581" y="-13"/>
                  <a:pt x="58597" y="3314"/>
                </a:cubicBezTo>
                <a:cubicBezTo>
                  <a:pt x="52943" y="5670"/>
                  <a:pt x="47972" y="10868"/>
                  <a:pt x="41847" y="10868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fa22aae4d0_0_49"/>
          <p:cNvSpPr txBox="1"/>
          <p:nvPr>
            <p:ph type="title"/>
          </p:nvPr>
        </p:nvSpPr>
        <p:spPr>
          <a:xfrm>
            <a:off x="838201" y="2402238"/>
            <a:ext cx="10515600" cy="21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Creating Logic Circuits: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/>
              <a:t>Sum of Products + Product of Sums techniques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arenBoth"/>
            </a:pPr>
            <a:r>
              <a:rPr lang="en-US"/>
              <a:t>Creating a truth table from a logic circuit</a:t>
            </a:r>
            <a:endParaRPr/>
          </a:p>
        </p:txBody>
      </p:sp>
      <p:pic>
        <p:nvPicPr>
          <p:cNvPr id="294" name="Google Shape;29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050" y="1789888"/>
            <a:ext cx="594360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6"/>
          <p:cNvSpPr txBox="1"/>
          <p:nvPr/>
        </p:nvSpPr>
        <p:spPr>
          <a:xfrm>
            <a:off x="574775" y="1658675"/>
            <a:ext cx="3703200" cy="4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the truth table for a logic circuit: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all combinations of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 result for each gate one by one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end of gate reached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a22aae4d0_0_66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arenBoth"/>
            </a:pPr>
            <a:r>
              <a:rPr lang="en-US"/>
              <a:t>Creating a truth table from a logic circuit</a:t>
            </a:r>
            <a:endParaRPr/>
          </a:p>
        </p:txBody>
      </p:sp>
      <p:pic>
        <p:nvPicPr>
          <p:cNvPr id="301" name="Google Shape;301;g2fa22aae4d0_0_66"/>
          <p:cNvPicPr preferRelativeResize="0"/>
          <p:nvPr/>
        </p:nvPicPr>
        <p:blipFill rotWithShape="1">
          <a:blip r:embed="rId3">
            <a:alphaModFix/>
          </a:blip>
          <a:srcRect b="0" l="0" r="46276" t="0"/>
          <a:stretch/>
        </p:blipFill>
        <p:spPr>
          <a:xfrm>
            <a:off x="5018050" y="1789900"/>
            <a:ext cx="31931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2fa22aae4d0_0_66"/>
          <p:cNvSpPr txBox="1"/>
          <p:nvPr/>
        </p:nvSpPr>
        <p:spPr>
          <a:xfrm>
            <a:off x="574775" y="1658675"/>
            <a:ext cx="3703200" cy="4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the truth table for a logic circuit: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all combinations of inputs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 result for each gate one by one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end of gate reached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3" name="Google Shape;303;g2fa22aae4d0_0_66"/>
          <p:cNvGraphicFramePr/>
          <p:nvPr/>
        </p:nvGraphicFramePr>
        <p:xfrm>
          <a:off x="5411200" y="34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{45CAF930-EF3B-4FF1-81B8-0488DD176A88}</a:tableStyleId>
              </a:tblPr>
              <a:tblGrid>
                <a:gridCol w="1310150"/>
                <a:gridCol w="1310150"/>
                <a:gridCol w="1668300"/>
                <a:gridCol w="820650"/>
                <a:gridCol w="1441525"/>
              </a:tblGrid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fa22aae4d0_0_75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arenBoth"/>
            </a:pPr>
            <a:r>
              <a:rPr lang="en-US"/>
              <a:t>Creating a truth table from a logic circuit</a:t>
            </a:r>
            <a:endParaRPr/>
          </a:p>
        </p:txBody>
      </p:sp>
      <p:pic>
        <p:nvPicPr>
          <p:cNvPr id="309" name="Google Shape;309;g2fa22aae4d0_0_75"/>
          <p:cNvPicPr preferRelativeResize="0"/>
          <p:nvPr/>
        </p:nvPicPr>
        <p:blipFill rotWithShape="1">
          <a:blip r:embed="rId3">
            <a:alphaModFix/>
          </a:blip>
          <a:srcRect b="0" l="0" r="46276" t="0"/>
          <a:stretch/>
        </p:blipFill>
        <p:spPr>
          <a:xfrm>
            <a:off x="5018050" y="1789900"/>
            <a:ext cx="31931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2fa22aae4d0_0_75"/>
          <p:cNvSpPr txBox="1"/>
          <p:nvPr/>
        </p:nvSpPr>
        <p:spPr>
          <a:xfrm>
            <a:off x="574775" y="1658675"/>
            <a:ext cx="3703200" cy="4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the truth table for a logic circuit: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all combinations of inputs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 result for each gate one by one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end of gate reached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1" name="Google Shape;311;g2fa22aae4d0_0_75"/>
          <p:cNvGraphicFramePr/>
          <p:nvPr/>
        </p:nvGraphicFramePr>
        <p:xfrm>
          <a:off x="5411200" y="34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{45CAF930-EF3B-4FF1-81B8-0488DD176A88}</a:tableStyleId>
              </a:tblPr>
              <a:tblGrid>
                <a:gridCol w="1310150"/>
                <a:gridCol w="1310150"/>
                <a:gridCol w="1668300"/>
                <a:gridCol w="820650"/>
                <a:gridCol w="1441525"/>
              </a:tblGrid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not(A OR B</a:t>
                      </a:r>
                      <a:r>
                        <a:rPr lang="en-US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not(B)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NAND(C,D)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not(A OR B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not(B)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NAND(C,D)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not(A OR B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not(B)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NAND(C,D)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not(A OR B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not(B)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NAND(C,D)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fa22aae4d0_0_82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arenBoth"/>
            </a:pPr>
            <a:r>
              <a:rPr lang="en-US"/>
              <a:t>Creating a truth table from a logic circuit</a:t>
            </a:r>
            <a:endParaRPr/>
          </a:p>
        </p:txBody>
      </p:sp>
      <p:pic>
        <p:nvPicPr>
          <p:cNvPr id="317" name="Google Shape;317;g2fa22aae4d0_0_82"/>
          <p:cNvPicPr preferRelativeResize="0"/>
          <p:nvPr/>
        </p:nvPicPr>
        <p:blipFill rotWithShape="1">
          <a:blip r:embed="rId3">
            <a:alphaModFix/>
          </a:blip>
          <a:srcRect b="0" l="0" r="46276" t="0"/>
          <a:stretch/>
        </p:blipFill>
        <p:spPr>
          <a:xfrm>
            <a:off x="5018050" y="1789900"/>
            <a:ext cx="31931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2fa22aae4d0_0_82"/>
          <p:cNvSpPr txBox="1"/>
          <p:nvPr/>
        </p:nvSpPr>
        <p:spPr>
          <a:xfrm>
            <a:off x="574775" y="1658675"/>
            <a:ext cx="3703200" cy="4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the truth table for a logic circuit: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all combinations of inputs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 result for each gate one by one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end of gate reached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g2fa22aae4d0_0_82"/>
          <p:cNvGraphicFramePr/>
          <p:nvPr/>
        </p:nvGraphicFramePr>
        <p:xfrm>
          <a:off x="5411200" y="34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{45CAF930-EF3B-4FF1-81B8-0488DD176A88}</a:tableStyleId>
              </a:tblPr>
              <a:tblGrid>
                <a:gridCol w="1310150"/>
                <a:gridCol w="1310150"/>
                <a:gridCol w="1668300"/>
                <a:gridCol w="820650"/>
                <a:gridCol w="1441525"/>
              </a:tblGrid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not(0</a:t>
                      </a:r>
                      <a:r>
                        <a:rPr lang="en-US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NAND(C,D)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not(1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NAND(C,D)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not(1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NAND(C,D)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not(1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NAND(C,D)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fa22aae4d0_0_89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arenBoth"/>
            </a:pPr>
            <a:r>
              <a:rPr lang="en-US"/>
              <a:t>Creating a truth table from a logic circuit</a:t>
            </a:r>
            <a:endParaRPr/>
          </a:p>
        </p:txBody>
      </p:sp>
      <p:pic>
        <p:nvPicPr>
          <p:cNvPr id="325" name="Google Shape;325;g2fa22aae4d0_0_89"/>
          <p:cNvPicPr preferRelativeResize="0"/>
          <p:nvPr/>
        </p:nvPicPr>
        <p:blipFill rotWithShape="1">
          <a:blip r:embed="rId3">
            <a:alphaModFix/>
          </a:blip>
          <a:srcRect b="0" l="0" r="46276" t="0"/>
          <a:stretch/>
        </p:blipFill>
        <p:spPr>
          <a:xfrm>
            <a:off x="5018050" y="1789900"/>
            <a:ext cx="31931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2fa22aae4d0_0_89"/>
          <p:cNvSpPr txBox="1"/>
          <p:nvPr/>
        </p:nvSpPr>
        <p:spPr>
          <a:xfrm>
            <a:off x="574775" y="1658675"/>
            <a:ext cx="3703200" cy="4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the truth table for a logic circuit: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all combinations of inputs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 result for each gate one by one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end of gate reached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7" name="Google Shape;327;g2fa22aae4d0_0_89"/>
          <p:cNvGraphicFramePr/>
          <p:nvPr/>
        </p:nvGraphicFramePr>
        <p:xfrm>
          <a:off x="5411200" y="34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{45CAF930-EF3B-4FF1-81B8-0488DD176A88}</a:tableStyleId>
              </a:tblPr>
              <a:tblGrid>
                <a:gridCol w="1310150"/>
                <a:gridCol w="1310150"/>
                <a:gridCol w="1668300"/>
                <a:gridCol w="820650"/>
                <a:gridCol w="1441525"/>
              </a:tblGrid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NAND(C,D)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NAND(C,D)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NAND(C,D)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NAND(C,D)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fa22aae4d0_0_96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arenBoth"/>
            </a:pPr>
            <a:r>
              <a:rPr lang="en-US"/>
              <a:t>Creating a truth table from a logic circuit</a:t>
            </a:r>
            <a:endParaRPr/>
          </a:p>
        </p:txBody>
      </p:sp>
      <p:pic>
        <p:nvPicPr>
          <p:cNvPr id="333" name="Google Shape;333;g2fa22aae4d0_0_96"/>
          <p:cNvPicPr preferRelativeResize="0"/>
          <p:nvPr/>
        </p:nvPicPr>
        <p:blipFill rotWithShape="1">
          <a:blip r:embed="rId3">
            <a:alphaModFix/>
          </a:blip>
          <a:srcRect b="0" l="0" r="46276" t="0"/>
          <a:stretch/>
        </p:blipFill>
        <p:spPr>
          <a:xfrm>
            <a:off x="5018050" y="1789900"/>
            <a:ext cx="31931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2fa22aae4d0_0_96"/>
          <p:cNvSpPr txBox="1"/>
          <p:nvPr/>
        </p:nvSpPr>
        <p:spPr>
          <a:xfrm>
            <a:off x="574775" y="1658675"/>
            <a:ext cx="3703200" cy="4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the truth table for a logic circuit: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all combinations of inputs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 result for each gate one by one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end of gate reached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" name="Google Shape;335;g2fa22aae4d0_0_96"/>
          <p:cNvGraphicFramePr/>
          <p:nvPr/>
        </p:nvGraphicFramePr>
        <p:xfrm>
          <a:off x="5411200" y="34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{45CAF930-EF3B-4FF1-81B8-0488DD176A88}</a:tableStyleId>
              </a:tblPr>
              <a:tblGrid>
                <a:gridCol w="1310150"/>
                <a:gridCol w="1310150"/>
                <a:gridCol w="1668300"/>
                <a:gridCol w="820650"/>
                <a:gridCol w="1441525"/>
              </a:tblGrid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Q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fa22aae4d0_0_53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(2) Logic circuit from truth table (Sum of Products)</a:t>
            </a:r>
            <a:endParaRPr/>
          </a:p>
        </p:txBody>
      </p:sp>
      <p:sp>
        <p:nvSpPr>
          <p:cNvPr id="341" name="Google Shape;341;g2fa22aae4d0_0_53"/>
          <p:cNvSpPr txBox="1"/>
          <p:nvPr/>
        </p:nvSpPr>
        <p:spPr>
          <a:xfrm>
            <a:off x="919650" y="2061025"/>
            <a:ext cx="7455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whiteboard -- will be added after class (Thursday Oct 10)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a22aae4d0_0_57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(3) Logic circuit from truth table (Sum of Products)</a:t>
            </a:r>
            <a:endParaRPr/>
          </a:p>
        </p:txBody>
      </p:sp>
      <p:sp>
        <p:nvSpPr>
          <p:cNvPr id="347" name="Google Shape;347;g2fa22aae4d0_0_57"/>
          <p:cNvSpPr txBox="1"/>
          <p:nvPr/>
        </p:nvSpPr>
        <p:spPr>
          <a:xfrm>
            <a:off x="919650" y="2061025"/>
            <a:ext cx="7455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whiteboard -- will be added after class (Thursday Oct 10)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elcomeDoc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2023-09-12T19:36:24Z</dcterms:created>
  <dc:creator>Youmna Badawy</dc:creator>
</cp:coreProperties>
</file>