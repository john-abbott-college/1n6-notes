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12192000"/>
  <p:notesSz cx="6858000" cy="9144000"/>
  <p:embeddedFontLst>
    <p:embeddedFont>
      <p:font typeface="Quattrocento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hZDJKI6VGr3uhPY+AySJ+FiVZB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15F527-3D0D-4033-BA1B-A0FA7D80A9C5}">
  <a:tblStyle styleId="{0415F527-3D0D-4033-BA1B-A0FA7D80A9C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Quattrocento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QuattrocentoSans-italic.fntdata"/><Relationship Id="rId50" Type="http://schemas.openxmlformats.org/officeDocument/2006/relationships/font" Target="fonts/QuattrocentoSans-bold.fntdata"/><Relationship Id="rId53" Type="http://customschemas.google.com/relationships/presentationmetadata" Target="metadata"/><Relationship Id="rId52" Type="http://schemas.openxmlformats.org/officeDocument/2006/relationships/font" Target="fonts/Quattrocento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19" name="Google Shape;2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97" name="Google Shape;2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02" name="Google Shape;3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08" name="Google Shape;3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16" name="Google Shape;3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22" name="Google Shape;3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31" name="Google Shape;3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87" name="Google Shape;3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92" name="Google Shape;39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98" name="Google Shape;39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10" name="Google Shape;41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16" name="Google Shape;41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29" name="Google Shape;42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41" name="Google Shape;44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80" name="Google Shape;48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91" name="Google Shape;49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47"/>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47"/>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7"/>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4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0" name="Google Shape;20;p4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1" name="Google Shape;21;p4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47"/>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47"/>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6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6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6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 name="Google Shape;29;p6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0" name="Google Shape;30;p6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6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6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33" name="Shape 33"/>
        <p:cNvGrpSpPr/>
        <p:nvPr/>
      </p:nvGrpSpPr>
      <p:grpSpPr>
        <a:xfrm>
          <a:off x="0" y="0"/>
          <a:ext cx="0" cy="0"/>
          <a:chOff x="0" y="0"/>
          <a:chExt cx="0" cy="0"/>
        </a:xfrm>
      </p:grpSpPr>
      <p:sp>
        <p:nvSpPr>
          <p:cNvPr id="34" name="Google Shape;34;p63"/>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63"/>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7" name="Google Shape;37;p6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8" name="Google Shape;38;p6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4"/>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1" name="Google Shape;41;p6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43" name="Google Shape;43;p6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44" name="Google Shape;44;p6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64"/>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6" name="Google Shape;46;p64"/>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6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 name="Google Shape;49;p6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1" name="Google Shape;51;p6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2" name="Google Shape;52;p6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53" name="Google Shape;53;p6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54" name="Google Shape;54;p6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6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6" name="Google Shape;56;p6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6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66"/>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60" name="Google Shape;60;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67"/>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3" name="Google Shape;63;p67"/>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7"/>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65" name="Google Shape;65;p6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66" name="Google Shape;66;p6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67" name="Google Shape;67;p6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67"/>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9" name="Google Shape;69;p67"/>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68"/>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2" name="Google Shape;72;p68"/>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8"/>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4" name="Google Shape;74;p6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75" name="Google Shape;75;p6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76" name="Google Shape;76;p6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68"/>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68"/>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6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69"/>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9"/>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83" name="Google Shape;83;p69"/>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4" name="Google Shape;84;p69"/>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85" name="Google Shape;85;p69"/>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6" name="Google Shape;86;p6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87" name="Google Shape;87;p6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88" name="Google Shape;88;p6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6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90" name="Google Shape;90;p6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7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93" name="Google Shape;93;p7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94" name="Google Shape;94;p7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5" name="Shape 95"/>
        <p:cNvGrpSpPr/>
        <p:nvPr/>
      </p:nvGrpSpPr>
      <p:grpSpPr>
        <a:xfrm>
          <a:off x="0" y="0"/>
          <a:ext cx="0" cy="0"/>
          <a:chOff x="0" y="0"/>
          <a:chExt cx="0" cy="0"/>
        </a:xfrm>
      </p:grpSpPr>
      <p:sp>
        <p:nvSpPr>
          <p:cNvPr id="96" name="Google Shape;96;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71"/>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8" name="Google Shape;98;p71"/>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9" name="Google Shape;99;p7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00" name="Google Shape;100;p7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01" name="Google Shape;101;p7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7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72"/>
          <p:cNvSpPr/>
          <p:nvPr>
            <p:ph idx="2" type="pic"/>
          </p:nvPr>
        </p:nvSpPr>
        <p:spPr>
          <a:xfrm>
            <a:off x="5183188" y="987427"/>
            <a:ext cx="6172200" cy="4873625"/>
          </a:xfrm>
          <a:prstGeom prst="rect">
            <a:avLst/>
          </a:prstGeom>
          <a:noFill/>
          <a:ln>
            <a:noFill/>
          </a:ln>
        </p:spPr>
      </p:sp>
      <p:sp>
        <p:nvSpPr>
          <p:cNvPr id="105" name="Google Shape;105;p72"/>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6" name="Google Shape;106;p7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07" name="Google Shape;107;p7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08" name="Google Shape;108;p7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7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1" name="Google Shape;111;p7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7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3" name="Google Shape;113;p7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14" name="Google Shape;114;p7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15" name="Google Shape;115;p7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16" name="Google Shape;116;p7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7" name="Google Shape;117;p7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8" name="Shape 118"/>
        <p:cNvGrpSpPr/>
        <p:nvPr/>
      </p:nvGrpSpPr>
      <p:grpSpPr>
        <a:xfrm>
          <a:off x="0" y="0"/>
          <a:ext cx="0" cy="0"/>
          <a:chOff x="0" y="0"/>
          <a:chExt cx="0" cy="0"/>
        </a:xfrm>
      </p:grpSpPr>
      <p:sp>
        <p:nvSpPr>
          <p:cNvPr id="119" name="Google Shape;119;p74"/>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20" name="Google Shape;120;p74"/>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74"/>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22" name="Google Shape;122;p7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23" name="Google Shape;123;p7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124" name="Google Shape;124;p7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25" name="Google Shape;125;p74"/>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32" name="Shape 132"/>
        <p:cNvGrpSpPr/>
        <p:nvPr/>
      </p:nvGrpSpPr>
      <p:grpSpPr>
        <a:xfrm>
          <a:off x="0" y="0"/>
          <a:ext cx="0" cy="0"/>
          <a:chOff x="0" y="0"/>
          <a:chExt cx="0" cy="0"/>
        </a:xfrm>
      </p:grpSpPr>
      <p:sp>
        <p:nvSpPr>
          <p:cNvPr id="133" name="Google Shape;133;p4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34" name="Google Shape;134;p4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36" name="Google Shape;136;p4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37" name="Google Shape;137;p4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38" name="Google Shape;138;p4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9" name="Google Shape;139;p4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40" name="Google Shape;140;p4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41" name="Shape 141"/>
        <p:cNvGrpSpPr/>
        <p:nvPr/>
      </p:nvGrpSpPr>
      <p:grpSpPr>
        <a:xfrm>
          <a:off x="0" y="0"/>
          <a:ext cx="0" cy="0"/>
          <a:chOff x="0" y="0"/>
          <a:chExt cx="0" cy="0"/>
        </a:xfrm>
      </p:grpSpPr>
      <p:sp>
        <p:nvSpPr>
          <p:cNvPr id="142" name="Google Shape;142;p50"/>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43" name="Google Shape;143;p50"/>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5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45" name="Google Shape;145;p5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46" name="Google Shape;146;p5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2" name="Shape 152"/>
        <p:cNvGrpSpPr/>
        <p:nvPr/>
      </p:nvGrpSpPr>
      <p:grpSpPr>
        <a:xfrm>
          <a:off x="0" y="0"/>
          <a:ext cx="0" cy="0"/>
          <a:chOff x="0" y="0"/>
          <a:chExt cx="0" cy="0"/>
        </a:xfrm>
      </p:grpSpPr>
      <p:sp>
        <p:nvSpPr>
          <p:cNvPr id="153" name="Google Shape;153;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5" name="Google Shape;15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8" name="Shape 158"/>
        <p:cNvGrpSpPr/>
        <p:nvPr/>
      </p:nvGrpSpPr>
      <p:grpSpPr>
        <a:xfrm>
          <a:off x="0" y="0"/>
          <a:ext cx="0" cy="0"/>
          <a:chOff x="0" y="0"/>
          <a:chExt cx="0" cy="0"/>
        </a:xfrm>
      </p:grpSpPr>
      <p:sp>
        <p:nvSpPr>
          <p:cNvPr id="159" name="Google Shape;159;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4" name="Shape 164"/>
        <p:cNvGrpSpPr/>
        <p:nvPr/>
      </p:nvGrpSpPr>
      <p:grpSpPr>
        <a:xfrm>
          <a:off x="0" y="0"/>
          <a:ext cx="0" cy="0"/>
          <a:chOff x="0" y="0"/>
          <a:chExt cx="0" cy="0"/>
        </a:xfrm>
      </p:grpSpPr>
      <p:sp>
        <p:nvSpPr>
          <p:cNvPr id="165" name="Google Shape;165;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7" name="Google Shape;167;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0" name="Shape 170"/>
        <p:cNvGrpSpPr/>
        <p:nvPr/>
      </p:nvGrpSpPr>
      <p:grpSpPr>
        <a:xfrm>
          <a:off x="0" y="0"/>
          <a:ext cx="0" cy="0"/>
          <a:chOff x="0" y="0"/>
          <a:chExt cx="0" cy="0"/>
        </a:xfrm>
      </p:grpSpPr>
      <p:sp>
        <p:nvSpPr>
          <p:cNvPr id="171" name="Google Shape;171;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0" name="Google Shape;180;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2" name="Google Shape;182;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0" name="Shape 190"/>
        <p:cNvGrpSpPr/>
        <p:nvPr/>
      </p:nvGrpSpPr>
      <p:grpSpPr>
        <a:xfrm>
          <a:off x="0" y="0"/>
          <a:ext cx="0" cy="0"/>
          <a:chOff x="0" y="0"/>
          <a:chExt cx="0" cy="0"/>
        </a:xfrm>
      </p:grpSpPr>
      <p:sp>
        <p:nvSpPr>
          <p:cNvPr id="191" name="Google Shape;191;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3" name="Google Shape;193;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4" name="Google Shape;194;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7" name="Shape 197"/>
        <p:cNvGrpSpPr/>
        <p:nvPr/>
      </p:nvGrpSpPr>
      <p:grpSpPr>
        <a:xfrm>
          <a:off x="0" y="0"/>
          <a:ext cx="0" cy="0"/>
          <a:chOff x="0" y="0"/>
          <a:chExt cx="0" cy="0"/>
        </a:xfrm>
      </p:grpSpPr>
      <p:sp>
        <p:nvSpPr>
          <p:cNvPr id="198" name="Google Shape;198;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59"/>
          <p:cNvSpPr/>
          <p:nvPr>
            <p:ph idx="2" type="pic"/>
          </p:nvPr>
        </p:nvSpPr>
        <p:spPr>
          <a:xfrm>
            <a:off x="5183188" y="987425"/>
            <a:ext cx="6172200" cy="4873625"/>
          </a:xfrm>
          <a:prstGeom prst="rect">
            <a:avLst/>
          </a:prstGeom>
          <a:noFill/>
          <a:ln>
            <a:noFill/>
          </a:ln>
        </p:spPr>
      </p:sp>
      <p:sp>
        <p:nvSpPr>
          <p:cNvPr id="200" name="Google Shape;200;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1" name="Google Shape;201;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4" name="Shape 204"/>
        <p:cNvGrpSpPr/>
        <p:nvPr/>
      </p:nvGrpSpPr>
      <p:grpSpPr>
        <a:xfrm>
          <a:off x="0" y="0"/>
          <a:ext cx="0" cy="0"/>
          <a:chOff x="0" y="0"/>
          <a:chExt cx="0" cy="0"/>
        </a:xfrm>
      </p:grpSpPr>
      <p:sp>
        <p:nvSpPr>
          <p:cNvPr id="205" name="Google Shape;205;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0" name="Shape 210"/>
        <p:cNvGrpSpPr/>
        <p:nvPr/>
      </p:nvGrpSpPr>
      <p:grpSpPr>
        <a:xfrm>
          <a:off x="0" y="0"/>
          <a:ext cx="0" cy="0"/>
          <a:chOff x="0" y="0"/>
          <a:chExt cx="0" cy="0"/>
        </a:xfrm>
      </p:grpSpPr>
      <p:sp>
        <p:nvSpPr>
          <p:cNvPr id="211" name="Google Shape;211;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4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4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4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 name="Google Shape;128;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0" name="Google Shape;13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hyperlink" Target="https://www.minitool.com/backup-tips/windows-10-registry-hacks.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a:t>Technical Support (420-1N6-AB)</a:t>
            </a:r>
            <a:br>
              <a:rPr lang="en-US"/>
            </a:br>
            <a:r>
              <a:rPr lang="en-US"/>
              <a:t>User Profiles, Registries and Maintenance </a:t>
            </a:r>
            <a:endParaRPr/>
          </a:p>
        </p:txBody>
      </p:sp>
      <p:sp>
        <p:nvSpPr>
          <p:cNvPr id="222" name="Google Shape;222;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2022</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Control Panel</a:t>
            </a:r>
            <a:endParaRPr/>
          </a:p>
        </p:txBody>
      </p:sp>
      <p:sp>
        <p:nvSpPr>
          <p:cNvPr id="228" name="Google Shape;228;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b="0" i="0" lang="en-US">
                <a:solidFill>
                  <a:srgbClr val="1E1E1E"/>
                </a:solidFill>
                <a:latin typeface="Quattrocento Sans"/>
                <a:ea typeface="Quattrocento Sans"/>
                <a:cs typeface="Quattrocento Sans"/>
                <a:sym typeface="Quattrocento Sans"/>
              </a:rPr>
              <a:t>In the search box next to Start  on the taskbar, type </a:t>
            </a:r>
            <a:r>
              <a:rPr b="1" i="0" lang="en-US">
                <a:solidFill>
                  <a:srgbClr val="1E1E1E"/>
                </a:solidFill>
                <a:latin typeface="Quattrocento Sans"/>
                <a:ea typeface="Quattrocento Sans"/>
                <a:cs typeface="Quattrocento Sans"/>
                <a:sym typeface="Quattrocento Sans"/>
              </a:rPr>
              <a:t>control panel</a:t>
            </a:r>
            <a:r>
              <a:rPr b="0" i="0" lang="en-US">
                <a:solidFill>
                  <a:srgbClr val="1E1E1E"/>
                </a:solidFill>
                <a:latin typeface="Quattrocento Sans"/>
                <a:ea typeface="Quattrocento Sans"/>
                <a:cs typeface="Quattrocento Sans"/>
                <a:sym typeface="Quattrocento Sans"/>
              </a:rPr>
              <a:t>. Select </a:t>
            </a:r>
            <a:r>
              <a:rPr b="1" i="0" lang="en-US">
                <a:solidFill>
                  <a:srgbClr val="1E1E1E"/>
                </a:solidFill>
                <a:latin typeface="Quattrocento Sans"/>
                <a:ea typeface="Quattrocento Sans"/>
                <a:cs typeface="Quattrocento Sans"/>
                <a:sym typeface="Quattrocento Sans"/>
              </a:rPr>
              <a:t>Control Panel </a:t>
            </a:r>
            <a:r>
              <a:rPr b="0" i="0" lang="en-US">
                <a:solidFill>
                  <a:srgbClr val="1E1E1E"/>
                </a:solidFill>
                <a:latin typeface="Quattrocento Sans"/>
                <a:ea typeface="Quattrocento Sans"/>
                <a:cs typeface="Quattrocento Sans"/>
                <a:sym typeface="Quattrocento Sans"/>
              </a:rPr>
              <a:t>from the list of results.</a:t>
            </a:r>
            <a:endParaRPr/>
          </a:p>
          <a:p>
            <a:pPr indent="-419100" lvl="0" marL="457200" rtl="0" algn="l">
              <a:lnSpc>
                <a:spcPct val="90000"/>
              </a:lnSpc>
              <a:spcBef>
                <a:spcPts val="900"/>
              </a:spcBef>
              <a:spcAft>
                <a:spcPts val="0"/>
              </a:spcAft>
              <a:buClr>
                <a:srgbClr val="7F7F7F"/>
              </a:buClr>
              <a:buSzPts val="3000"/>
              <a:buChar char="•"/>
            </a:pPr>
            <a:r>
              <a:rPr lang="en-US">
                <a:solidFill>
                  <a:srgbClr val="1E1E1E"/>
                </a:solidFill>
                <a:latin typeface="Quattrocento Sans"/>
                <a:ea typeface="Quattrocento Sans"/>
                <a:cs typeface="Quattrocento Sans"/>
                <a:sym typeface="Quattrocento Sans"/>
              </a:rPr>
              <a:t>The control panel is a component of Windows since Windows 1.0 </a:t>
            </a:r>
            <a:endParaRPr/>
          </a:p>
          <a:p>
            <a:pPr indent="-419100" lvl="0" marL="457200" rtl="0" algn="l">
              <a:lnSpc>
                <a:spcPct val="90000"/>
              </a:lnSpc>
              <a:spcBef>
                <a:spcPts val="900"/>
              </a:spcBef>
              <a:spcAft>
                <a:spcPts val="0"/>
              </a:spcAft>
              <a:buClr>
                <a:srgbClr val="7F7F7F"/>
              </a:buClr>
              <a:buSzPts val="3000"/>
              <a:buChar char="•"/>
            </a:pPr>
            <a:r>
              <a:rPr lang="en-US">
                <a:solidFill>
                  <a:srgbClr val="1E1E1E"/>
                </a:solidFill>
                <a:latin typeface="Quattrocento Sans"/>
                <a:ea typeface="Quattrocento Sans"/>
                <a:cs typeface="Quattrocento Sans"/>
                <a:sym typeface="Quattrocento Sans"/>
              </a:rPr>
              <a:t>It provides the functionality to view and modify the system settings</a:t>
            </a:r>
            <a:endParaRPr/>
          </a:p>
          <a:p>
            <a:pPr indent="-228600" lvl="0" marL="457200" rtl="0" algn="l">
              <a:lnSpc>
                <a:spcPct val="90000"/>
              </a:lnSpc>
              <a:spcBef>
                <a:spcPts val="900"/>
              </a:spcBef>
              <a:spcAft>
                <a:spcPts val="0"/>
              </a:spcAft>
              <a:buClr>
                <a:srgbClr val="7F7F7F"/>
              </a:buClr>
              <a:buSzPts val="3000"/>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features you should know about</a:t>
            </a:r>
            <a:endParaRPr/>
          </a:p>
        </p:txBody>
      </p:sp>
      <p:sp>
        <p:nvSpPr>
          <p:cNvPr id="234" name="Google Shape;234;p3"/>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System and Security:</a:t>
            </a:r>
            <a:endParaRPr/>
          </a:p>
          <a:p>
            <a:pPr indent="-393700" lvl="1" marL="914400" rtl="0" algn="l">
              <a:lnSpc>
                <a:spcPct val="90000"/>
              </a:lnSpc>
              <a:spcBef>
                <a:spcPts val="780"/>
              </a:spcBef>
              <a:spcAft>
                <a:spcPts val="0"/>
              </a:spcAft>
              <a:buSzPts val="2600"/>
              <a:buChar char="•"/>
            </a:pPr>
            <a:r>
              <a:rPr lang="en-US"/>
              <a:t>Allows you to enable/disabled Windows defender firewall.</a:t>
            </a:r>
            <a:endParaRPr/>
          </a:p>
          <a:p>
            <a:pPr indent="-393700" lvl="1" marL="914400" rtl="0" algn="l">
              <a:lnSpc>
                <a:spcPct val="90000"/>
              </a:lnSpc>
              <a:spcBef>
                <a:spcPts val="780"/>
              </a:spcBef>
              <a:spcAft>
                <a:spcPts val="0"/>
              </a:spcAft>
              <a:buSzPts val="2600"/>
              <a:buChar char="•"/>
            </a:pPr>
            <a:r>
              <a:rPr lang="en-US"/>
              <a:t>Block certain apps from accessing your device</a:t>
            </a:r>
            <a:endParaRPr/>
          </a:p>
          <a:p>
            <a:pPr indent="-393700" lvl="1" marL="914400" rtl="0" algn="l">
              <a:lnSpc>
                <a:spcPct val="90000"/>
              </a:lnSpc>
              <a:spcBef>
                <a:spcPts val="780"/>
              </a:spcBef>
              <a:spcAft>
                <a:spcPts val="0"/>
              </a:spcAft>
              <a:buSzPts val="2600"/>
              <a:buChar char="•"/>
            </a:pPr>
            <a:r>
              <a:rPr lang="en-US"/>
              <a:t>Allowing certain apps only when you are connected on a private network, etc.</a:t>
            </a:r>
            <a:endParaRPr/>
          </a:p>
        </p:txBody>
      </p:sp>
      <p:pic>
        <p:nvPicPr>
          <p:cNvPr descr="How to Open the Windows Control Panel" id="235" name="Google Shape;235;p3"/>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36" name="Google Shape;236;p3"/>
          <p:cNvSpPr/>
          <p:nvPr/>
        </p:nvSpPr>
        <p:spPr>
          <a:xfrm>
            <a:off x="6769768" y="3124200"/>
            <a:ext cx="1925053" cy="3048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features you should know about</a:t>
            </a:r>
            <a:endParaRPr/>
          </a:p>
        </p:txBody>
      </p:sp>
      <p:sp>
        <p:nvSpPr>
          <p:cNvPr id="242" name="Google Shape;242;p4"/>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Network and Internet:</a:t>
            </a:r>
            <a:endParaRPr/>
          </a:p>
          <a:p>
            <a:pPr indent="-393700" lvl="1" marL="914400" rtl="0" algn="l">
              <a:lnSpc>
                <a:spcPct val="90000"/>
              </a:lnSpc>
              <a:spcBef>
                <a:spcPts val="780"/>
              </a:spcBef>
              <a:spcAft>
                <a:spcPts val="0"/>
              </a:spcAft>
              <a:buSzPts val="2600"/>
              <a:buChar char="•"/>
            </a:pPr>
            <a:r>
              <a:rPr lang="en-US"/>
              <a:t>Allows you to view and modify your network settings namely your adapter settings</a:t>
            </a:r>
            <a:endParaRPr/>
          </a:p>
          <a:p>
            <a:pPr indent="-393700" lvl="1" marL="914400" rtl="0" algn="l">
              <a:lnSpc>
                <a:spcPct val="90000"/>
              </a:lnSpc>
              <a:spcBef>
                <a:spcPts val="780"/>
              </a:spcBef>
              <a:spcAft>
                <a:spcPts val="0"/>
              </a:spcAft>
              <a:buSzPts val="2600"/>
              <a:buChar char="•"/>
            </a:pPr>
            <a:r>
              <a:rPr lang="en-US"/>
              <a:t>You can view your </a:t>
            </a:r>
            <a:r>
              <a:rPr b="1" lang="en-US"/>
              <a:t>IP address</a:t>
            </a:r>
            <a:r>
              <a:rPr lang="en-US"/>
              <a:t> and modify it</a:t>
            </a:r>
            <a:endParaRPr/>
          </a:p>
          <a:p>
            <a:pPr indent="-393700" lvl="1" marL="914400" rtl="0" algn="l">
              <a:lnSpc>
                <a:spcPct val="90000"/>
              </a:lnSpc>
              <a:spcBef>
                <a:spcPts val="780"/>
              </a:spcBef>
              <a:spcAft>
                <a:spcPts val="0"/>
              </a:spcAft>
              <a:buSzPts val="2600"/>
              <a:buChar char="•"/>
            </a:pPr>
            <a:r>
              <a:rPr lang="en-US"/>
              <a:t>The </a:t>
            </a:r>
            <a:r>
              <a:rPr b="1" lang="en-US"/>
              <a:t>IP address</a:t>
            </a:r>
            <a:r>
              <a:rPr lang="en-US"/>
              <a:t> is what identifies you on a network.</a:t>
            </a:r>
            <a:endParaRPr/>
          </a:p>
        </p:txBody>
      </p:sp>
      <p:pic>
        <p:nvPicPr>
          <p:cNvPr descr="How to Open the Windows Control Panel" id="243" name="Google Shape;243;p4"/>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44" name="Google Shape;244;p4"/>
          <p:cNvSpPr/>
          <p:nvPr/>
        </p:nvSpPr>
        <p:spPr>
          <a:xfrm>
            <a:off x="6753724" y="4182979"/>
            <a:ext cx="1925053" cy="3048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functions you should know about</a:t>
            </a:r>
            <a:endParaRPr/>
          </a:p>
        </p:txBody>
      </p:sp>
      <p:sp>
        <p:nvSpPr>
          <p:cNvPr id="250" name="Google Shape;250;p5"/>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Hardware &amp; Sound:</a:t>
            </a:r>
            <a:endParaRPr/>
          </a:p>
          <a:p>
            <a:pPr indent="-393700" lvl="1" marL="914400" rtl="0" algn="l">
              <a:lnSpc>
                <a:spcPct val="90000"/>
              </a:lnSpc>
              <a:spcBef>
                <a:spcPts val="780"/>
              </a:spcBef>
              <a:spcAft>
                <a:spcPts val="0"/>
              </a:spcAft>
              <a:buSzPts val="2600"/>
              <a:buChar char="•"/>
            </a:pPr>
            <a:r>
              <a:rPr lang="en-US"/>
              <a:t>Allow you to view all the devices connected to your pc.</a:t>
            </a:r>
            <a:endParaRPr/>
          </a:p>
          <a:p>
            <a:pPr indent="-393700" lvl="1" marL="914400" rtl="0" algn="l">
              <a:lnSpc>
                <a:spcPct val="90000"/>
              </a:lnSpc>
              <a:spcBef>
                <a:spcPts val="780"/>
              </a:spcBef>
              <a:spcAft>
                <a:spcPts val="0"/>
              </a:spcAft>
              <a:buSzPts val="2600"/>
              <a:buChar char="•"/>
            </a:pPr>
            <a:r>
              <a:rPr lang="en-US"/>
              <a:t>Allows you to add a device </a:t>
            </a:r>
            <a:endParaRPr/>
          </a:p>
          <a:p>
            <a:pPr indent="-393700" lvl="1" marL="914400" rtl="0" algn="l">
              <a:lnSpc>
                <a:spcPct val="90000"/>
              </a:lnSpc>
              <a:spcBef>
                <a:spcPts val="780"/>
              </a:spcBef>
              <a:spcAft>
                <a:spcPts val="0"/>
              </a:spcAft>
              <a:buSzPts val="2600"/>
              <a:buChar char="•"/>
            </a:pPr>
            <a:r>
              <a:rPr lang="en-US"/>
              <a:t>Allows you to view and modify the device drivers</a:t>
            </a:r>
            <a:endParaRPr/>
          </a:p>
        </p:txBody>
      </p:sp>
      <p:pic>
        <p:nvPicPr>
          <p:cNvPr descr="How to Open the Windows Control Panel" id="251" name="Google Shape;251;p5"/>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52" name="Google Shape;252;p5"/>
          <p:cNvSpPr/>
          <p:nvPr/>
        </p:nvSpPr>
        <p:spPr>
          <a:xfrm>
            <a:off x="6753724" y="4936959"/>
            <a:ext cx="1925053" cy="3048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functions you should know about</a:t>
            </a:r>
            <a:endParaRPr/>
          </a:p>
        </p:txBody>
      </p:sp>
      <p:sp>
        <p:nvSpPr>
          <p:cNvPr id="258" name="Google Shape;258;p6"/>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Programs:</a:t>
            </a:r>
            <a:endParaRPr/>
          </a:p>
          <a:p>
            <a:pPr indent="-393700" lvl="1" marL="914400" rtl="0" algn="l">
              <a:lnSpc>
                <a:spcPct val="90000"/>
              </a:lnSpc>
              <a:spcBef>
                <a:spcPts val="780"/>
              </a:spcBef>
              <a:spcAft>
                <a:spcPts val="0"/>
              </a:spcAft>
              <a:buSzPts val="2600"/>
              <a:buChar char="•"/>
            </a:pPr>
            <a:r>
              <a:rPr lang="en-US"/>
              <a:t>Allows you to view the installed software applications on your PC</a:t>
            </a:r>
            <a:endParaRPr/>
          </a:p>
          <a:p>
            <a:pPr indent="-393700" lvl="1" marL="914400" rtl="0" algn="l">
              <a:lnSpc>
                <a:spcPct val="90000"/>
              </a:lnSpc>
              <a:spcBef>
                <a:spcPts val="780"/>
              </a:spcBef>
              <a:spcAft>
                <a:spcPts val="0"/>
              </a:spcAft>
              <a:buSzPts val="2600"/>
              <a:buChar char="•"/>
            </a:pPr>
            <a:r>
              <a:rPr lang="en-US"/>
              <a:t>Allows you to remove applications</a:t>
            </a:r>
            <a:endParaRPr/>
          </a:p>
        </p:txBody>
      </p:sp>
      <p:pic>
        <p:nvPicPr>
          <p:cNvPr descr="How to Open the Windows Control Panel" id="259" name="Google Shape;259;p6"/>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60" name="Google Shape;260;p6"/>
          <p:cNvSpPr/>
          <p:nvPr/>
        </p:nvSpPr>
        <p:spPr>
          <a:xfrm>
            <a:off x="6753724" y="5578639"/>
            <a:ext cx="1925053" cy="3048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features you should know about</a:t>
            </a:r>
            <a:endParaRPr/>
          </a:p>
        </p:txBody>
      </p:sp>
      <p:sp>
        <p:nvSpPr>
          <p:cNvPr id="266" name="Google Shape;266;p7"/>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Ease of Access:</a:t>
            </a:r>
            <a:endParaRPr/>
          </a:p>
          <a:p>
            <a:pPr indent="-393700" lvl="1" marL="914400" rtl="0" algn="l">
              <a:lnSpc>
                <a:spcPct val="90000"/>
              </a:lnSpc>
              <a:spcBef>
                <a:spcPts val="780"/>
              </a:spcBef>
              <a:spcAft>
                <a:spcPts val="0"/>
              </a:spcAft>
              <a:buSzPts val="2600"/>
              <a:buChar char="•"/>
            </a:pPr>
            <a:r>
              <a:rPr lang="en-US"/>
              <a:t>Allows you to personalize the icon and text size to facilitate the use of the device.</a:t>
            </a:r>
            <a:endParaRPr/>
          </a:p>
        </p:txBody>
      </p:sp>
      <p:pic>
        <p:nvPicPr>
          <p:cNvPr descr="How to Open the Windows Control Panel" id="267" name="Google Shape;267;p7"/>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68" name="Google Shape;268;p7"/>
          <p:cNvSpPr/>
          <p:nvPr/>
        </p:nvSpPr>
        <p:spPr>
          <a:xfrm>
            <a:off x="9304418" y="5546558"/>
            <a:ext cx="1925053" cy="3048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functions you should know about</a:t>
            </a:r>
            <a:endParaRPr/>
          </a:p>
        </p:txBody>
      </p:sp>
      <p:sp>
        <p:nvSpPr>
          <p:cNvPr id="274" name="Google Shape;274;p8"/>
          <p:cNvSpPr txBox="1"/>
          <p:nvPr>
            <p:ph idx="1" type="body"/>
          </p:nvPr>
        </p:nvSpPr>
        <p:spPr>
          <a:xfrm>
            <a:off x="838200" y="1825625"/>
            <a:ext cx="4648200" cy="4351338"/>
          </a:xfrm>
          <a:prstGeom prst="rect">
            <a:avLst/>
          </a:prstGeom>
          <a:noFill/>
          <a:ln>
            <a:noFill/>
          </a:ln>
        </p:spPr>
        <p:txBody>
          <a:bodyPr anchorCtr="0" anchor="t" bIns="45700" lIns="91425" spcFirstLastPara="1" rIns="91425" wrap="square" tIns="45700">
            <a:normAutofit fontScale="92500" lnSpcReduction="10000"/>
          </a:bodyPr>
          <a:lstStyle/>
          <a:p>
            <a:pPr indent="-419100" lvl="0" marL="457200" rtl="0" algn="l">
              <a:lnSpc>
                <a:spcPct val="90000"/>
              </a:lnSpc>
              <a:spcBef>
                <a:spcPts val="900"/>
              </a:spcBef>
              <a:spcAft>
                <a:spcPts val="0"/>
              </a:spcAft>
              <a:buClr>
                <a:srgbClr val="7F7F7F"/>
              </a:buClr>
              <a:buSzPct val="108108"/>
              <a:buChar char="•"/>
            </a:pPr>
            <a:r>
              <a:rPr lang="en-US"/>
              <a:t>Appearances and Personalization:</a:t>
            </a:r>
            <a:endParaRPr/>
          </a:p>
          <a:p>
            <a:pPr indent="-393700" lvl="1" marL="914400" rtl="0" algn="l">
              <a:lnSpc>
                <a:spcPct val="90000"/>
              </a:lnSpc>
              <a:spcBef>
                <a:spcPts val="780"/>
              </a:spcBef>
              <a:spcAft>
                <a:spcPts val="0"/>
              </a:spcAft>
              <a:buSzPct val="108108"/>
              <a:buChar char="•"/>
            </a:pPr>
            <a:r>
              <a:rPr lang="en-US"/>
              <a:t>Display settings and themes</a:t>
            </a:r>
            <a:endParaRPr/>
          </a:p>
          <a:p>
            <a:pPr indent="-419100" lvl="0" marL="457200" rtl="0" algn="l">
              <a:lnSpc>
                <a:spcPct val="90000"/>
              </a:lnSpc>
              <a:spcBef>
                <a:spcPts val="900"/>
              </a:spcBef>
              <a:spcAft>
                <a:spcPts val="0"/>
              </a:spcAft>
              <a:buClr>
                <a:srgbClr val="7F7F7F"/>
              </a:buClr>
              <a:buSzPct val="108108"/>
              <a:buChar char="•"/>
            </a:pPr>
            <a:r>
              <a:rPr lang="en-US"/>
              <a:t>Clock, Language &amp; Region:</a:t>
            </a:r>
            <a:endParaRPr/>
          </a:p>
          <a:p>
            <a:pPr indent="-393700" lvl="1" marL="914400" rtl="0" algn="l">
              <a:lnSpc>
                <a:spcPct val="90000"/>
              </a:lnSpc>
              <a:spcBef>
                <a:spcPts val="780"/>
              </a:spcBef>
              <a:spcAft>
                <a:spcPts val="0"/>
              </a:spcAft>
              <a:buSzPct val="108108"/>
              <a:buChar char="•"/>
            </a:pPr>
            <a:r>
              <a:rPr lang="en-US"/>
              <a:t>Allows you to set the date and time</a:t>
            </a:r>
            <a:endParaRPr/>
          </a:p>
          <a:p>
            <a:pPr indent="-393700" lvl="1" marL="914400" rtl="0" algn="l">
              <a:lnSpc>
                <a:spcPct val="90000"/>
              </a:lnSpc>
              <a:spcBef>
                <a:spcPts val="780"/>
              </a:spcBef>
              <a:spcAft>
                <a:spcPts val="0"/>
              </a:spcAft>
              <a:buSzPct val="108108"/>
              <a:buChar char="•"/>
            </a:pPr>
            <a:r>
              <a:rPr lang="en-US"/>
              <a:t>Allows you to modify, remove and add keyboard languages </a:t>
            </a:r>
            <a:endParaRPr/>
          </a:p>
          <a:p>
            <a:pPr indent="-393700" lvl="1" marL="914400" rtl="0" algn="l">
              <a:lnSpc>
                <a:spcPct val="90000"/>
              </a:lnSpc>
              <a:spcBef>
                <a:spcPts val="780"/>
              </a:spcBef>
              <a:spcAft>
                <a:spcPts val="0"/>
              </a:spcAft>
              <a:buSzPct val="108108"/>
              <a:buChar char="•"/>
            </a:pPr>
            <a:r>
              <a:rPr lang="en-US"/>
              <a:t>Windows 11: Language can only be set in the Settings</a:t>
            </a:r>
            <a:endParaRPr/>
          </a:p>
          <a:p>
            <a:pPr indent="0" lvl="1" marL="520700" rtl="0" algn="l">
              <a:lnSpc>
                <a:spcPct val="90000"/>
              </a:lnSpc>
              <a:spcBef>
                <a:spcPts val="780"/>
              </a:spcBef>
              <a:spcAft>
                <a:spcPts val="0"/>
              </a:spcAft>
              <a:buSzPct val="108108"/>
              <a:buNone/>
            </a:pPr>
            <a:r>
              <a:t/>
            </a:r>
            <a:endParaRPr/>
          </a:p>
        </p:txBody>
      </p:sp>
      <p:pic>
        <p:nvPicPr>
          <p:cNvPr descr="How to Open the Windows Control Panel" id="275" name="Google Shape;275;p8"/>
          <p:cNvPicPr preferRelativeResize="0"/>
          <p:nvPr/>
        </p:nvPicPr>
        <p:blipFill rotWithShape="1">
          <a:blip r:embed="rId3">
            <a:alphaModFix/>
          </a:blip>
          <a:srcRect b="0" l="0" r="0" t="0"/>
          <a:stretch/>
        </p:blipFill>
        <p:spPr>
          <a:xfrm>
            <a:off x="5629751" y="1534319"/>
            <a:ext cx="6429375" cy="4933950"/>
          </a:xfrm>
          <a:prstGeom prst="rect">
            <a:avLst/>
          </a:prstGeom>
          <a:noFill/>
          <a:ln>
            <a:noFill/>
          </a:ln>
        </p:spPr>
      </p:pic>
      <p:sp>
        <p:nvSpPr>
          <p:cNvPr id="276" name="Google Shape;276;p8"/>
          <p:cNvSpPr/>
          <p:nvPr/>
        </p:nvSpPr>
        <p:spPr>
          <a:xfrm>
            <a:off x="9336501" y="4423613"/>
            <a:ext cx="1925053" cy="581523"/>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8"/>
          <p:cNvSpPr/>
          <p:nvPr/>
        </p:nvSpPr>
        <p:spPr>
          <a:xfrm>
            <a:off x="9336501" y="3710532"/>
            <a:ext cx="1925053" cy="407199"/>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Control Panel vs Settings</a:t>
            </a:r>
            <a:endParaRPr/>
          </a:p>
        </p:txBody>
      </p:sp>
      <p:sp>
        <p:nvSpPr>
          <p:cNvPr id="283" name="Google Shape;283;p9"/>
          <p:cNvSpPr txBox="1"/>
          <p:nvPr>
            <p:ph idx="1" type="body"/>
          </p:nvPr>
        </p:nvSpPr>
        <p:spPr>
          <a:xfrm>
            <a:off x="972552" y="5579428"/>
            <a:ext cx="10246895" cy="1130177"/>
          </a:xfrm>
          <a:prstGeom prst="rect">
            <a:avLst/>
          </a:prstGeom>
          <a:noFill/>
          <a:ln>
            <a:noFill/>
          </a:ln>
        </p:spPr>
        <p:txBody>
          <a:bodyPr anchorCtr="0" anchor="t" bIns="45700" lIns="91425" spcFirstLastPara="1" rIns="91425" wrap="square" tIns="45700">
            <a:normAutofit fontScale="77500" lnSpcReduction="20000"/>
          </a:bodyPr>
          <a:lstStyle/>
          <a:p>
            <a:pPr indent="-419100" lvl="0" marL="457200" rtl="0" algn="l">
              <a:lnSpc>
                <a:spcPct val="90000"/>
              </a:lnSpc>
              <a:spcBef>
                <a:spcPts val="900"/>
              </a:spcBef>
              <a:spcAft>
                <a:spcPts val="0"/>
              </a:spcAft>
              <a:buClr>
                <a:srgbClr val="7F7F7F"/>
              </a:buClr>
              <a:buSzPct val="129032"/>
              <a:buChar char="•"/>
            </a:pPr>
            <a:r>
              <a:rPr lang="en-US"/>
              <a:t>Windows 11: Functionalities of the Control Panel have been reduced</a:t>
            </a:r>
            <a:endParaRPr/>
          </a:p>
          <a:p>
            <a:pPr indent="-419100" lvl="0" marL="457200" rtl="0" algn="l">
              <a:lnSpc>
                <a:spcPct val="90000"/>
              </a:lnSpc>
              <a:spcBef>
                <a:spcPts val="900"/>
              </a:spcBef>
              <a:spcAft>
                <a:spcPts val="0"/>
              </a:spcAft>
              <a:buClr>
                <a:srgbClr val="7F7F7F"/>
              </a:buClr>
              <a:buSzPct val="129032"/>
              <a:buChar char="•"/>
            </a:pPr>
            <a:r>
              <a:rPr lang="en-US"/>
              <a:t>Microsoft is slowly eliminating the control panel and its functionalities in the Settings and </a:t>
            </a:r>
            <a:r>
              <a:rPr i="1" lang="en-US"/>
              <a:t>other places</a:t>
            </a:r>
            <a:endParaRPr i="1"/>
          </a:p>
        </p:txBody>
      </p:sp>
      <p:pic>
        <p:nvPicPr>
          <p:cNvPr id="284" name="Google Shape;284;p9"/>
          <p:cNvPicPr preferRelativeResize="0"/>
          <p:nvPr/>
        </p:nvPicPr>
        <p:blipFill rotWithShape="1">
          <a:blip r:embed="rId3">
            <a:alphaModFix/>
          </a:blip>
          <a:srcRect b="0" l="0" r="0" t="0"/>
          <a:stretch/>
        </p:blipFill>
        <p:spPr>
          <a:xfrm>
            <a:off x="1357766" y="1650792"/>
            <a:ext cx="4497949" cy="3514765"/>
          </a:xfrm>
          <a:prstGeom prst="rect">
            <a:avLst/>
          </a:prstGeom>
          <a:noFill/>
          <a:ln>
            <a:noFill/>
          </a:ln>
        </p:spPr>
      </p:pic>
      <p:pic>
        <p:nvPicPr>
          <p:cNvPr id="285" name="Google Shape;285;p9"/>
          <p:cNvPicPr preferRelativeResize="0"/>
          <p:nvPr/>
        </p:nvPicPr>
        <p:blipFill rotWithShape="1">
          <a:blip r:embed="rId4">
            <a:alphaModFix/>
          </a:blip>
          <a:srcRect b="0" l="0" r="0" t="0"/>
          <a:stretch/>
        </p:blipFill>
        <p:spPr>
          <a:xfrm>
            <a:off x="6352672" y="1650793"/>
            <a:ext cx="4154179" cy="3669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The functions you should know about</a:t>
            </a:r>
            <a:endParaRPr/>
          </a:p>
        </p:txBody>
      </p:sp>
      <p:pic>
        <p:nvPicPr>
          <p:cNvPr id="291" name="Google Shape;291;p10"/>
          <p:cNvPicPr preferRelativeResize="0"/>
          <p:nvPr/>
        </p:nvPicPr>
        <p:blipFill rotWithShape="1">
          <a:blip r:embed="rId3">
            <a:alphaModFix/>
          </a:blip>
          <a:srcRect b="0" l="0" r="0" t="0"/>
          <a:stretch/>
        </p:blipFill>
        <p:spPr>
          <a:xfrm>
            <a:off x="715279" y="1650793"/>
            <a:ext cx="5380721" cy="4204576"/>
          </a:xfrm>
          <a:prstGeom prst="rect">
            <a:avLst/>
          </a:prstGeom>
          <a:noFill/>
          <a:ln>
            <a:noFill/>
          </a:ln>
        </p:spPr>
      </p:pic>
      <p:pic>
        <p:nvPicPr>
          <p:cNvPr id="292" name="Google Shape;292;p10"/>
          <p:cNvPicPr preferRelativeResize="0"/>
          <p:nvPr/>
        </p:nvPicPr>
        <p:blipFill rotWithShape="1">
          <a:blip r:embed="rId4">
            <a:alphaModFix/>
          </a:blip>
          <a:srcRect b="0" l="0" r="0" t="0"/>
          <a:stretch/>
        </p:blipFill>
        <p:spPr>
          <a:xfrm>
            <a:off x="6640388" y="1714518"/>
            <a:ext cx="4154179" cy="3669925"/>
          </a:xfrm>
          <a:prstGeom prst="rect">
            <a:avLst/>
          </a:prstGeom>
          <a:noFill/>
          <a:ln>
            <a:noFill/>
          </a:ln>
        </p:spPr>
      </p:pic>
      <p:sp>
        <p:nvSpPr>
          <p:cNvPr id="293" name="Google Shape;293;p10"/>
          <p:cNvSpPr/>
          <p:nvPr/>
        </p:nvSpPr>
        <p:spPr>
          <a:xfrm>
            <a:off x="3336757" y="2683837"/>
            <a:ext cx="1925053" cy="407199"/>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4" name="Google Shape;294;p10"/>
          <p:cNvSpPr/>
          <p:nvPr/>
        </p:nvSpPr>
        <p:spPr>
          <a:xfrm>
            <a:off x="6737680" y="3549481"/>
            <a:ext cx="1315457" cy="364793"/>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a:t>User Profiles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Domain vs Workgroup</a:t>
            </a:r>
            <a:endParaRPr/>
          </a:p>
        </p:txBody>
      </p:sp>
      <p:sp>
        <p:nvSpPr>
          <p:cNvPr id="305" name="Google Shape;305;p12"/>
          <p:cNvSpPr txBox="1"/>
          <p:nvPr>
            <p:ph idx="1" type="body"/>
          </p:nvPr>
        </p:nvSpPr>
        <p:spPr>
          <a:xfrm>
            <a:off x="838199" y="1825625"/>
            <a:ext cx="10909663"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rgbClr val="7F7F7F"/>
              </a:buClr>
              <a:buSzPct val="100000"/>
              <a:buChar char="•"/>
            </a:pPr>
            <a:r>
              <a:rPr lang="en-US" sz="2000"/>
              <a:t>Workgroup (Default setting in Windows OS)</a:t>
            </a:r>
            <a:endParaRPr/>
          </a:p>
          <a:p>
            <a:pPr indent="-228600" lvl="1" marL="685800" rtl="0" algn="l">
              <a:lnSpc>
                <a:spcPct val="120000"/>
              </a:lnSpc>
              <a:spcBef>
                <a:spcPts val="500"/>
              </a:spcBef>
              <a:spcAft>
                <a:spcPts val="0"/>
              </a:spcAft>
              <a:buClr>
                <a:srgbClr val="7F7F7F"/>
              </a:buClr>
              <a:buSzPct val="100000"/>
              <a:buChar char="•"/>
            </a:pPr>
            <a:r>
              <a:rPr lang="en-US" sz="1800"/>
              <a:t>All computers are peers; no computer has control over another computer.</a:t>
            </a:r>
            <a:endParaRPr/>
          </a:p>
          <a:p>
            <a:pPr indent="-228600" lvl="1" marL="685800" rtl="0" algn="l">
              <a:lnSpc>
                <a:spcPct val="120000"/>
              </a:lnSpc>
              <a:spcBef>
                <a:spcPts val="500"/>
              </a:spcBef>
              <a:spcAft>
                <a:spcPts val="0"/>
              </a:spcAft>
              <a:buClr>
                <a:srgbClr val="7F7F7F"/>
              </a:buClr>
              <a:buSzPct val="100000"/>
              <a:buChar char="•"/>
            </a:pPr>
            <a:r>
              <a:rPr lang="en-US" sz="1800"/>
              <a:t>Each computer has a set of local user accounts. To log on to any computer in the workgroup, you must have an account on that computer.</a:t>
            </a:r>
            <a:endParaRPr/>
          </a:p>
          <a:p>
            <a:pPr indent="-228600" lvl="1" marL="685800" rtl="0" algn="l">
              <a:lnSpc>
                <a:spcPct val="120000"/>
              </a:lnSpc>
              <a:spcBef>
                <a:spcPts val="500"/>
              </a:spcBef>
              <a:spcAft>
                <a:spcPts val="0"/>
              </a:spcAft>
              <a:buClr>
                <a:srgbClr val="7F7F7F"/>
              </a:buClr>
              <a:buSzPct val="100000"/>
              <a:buChar char="•"/>
            </a:pPr>
            <a:r>
              <a:rPr lang="en-US" sz="1800"/>
              <a:t>Typically a workgroup has less than twenty computers.</a:t>
            </a:r>
            <a:endParaRPr/>
          </a:p>
          <a:p>
            <a:pPr indent="-228600" lvl="1" marL="685800" rtl="0" algn="l">
              <a:lnSpc>
                <a:spcPct val="120000"/>
              </a:lnSpc>
              <a:spcBef>
                <a:spcPts val="500"/>
              </a:spcBef>
              <a:spcAft>
                <a:spcPts val="0"/>
              </a:spcAft>
              <a:buClr>
                <a:srgbClr val="7F7F7F"/>
              </a:buClr>
              <a:buSzPct val="100000"/>
              <a:buChar char="•"/>
            </a:pPr>
            <a:r>
              <a:rPr lang="en-US" sz="1800"/>
              <a:t>A workgroup is not protected by a password.</a:t>
            </a:r>
            <a:endParaRPr/>
          </a:p>
          <a:p>
            <a:pPr indent="-228600" lvl="1" marL="685800" rtl="0" algn="l">
              <a:lnSpc>
                <a:spcPct val="120000"/>
              </a:lnSpc>
              <a:spcBef>
                <a:spcPts val="500"/>
              </a:spcBef>
              <a:spcAft>
                <a:spcPts val="0"/>
              </a:spcAft>
              <a:buClr>
                <a:srgbClr val="7F7F7F"/>
              </a:buClr>
              <a:buSzPct val="100000"/>
              <a:buChar char="•"/>
            </a:pPr>
            <a:r>
              <a:rPr lang="en-US" sz="1800"/>
              <a:t>All computers must be on the same local network to access the other computers.</a:t>
            </a:r>
            <a:endParaRPr/>
          </a:p>
          <a:p>
            <a:pPr indent="-228600" lvl="0" marL="228600" rtl="0" algn="l">
              <a:lnSpc>
                <a:spcPct val="120000"/>
              </a:lnSpc>
              <a:spcBef>
                <a:spcPts val="555"/>
              </a:spcBef>
              <a:spcAft>
                <a:spcPts val="0"/>
              </a:spcAft>
              <a:buClr>
                <a:srgbClr val="7F7F7F"/>
              </a:buClr>
              <a:buSzPct val="100000"/>
              <a:buChar char="•"/>
            </a:pPr>
            <a:r>
              <a:rPr lang="en-US" sz="2000"/>
              <a:t>Domain</a:t>
            </a:r>
            <a:endParaRPr/>
          </a:p>
          <a:p>
            <a:pPr indent="-228600" lvl="1" marL="685800" rtl="0" algn="l">
              <a:lnSpc>
                <a:spcPct val="120000"/>
              </a:lnSpc>
              <a:spcBef>
                <a:spcPts val="500"/>
              </a:spcBef>
              <a:spcAft>
                <a:spcPts val="0"/>
              </a:spcAft>
              <a:buClr>
                <a:srgbClr val="7F7F7F"/>
              </a:buClr>
              <a:buSzPct val="100000"/>
              <a:buChar char="•"/>
            </a:pPr>
            <a:r>
              <a:rPr lang="en-US" sz="1800"/>
              <a:t>Contains at least one server: used to control security and permissions for all computers on the domain. </a:t>
            </a:r>
            <a:endParaRPr/>
          </a:p>
          <a:p>
            <a:pPr indent="-228600" lvl="1" marL="685800" rtl="0" algn="l">
              <a:lnSpc>
                <a:spcPct val="120000"/>
              </a:lnSpc>
              <a:spcBef>
                <a:spcPts val="500"/>
              </a:spcBef>
              <a:spcAft>
                <a:spcPts val="0"/>
              </a:spcAft>
              <a:buClr>
                <a:srgbClr val="7F7F7F"/>
              </a:buClr>
              <a:buSzPct val="100000"/>
              <a:buChar char="•"/>
            </a:pPr>
            <a:r>
              <a:rPr lang="en-US" sz="1800"/>
              <a:t>A user domain account allows a user to log on to any computer on the domain without needing an account on that computer.</a:t>
            </a:r>
            <a:endParaRPr/>
          </a:p>
          <a:p>
            <a:pPr indent="-228600" lvl="2" marL="1143000" rtl="0" algn="l">
              <a:lnSpc>
                <a:spcPct val="120000"/>
              </a:lnSpc>
              <a:spcBef>
                <a:spcPts val="389"/>
              </a:spcBef>
              <a:spcAft>
                <a:spcPts val="0"/>
              </a:spcAft>
              <a:buClr>
                <a:srgbClr val="7F7F7F"/>
              </a:buClr>
              <a:buSzPct val="100000"/>
              <a:buChar char="•"/>
            </a:pPr>
            <a:r>
              <a:rPr lang="en-US" sz="1400"/>
              <a:t>Domain users must provide a password or other credentials each time they access the domain.</a:t>
            </a:r>
            <a:endParaRPr/>
          </a:p>
          <a:p>
            <a:pPr indent="-111125" lvl="0" marL="228600" rtl="0" algn="l">
              <a:lnSpc>
                <a:spcPct val="120000"/>
              </a:lnSpc>
              <a:spcBef>
                <a:spcPts val="555"/>
              </a:spcBef>
              <a:spcAft>
                <a:spcPts val="0"/>
              </a:spcAft>
              <a:buClr>
                <a:srgbClr val="7F7F7F"/>
              </a:buClr>
              <a:buSzPct val="100000"/>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User Profiles</a:t>
            </a:r>
            <a:endParaRPr/>
          </a:p>
        </p:txBody>
      </p:sp>
      <p:sp>
        <p:nvSpPr>
          <p:cNvPr id="311" name="Google Shape;311;p13"/>
          <p:cNvSpPr txBox="1"/>
          <p:nvPr>
            <p:ph idx="1" type="body"/>
          </p:nvPr>
        </p:nvSpPr>
        <p:spPr>
          <a:xfrm>
            <a:off x="838200" y="1825625"/>
            <a:ext cx="5402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A user profile is created the first time a user logs into a computer. </a:t>
            </a:r>
            <a:endParaRPr/>
          </a:p>
          <a:p>
            <a:pPr indent="-228600" lvl="0" marL="228600" rtl="0" algn="l">
              <a:lnSpc>
                <a:spcPct val="90000"/>
              </a:lnSpc>
              <a:spcBef>
                <a:spcPts val="1600"/>
              </a:spcBef>
              <a:spcAft>
                <a:spcPts val="0"/>
              </a:spcAft>
              <a:buClr>
                <a:srgbClr val="7F7F7F"/>
              </a:buClr>
              <a:buSzPts val="3000"/>
              <a:buChar char="•"/>
            </a:pPr>
            <a:r>
              <a:rPr lang="en-US"/>
              <a:t>During subsequent logins, the system loads the user's profile and configures the computer environment according to the information stored in the user profile.</a:t>
            </a:r>
            <a:endParaRPr/>
          </a:p>
        </p:txBody>
      </p:sp>
      <p:pic>
        <p:nvPicPr>
          <p:cNvPr descr="Image result for windows 10 user profiles" id="312" name="Google Shape;312;p13"/>
          <p:cNvPicPr preferRelativeResize="0"/>
          <p:nvPr/>
        </p:nvPicPr>
        <p:blipFill rotWithShape="1">
          <a:blip r:embed="rId3">
            <a:alphaModFix/>
          </a:blip>
          <a:srcRect b="0" l="0" r="0" t="9277"/>
          <a:stretch/>
        </p:blipFill>
        <p:spPr>
          <a:xfrm>
            <a:off x="7377344" y="1112666"/>
            <a:ext cx="3487350" cy="2558341"/>
          </a:xfrm>
          <a:prstGeom prst="rect">
            <a:avLst/>
          </a:prstGeom>
          <a:noFill/>
          <a:ln>
            <a:noFill/>
          </a:ln>
        </p:spPr>
      </p:pic>
      <p:pic>
        <p:nvPicPr>
          <p:cNvPr id="313" name="Google Shape;313;p13"/>
          <p:cNvPicPr preferRelativeResize="0"/>
          <p:nvPr/>
        </p:nvPicPr>
        <p:blipFill rotWithShape="1">
          <a:blip r:embed="rId4">
            <a:alphaModFix/>
          </a:blip>
          <a:srcRect b="0" l="0" r="0" t="0"/>
          <a:stretch/>
        </p:blipFill>
        <p:spPr>
          <a:xfrm>
            <a:off x="6385172" y="3788963"/>
            <a:ext cx="5360541" cy="28496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on VM: Adding a Second User Profile</a:t>
            </a:r>
            <a:endParaRPr/>
          </a:p>
        </p:txBody>
      </p:sp>
      <p:sp>
        <p:nvSpPr>
          <p:cNvPr id="319" name="Google Shape;31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Start &gt; Control Panel</a:t>
            </a:r>
            <a:endParaRPr/>
          </a:p>
          <a:p>
            <a:pPr indent="-228600" lvl="0" marL="228600" rtl="0" algn="l">
              <a:lnSpc>
                <a:spcPct val="90000"/>
              </a:lnSpc>
              <a:spcBef>
                <a:spcPts val="900"/>
              </a:spcBef>
              <a:spcAft>
                <a:spcPts val="0"/>
              </a:spcAft>
              <a:buClr>
                <a:srgbClr val="7F7F7F"/>
              </a:buClr>
              <a:buSzPts val="3000"/>
              <a:buChar char="•"/>
            </a:pPr>
            <a:r>
              <a:rPr lang="en-US"/>
              <a:t>User Accounts &gt; Manage Other Account</a:t>
            </a:r>
            <a:endParaRPr/>
          </a:p>
          <a:p>
            <a:pPr indent="-228600" lvl="0" marL="228600" rtl="0" algn="l">
              <a:lnSpc>
                <a:spcPct val="90000"/>
              </a:lnSpc>
              <a:spcBef>
                <a:spcPts val="900"/>
              </a:spcBef>
              <a:spcAft>
                <a:spcPts val="0"/>
              </a:spcAft>
              <a:buClr>
                <a:srgbClr val="7F7F7F"/>
              </a:buClr>
              <a:buSzPts val="3000"/>
              <a:buChar char="•"/>
            </a:pPr>
            <a:r>
              <a:rPr lang="en-US"/>
              <a:t>Add a user account: </a:t>
            </a:r>
            <a:r>
              <a:rPr i="1" lang="en-US"/>
              <a:t>French User</a:t>
            </a:r>
            <a:endParaRPr/>
          </a:p>
          <a:p>
            <a:pPr indent="-228600" lvl="1" marL="685800" rtl="0" algn="l">
              <a:lnSpc>
                <a:spcPct val="90000"/>
              </a:lnSpc>
              <a:spcBef>
                <a:spcPts val="780"/>
              </a:spcBef>
              <a:spcAft>
                <a:spcPts val="0"/>
              </a:spcAft>
              <a:buClr>
                <a:srgbClr val="7F7F7F"/>
              </a:buClr>
              <a:buSzPts val="2600"/>
              <a:buChar char="•"/>
            </a:pPr>
            <a:r>
              <a:rPr lang="en-US"/>
              <a:t>Without a Microsoft Account</a:t>
            </a:r>
            <a:endParaRPr/>
          </a:p>
          <a:p>
            <a:pPr indent="-228600" lvl="0" marL="228600" rtl="0" algn="l">
              <a:lnSpc>
                <a:spcPct val="90000"/>
              </a:lnSpc>
              <a:spcBef>
                <a:spcPts val="900"/>
              </a:spcBef>
              <a:spcAft>
                <a:spcPts val="0"/>
              </a:spcAft>
              <a:buSzPts val="3000"/>
              <a:buChar char="•"/>
            </a:pPr>
            <a:r>
              <a:rPr lang="en-US"/>
              <a:t>Select the newly created account and change account type:</a:t>
            </a:r>
            <a:endParaRPr/>
          </a:p>
          <a:p>
            <a:pPr indent="-228600" lvl="1" marL="685800" rtl="0" algn="l">
              <a:lnSpc>
                <a:spcPct val="90000"/>
              </a:lnSpc>
              <a:spcBef>
                <a:spcPts val="780"/>
              </a:spcBef>
              <a:spcAft>
                <a:spcPts val="0"/>
              </a:spcAft>
              <a:buSzPts val="2600"/>
              <a:buChar char="•"/>
            </a:pPr>
            <a:r>
              <a:rPr lang="en-US"/>
              <a:t>Local Administrator</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on VM: Adding a Second User Profile</a:t>
            </a:r>
            <a:endParaRPr/>
          </a:p>
        </p:txBody>
      </p:sp>
      <p:pic>
        <p:nvPicPr>
          <p:cNvPr id="325" name="Google Shape;325;p15"/>
          <p:cNvPicPr preferRelativeResize="0"/>
          <p:nvPr/>
        </p:nvPicPr>
        <p:blipFill rotWithShape="1">
          <a:blip r:embed="rId3">
            <a:alphaModFix/>
          </a:blip>
          <a:srcRect b="0" l="0" r="0" t="0"/>
          <a:stretch/>
        </p:blipFill>
        <p:spPr>
          <a:xfrm>
            <a:off x="310393" y="1453272"/>
            <a:ext cx="4834386" cy="2724445"/>
          </a:xfrm>
          <a:prstGeom prst="rect">
            <a:avLst/>
          </a:prstGeom>
          <a:noFill/>
          <a:ln>
            <a:noFill/>
          </a:ln>
        </p:spPr>
      </p:pic>
      <p:pic>
        <p:nvPicPr>
          <p:cNvPr id="326" name="Google Shape;326;p15"/>
          <p:cNvPicPr preferRelativeResize="0"/>
          <p:nvPr/>
        </p:nvPicPr>
        <p:blipFill rotWithShape="1">
          <a:blip r:embed="rId4">
            <a:alphaModFix/>
          </a:blip>
          <a:srcRect b="0" l="0" r="0" t="0"/>
          <a:stretch/>
        </p:blipFill>
        <p:spPr>
          <a:xfrm>
            <a:off x="609600" y="3333011"/>
            <a:ext cx="5220792" cy="2942206"/>
          </a:xfrm>
          <a:prstGeom prst="rect">
            <a:avLst/>
          </a:prstGeom>
          <a:noFill/>
          <a:ln>
            <a:noFill/>
          </a:ln>
        </p:spPr>
      </p:pic>
      <p:pic>
        <p:nvPicPr>
          <p:cNvPr id="327" name="Google Shape;327;p15"/>
          <p:cNvPicPr preferRelativeResize="0"/>
          <p:nvPr/>
        </p:nvPicPr>
        <p:blipFill rotWithShape="1">
          <a:blip r:embed="rId5">
            <a:alphaModFix/>
          </a:blip>
          <a:srcRect b="0" l="0" r="0" t="0"/>
          <a:stretch/>
        </p:blipFill>
        <p:spPr>
          <a:xfrm>
            <a:off x="5374025" y="1502026"/>
            <a:ext cx="3683637" cy="3661969"/>
          </a:xfrm>
          <a:prstGeom prst="rect">
            <a:avLst/>
          </a:prstGeom>
          <a:noFill/>
          <a:ln>
            <a:noFill/>
          </a:ln>
        </p:spPr>
      </p:pic>
      <p:pic>
        <p:nvPicPr>
          <p:cNvPr id="328" name="Google Shape;328;p15"/>
          <p:cNvPicPr preferRelativeResize="0"/>
          <p:nvPr/>
        </p:nvPicPr>
        <p:blipFill rotWithShape="1">
          <a:blip r:embed="rId6">
            <a:alphaModFix/>
          </a:blip>
          <a:srcRect b="0" l="0" r="0" t="0"/>
          <a:stretch/>
        </p:blipFill>
        <p:spPr>
          <a:xfrm>
            <a:off x="7712251" y="2883628"/>
            <a:ext cx="3683637" cy="36619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on VM: Changing the Local Profile Language</a:t>
            </a:r>
            <a:endParaRPr/>
          </a:p>
        </p:txBody>
      </p:sp>
      <p:sp>
        <p:nvSpPr>
          <p:cNvPr id="334" name="Google Shape;334;p16"/>
          <p:cNvSpPr txBox="1"/>
          <p:nvPr>
            <p:ph idx="1" type="body"/>
          </p:nvPr>
        </p:nvSpPr>
        <p:spPr>
          <a:xfrm>
            <a:off x="838199" y="1825625"/>
            <a:ext cx="11074167"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800"/>
              <a:buChar char="•"/>
            </a:pPr>
            <a:r>
              <a:rPr lang="en-US" sz="2800"/>
              <a:t>Login to second account.</a:t>
            </a:r>
            <a:endParaRPr/>
          </a:p>
          <a:p>
            <a:pPr indent="-228600" lvl="0" marL="228600" rtl="0" algn="l">
              <a:lnSpc>
                <a:spcPct val="90000"/>
              </a:lnSpc>
              <a:spcBef>
                <a:spcPts val="840"/>
              </a:spcBef>
              <a:spcAft>
                <a:spcPts val="0"/>
              </a:spcAft>
              <a:buClr>
                <a:srgbClr val="7F7F7F"/>
              </a:buClr>
              <a:buSzPts val="2800"/>
              <a:buChar char="•"/>
            </a:pPr>
            <a:r>
              <a:rPr lang="en-US" sz="2800"/>
              <a:t>Type settings in the search area on the task bar and select </a:t>
            </a:r>
            <a:r>
              <a:rPr lang="en-US" sz="2800">
                <a:solidFill>
                  <a:srgbClr val="0055A4"/>
                </a:solidFill>
              </a:rPr>
              <a:t>Settings</a:t>
            </a:r>
            <a:r>
              <a:rPr b="1" lang="en-US" sz="2800"/>
              <a:t>.</a:t>
            </a:r>
            <a:endParaRPr sz="2800"/>
          </a:p>
          <a:p>
            <a:pPr indent="-228600" lvl="0" marL="228600" rtl="0" algn="l">
              <a:lnSpc>
                <a:spcPct val="90000"/>
              </a:lnSpc>
              <a:spcBef>
                <a:spcPts val="840"/>
              </a:spcBef>
              <a:spcAft>
                <a:spcPts val="0"/>
              </a:spcAft>
              <a:buClr>
                <a:srgbClr val="7F7F7F"/>
              </a:buClr>
              <a:buSzPts val="2800"/>
              <a:buChar char="•"/>
            </a:pPr>
            <a:r>
              <a:rPr lang="en-US" sz="2800"/>
              <a:t>Select </a:t>
            </a:r>
            <a:r>
              <a:rPr lang="en-US" sz="2800">
                <a:solidFill>
                  <a:srgbClr val="0055A4"/>
                </a:solidFill>
              </a:rPr>
              <a:t>Time and language</a:t>
            </a:r>
            <a:r>
              <a:rPr lang="en-US" sz="2800"/>
              <a:t>.</a:t>
            </a:r>
            <a:endParaRPr/>
          </a:p>
          <a:p>
            <a:pPr indent="-228600" lvl="0" marL="228600" rtl="0" algn="l">
              <a:lnSpc>
                <a:spcPct val="90000"/>
              </a:lnSpc>
              <a:spcBef>
                <a:spcPts val="840"/>
              </a:spcBef>
              <a:spcAft>
                <a:spcPts val="0"/>
              </a:spcAft>
              <a:buClr>
                <a:srgbClr val="7F7F7F"/>
              </a:buClr>
              <a:buSzPts val="2800"/>
              <a:buChar char="•"/>
            </a:pPr>
            <a:r>
              <a:rPr lang="en-US" sz="2800"/>
              <a:t>Select </a:t>
            </a:r>
            <a:r>
              <a:rPr lang="en-US" sz="2800">
                <a:solidFill>
                  <a:srgbClr val="0055A4"/>
                </a:solidFill>
              </a:rPr>
              <a:t>Region and Language</a:t>
            </a:r>
            <a:r>
              <a:rPr lang="en-US" sz="2800"/>
              <a:t> from the left panel.</a:t>
            </a:r>
            <a:endParaRPr/>
          </a:p>
          <a:p>
            <a:pPr indent="-228600" lvl="0" marL="228600" rtl="0" algn="l">
              <a:lnSpc>
                <a:spcPct val="90000"/>
              </a:lnSpc>
              <a:spcBef>
                <a:spcPts val="840"/>
              </a:spcBef>
              <a:spcAft>
                <a:spcPts val="0"/>
              </a:spcAft>
              <a:buClr>
                <a:srgbClr val="7F7F7F"/>
              </a:buClr>
              <a:buSzPts val="2800"/>
              <a:buChar char="•"/>
            </a:pPr>
            <a:r>
              <a:rPr lang="en-US" sz="2800"/>
              <a:t>Click on </a:t>
            </a:r>
            <a:r>
              <a:rPr lang="en-US" sz="2800">
                <a:solidFill>
                  <a:srgbClr val="0055A4"/>
                </a:solidFill>
              </a:rPr>
              <a:t>Add language</a:t>
            </a:r>
            <a:r>
              <a:rPr lang="en-US" sz="2800"/>
              <a:t>.</a:t>
            </a:r>
            <a:endParaRPr/>
          </a:p>
          <a:p>
            <a:pPr indent="-228600" lvl="0" marL="228600" rtl="0" algn="l">
              <a:lnSpc>
                <a:spcPct val="90000"/>
              </a:lnSpc>
              <a:spcBef>
                <a:spcPts val="840"/>
              </a:spcBef>
              <a:spcAft>
                <a:spcPts val="0"/>
              </a:spcAft>
              <a:buClr>
                <a:srgbClr val="7F7F7F"/>
              </a:buClr>
              <a:buSzPts val="2800"/>
              <a:buChar char="•"/>
            </a:pPr>
            <a:r>
              <a:rPr lang="en-US" sz="2800"/>
              <a:t>Add desired language from the given list (French Canada).</a:t>
            </a:r>
            <a:endParaRPr/>
          </a:p>
          <a:p>
            <a:pPr indent="-228600" lvl="0" marL="228600" rtl="0" algn="l">
              <a:lnSpc>
                <a:spcPct val="90000"/>
              </a:lnSpc>
              <a:spcBef>
                <a:spcPts val="840"/>
              </a:spcBef>
              <a:spcAft>
                <a:spcPts val="0"/>
              </a:spcAft>
              <a:buClr>
                <a:srgbClr val="7F7F7F"/>
              </a:buClr>
              <a:buSzPts val="2800"/>
              <a:buChar char="•"/>
            </a:pPr>
            <a:r>
              <a:rPr lang="en-US" sz="2800"/>
              <a:t>Click on the </a:t>
            </a:r>
            <a:r>
              <a:rPr lang="en-US" sz="2800">
                <a:solidFill>
                  <a:srgbClr val="0055A4"/>
                </a:solidFill>
              </a:rPr>
              <a:t>French</a:t>
            </a:r>
            <a:r>
              <a:rPr b="1" lang="en-US" sz="2800"/>
              <a:t> </a:t>
            </a:r>
            <a:r>
              <a:rPr lang="en-US" sz="2800"/>
              <a:t>language and click on </a:t>
            </a:r>
            <a:r>
              <a:rPr lang="en-US" sz="2800">
                <a:solidFill>
                  <a:srgbClr val="0055A4"/>
                </a:solidFill>
              </a:rPr>
              <a:t>Set as Default</a:t>
            </a:r>
            <a:r>
              <a:rPr lang="en-US" sz="2800"/>
              <a:t> button.</a:t>
            </a:r>
            <a:endParaRPr/>
          </a:p>
          <a:p>
            <a:pPr indent="-50800" lvl="0" marL="228600" rtl="0" algn="l">
              <a:lnSpc>
                <a:spcPct val="90000"/>
              </a:lnSpc>
              <a:spcBef>
                <a:spcPts val="840"/>
              </a:spcBef>
              <a:spcAft>
                <a:spcPts val="0"/>
              </a:spcAft>
              <a:buClr>
                <a:srgbClr val="7F7F7F"/>
              </a:buClr>
              <a:buSzPts val="2800"/>
              <a:buNone/>
            </a:pPr>
            <a:r>
              <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Handling User Profiles</a:t>
            </a:r>
            <a:endParaRPr/>
          </a:p>
        </p:txBody>
      </p:sp>
      <p:sp>
        <p:nvSpPr>
          <p:cNvPr id="340" name="Google Shape;34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A user profile consists of the following:</a:t>
            </a:r>
            <a:endParaRPr/>
          </a:p>
          <a:p>
            <a:pPr indent="-228600" lvl="1" marL="685800" rtl="0" algn="l">
              <a:lnSpc>
                <a:spcPct val="90000"/>
              </a:lnSpc>
              <a:spcBef>
                <a:spcPts val="780"/>
              </a:spcBef>
              <a:spcAft>
                <a:spcPts val="0"/>
              </a:spcAft>
              <a:buClr>
                <a:srgbClr val="7F7F7F"/>
              </a:buClr>
              <a:buSzPts val="2600"/>
              <a:buChar char="•"/>
            </a:pPr>
            <a:r>
              <a:rPr b="1" lang="en-US"/>
              <a:t>Registry file</a:t>
            </a:r>
            <a:r>
              <a:rPr lang="en-US"/>
              <a:t> loaded by the system when the user logs in. </a:t>
            </a:r>
            <a:r>
              <a:rPr lang="en-US">
                <a:solidFill>
                  <a:srgbClr val="0055A4"/>
                </a:solidFill>
              </a:rPr>
              <a:t>HKEY_CURRENT_USER </a:t>
            </a:r>
            <a:r>
              <a:rPr lang="en-US"/>
              <a:t>key stores user preferences and configuration.</a:t>
            </a:r>
            <a:endParaRPr/>
          </a:p>
          <a:p>
            <a:pPr indent="-355600" lvl="2" marL="1371600" rtl="0" algn="l">
              <a:lnSpc>
                <a:spcPct val="90000"/>
              </a:lnSpc>
              <a:spcBef>
                <a:spcPts val="780"/>
              </a:spcBef>
              <a:spcAft>
                <a:spcPts val="0"/>
              </a:spcAft>
              <a:buSzPts val="2000"/>
              <a:buChar char="•"/>
            </a:pPr>
            <a:r>
              <a:rPr lang="en-US"/>
              <a:t>What’s a registry file? We’ll get to that!</a:t>
            </a:r>
            <a:endParaRPr/>
          </a:p>
          <a:p>
            <a:pPr indent="-228600" lvl="1" marL="685800" rtl="0" algn="l">
              <a:lnSpc>
                <a:spcPct val="90000"/>
              </a:lnSpc>
              <a:spcBef>
                <a:spcPts val="780"/>
              </a:spcBef>
              <a:spcAft>
                <a:spcPts val="0"/>
              </a:spcAft>
              <a:buClr>
                <a:srgbClr val="7F7F7F"/>
              </a:buClr>
              <a:buSzPts val="2600"/>
              <a:buChar char="•"/>
            </a:pPr>
            <a:r>
              <a:rPr lang="en-US"/>
              <a:t>A set of folders stored in the file system. </a:t>
            </a:r>
            <a:endParaRPr/>
          </a:p>
          <a:p>
            <a:pPr indent="-228600" lvl="1" marL="685800" rtl="0" algn="l">
              <a:lnSpc>
                <a:spcPct val="90000"/>
              </a:lnSpc>
              <a:spcBef>
                <a:spcPts val="780"/>
              </a:spcBef>
              <a:spcAft>
                <a:spcPts val="0"/>
              </a:spcAft>
              <a:buClr>
                <a:srgbClr val="7F7F7F"/>
              </a:buClr>
              <a:buSzPts val="2600"/>
              <a:buChar char="•"/>
            </a:pPr>
            <a:r>
              <a:rPr lang="en-US"/>
              <a:t>Containers for applications and other system components to populate with sub-folders and user-specific data such as documents and config files.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Types Of Profiles</a:t>
            </a:r>
            <a:endParaRPr/>
          </a:p>
        </p:txBody>
      </p:sp>
      <p:sp>
        <p:nvSpPr>
          <p:cNvPr id="346" name="Google Shape;346;p18"/>
          <p:cNvSpPr txBox="1"/>
          <p:nvPr>
            <p:ph idx="1" type="body"/>
          </p:nvPr>
        </p:nvSpPr>
        <p:spPr>
          <a:xfrm>
            <a:off x="838200" y="1825624"/>
            <a:ext cx="10515600" cy="473497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rgbClr val="7F7F7F"/>
              </a:buClr>
              <a:buSzPct val="100000"/>
              <a:buChar char="•"/>
            </a:pPr>
            <a:r>
              <a:rPr lang="en-US"/>
              <a:t>Local Profile</a:t>
            </a:r>
            <a:endParaRPr/>
          </a:p>
          <a:p>
            <a:pPr indent="-228600" lvl="1" marL="685800" rtl="0" algn="l">
              <a:lnSpc>
                <a:spcPct val="120000"/>
              </a:lnSpc>
              <a:spcBef>
                <a:spcPts val="663"/>
              </a:spcBef>
              <a:spcAft>
                <a:spcPts val="0"/>
              </a:spcAft>
              <a:buClr>
                <a:srgbClr val="7F7F7F"/>
              </a:buClr>
              <a:buSzPct val="100000"/>
              <a:buChar char="•"/>
            </a:pPr>
            <a:r>
              <a:rPr lang="en-US"/>
              <a:t>A local user profile is created the first time a user logs onto a computer. </a:t>
            </a:r>
            <a:endParaRPr/>
          </a:p>
          <a:p>
            <a:pPr indent="-228600" lvl="1" marL="685800" rtl="0" algn="l">
              <a:lnSpc>
                <a:spcPct val="120000"/>
              </a:lnSpc>
              <a:spcBef>
                <a:spcPts val="663"/>
              </a:spcBef>
              <a:spcAft>
                <a:spcPts val="0"/>
              </a:spcAft>
              <a:buClr>
                <a:srgbClr val="7F7F7F"/>
              </a:buClr>
              <a:buSzPct val="100000"/>
              <a:buChar char="•"/>
            </a:pPr>
            <a:r>
              <a:rPr lang="en-US"/>
              <a:t>This is stored on the computer's hard drive. </a:t>
            </a:r>
            <a:endParaRPr/>
          </a:p>
          <a:p>
            <a:pPr indent="-228600" lvl="1" marL="685800" rtl="0" algn="l">
              <a:lnSpc>
                <a:spcPct val="120000"/>
              </a:lnSpc>
              <a:spcBef>
                <a:spcPts val="663"/>
              </a:spcBef>
              <a:spcAft>
                <a:spcPts val="0"/>
              </a:spcAft>
              <a:buClr>
                <a:srgbClr val="7F7F7F"/>
              </a:buClr>
              <a:buSzPct val="100000"/>
              <a:buChar char="•"/>
            </a:pPr>
            <a:r>
              <a:rPr lang="en-US"/>
              <a:t>Changes are specific to user and computer on which the changes are made.</a:t>
            </a:r>
            <a:endParaRPr/>
          </a:p>
          <a:p>
            <a:pPr indent="-228600" lvl="0" marL="228600" rtl="0" algn="l">
              <a:lnSpc>
                <a:spcPct val="120000"/>
              </a:lnSpc>
              <a:spcBef>
                <a:spcPts val="765"/>
              </a:spcBef>
              <a:spcAft>
                <a:spcPts val="0"/>
              </a:spcAft>
              <a:buClr>
                <a:srgbClr val="7F7F7F"/>
              </a:buClr>
              <a:buSzPct val="100000"/>
              <a:buChar char="•"/>
            </a:pPr>
            <a:r>
              <a:rPr lang="en-US"/>
              <a:t>Roaming Profile</a:t>
            </a:r>
            <a:endParaRPr/>
          </a:p>
          <a:p>
            <a:pPr indent="-228600" lvl="1" marL="685800" rtl="0" algn="l">
              <a:lnSpc>
                <a:spcPct val="120000"/>
              </a:lnSpc>
              <a:spcBef>
                <a:spcPts val="663"/>
              </a:spcBef>
              <a:spcAft>
                <a:spcPts val="0"/>
              </a:spcAft>
              <a:buClr>
                <a:srgbClr val="7F7F7F"/>
              </a:buClr>
              <a:buSzPct val="100000"/>
              <a:buChar char="•"/>
            </a:pPr>
            <a:r>
              <a:rPr lang="en-US"/>
              <a:t>A copy of the local profile that is copied to and stored on a shared server. </a:t>
            </a:r>
            <a:endParaRPr/>
          </a:p>
          <a:p>
            <a:pPr indent="-228600" lvl="1" marL="685800" rtl="0" algn="l">
              <a:lnSpc>
                <a:spcPct val="120000"/>
              </a:lnSpc>
              <a:spcBef>
                <a:spcPts val="663"/>
              </a:spcBef>
              <a:spcAft>
                <a:spcPts val="0"/>
              </a:spcAft>
              <a:buClr>
                <a:srgbClr val="7F7F7F"/>
              </a:buClr>
              <a:buSzPct val="100000"/>
              <a:buChar char="•"/>
            </a:pPr>
            <a:r>
              <a:rPr lang="en-US"/>
              <a:t>This is downloaded to any computer within the network that the user logs into.</a:t>
            </a:r>
            <a:endParaRPr/>
          </a:p>
          <a:p>
            <a:pPr indent="-228600" lvl="1" marL="685800" rtl="0" algn="l">
              <a:lnSpc>
                <a:spcPct val="120000"/>
              </a:lnSpc>
              <a:spcBef>
                <a:spcPts val="663"/>
              </a:spcBef>
              <a:spcAft>
                <a:spcPts val="0"/>
              </a:spcAft>
              <a:buClr>
                <a:srgbClr val="7F7F7F"/>
              </a:buClr>
              <a:buSzPct val="100000"/>
              <a:buChar char="•"/>
            </a:pPr>
            <a:r>
              <a:rPr lang="en-US"/>
              <a:t>Changes to a roaming profile are saved to the server when the user logs off.</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Types Of Profiles (2)</a:t>
            </a:r>
            <a:endParaRPr/>
          </a:p>
        </p:txBody>
      </p:sp>
      <p:sp>
        <p:nvSpPr>
          <p:cNvPr id="352" name="Google Shape;352;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rgbClr val="7F7F7F"/>
              </a:buClr>
              <a:buSzPct val="100000"/>
              <a:buChar char="•"/>
            </a:pPr>
            <a:r>
              <a:rPr lang="en-US"/>
              <a:t>Mandatory Profile</a:t>
            </a:r>
            <a:endParaRPr/>
          </a:p>
          <a:p>
            <a:pPr indent="-228600" lvl="1" marL="685800" rtl="0" algn="l">
              <a:lnSpc>
                <a:spcPct val="120000"/>
              </a:lnSpc>
              <a:spcBef>
                <a:spcPts val="663"/>
              </a:spcBef>
              <a:spcAft>
                <a:spcPts val="0"/>
              </a:spcAft>
              <a:buClr>
                <a:srgbClr val="7F7F7F"/>
              </a:buClr>
              <a:buSzPct val="100000"/>
              <a:buChar char="•"/>
            </a:pPr>
            <a:r>
              <a:rPr lang="en-US"/>
              <a:t>Administrators can create mandatory user profiles with settings for users. </a:t>
            </a:r>
            <a:endParaRPr/>
          </a:p>
          <a:p>
            <a:pPr indent="-228600" lvl="1" marL="685800" rtl="0" algn="l">
              <a:lnSpc>
                <a:spcPct val="120000"/>
              </a:lnSpc>
              <a:spcBef>
                <a:spcPts val="663"/>
              </a:spcBef>
              <a:spcAft>
                <a:spcPts val="0"/>
              </a:spcAft>
              <a:buClr>
                <a:srgbClr val="7F7F7F"/>
              </a:buClr>
              <a:buSzPct val="100000"/>
              <a:buChar char="•"/>
            </a:pPr>
            <a:r>
              <a:rPr lang="en-US"/>
              <a:t>These settings can only be changed by the administrator. </a:t>
            </a:r>
            <a:endParaRPr/>
          </a:p>
          <a:p>
            <a:pPr indent="-228600" lvl="1" marL="685800" rtl="0" algn="l">
              <a:lnSpc>
                <a:spcPct val="120000"/>
              </a:lnSpc>
              <a:spcBef>
                <a:spcPts val="663"/>
              </a:spcBef>
              <a:spcAft>
                <a:spcPts val="0"/>
              </a:spcAft>
              <a:buClr>
                <a:srgbClr val="7F7F7F"/>
              </a:buClr>
              <a:buSzPct val="100000"/>
              <a:buChar char="•"/>
            </a:pPr>
            <a:r>
              <a:rPr lang="en-US"/>
              <a:t>Any changes made to the profile by the user are lost once the user logs off.</a:t>
            </a:r>
            <a:endParaRPr/>
          </a:p>
          <a:p>
            <a:pPr indent="-228600" lvl="0" marL="228600" rtl="0" algn="l">
              <a:lnSpc>
                <a:spcPct val="120000"/>
              </a:lnSpc>
              <a:spcBef>
                <a:spcPts val="765"/>
              </a:spcBef>
              <a:spcAft>
                <a:spcPts val="0"/>
              </a:spcAft>
              <a:buClr>
                <a:srgbClr val="7F7F7F"/>
              </a:buClr>
              <a:buSzPct val="100000"/>
              <a:buChar char="•"/>
            </a:pPr>
            <a:r>
              <a:rPr lang="en-US"/>
              <a:t>Temporary Profile</a:t>
            </a:r>
            <a:endParaRPr/>
          </a:p>
          <a:p>
            <a:pPr indent="-228600" lvl="1" marL="685800" rtl="0" algn="l">
              <a:lnSpc>
                <a:spcPct val="120000"/>
              </a:lnSpc>
              <a:spcBef>
                <a:spcPts val="663"/>
              </a:spcBef>
              <a:spcAft>
                <a:spcPts val="0"/>
              </a:spcAft>
              <a:buClr>
                <a:srgbClr val="7F7F7F"/>
              </a:buClr>
              <a:buSzPct val="100000"/>
              <a:buChar char="•"/>
            </a:pPr>
            <a:r>
              <a:rPr lang="en-US"/>
              <a:t>A temporary profile is created if an error prevents user profile from loading. </a:t>
            </a:r>
            <a:endParaRPr/>
          </a:p>
          <a:p>
            <a:pPr indent="-228600" lvl="1" marL="685800" rtl="0" algn="l">
              <a:lnSpc>
                <a:spcPct val="120000"/>
              </a:lnSpc>
              <a:spcBef>
                <a:spcPts val="663"/>
              </a:spcBef>
              <a:spcAft>
                <a:spcPts val="0"/>
              </a:spcAft>
              <a:buClr>
                <a:srgbClr val="7F7F7F"/>
              </a:buClr>
              <a:buSzPct val="100000"/>
              <a:buChar char="•"/>
            </a:pPr>
            <a:r>
              <a:rPr lang="en-US"/>
              <a:t>These profiles are deleted automatically at the end of each session.</a:t>
            </a:r>
            <a:endParaRPr/>
          </a:p>
          <a:p>
            <a:pPr indent="-228600" lvl="1" marL="685800" rtl="0" algn="l">
              <a:lnSpc>
                <a:spcPct val="120000"/>
              </a:lnSpc>
              <a:spcBef>
                <a:spcPts val="663"/>
              </a:spcBef>
              <a:spcAft>
                <a:spcPts val="0"/>
              </a:spcAft>
              <a:buClr>
                <a:srgbClr val="7F7F7F"/>
              </a:buClr>
              <a:buSzPct val="100000"/>
              <a:buChar char="•"/>
            </a:pPr>
            <a:r>
              <a:rPr lang="en-US"/>
              <a:t>Any changes made to the profile by the user are lost once the user logs off.</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Advantages Of User Profiles</a:t>
            </a:r>
            <a:endParaRPr/>
          </a:p>
        </p:txBody>
      </p:sp>
      <p:sp>
        <p:nvSpPr>
          <p:cNvPr id="358" name="Google Shape;358;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rgbClr val="7F7F7F"/>
              </a:buClr>
              <a:buSzPct val="100000"/>
              <a:buChar char="•"/>
            </a:pPr>
            <a:r>
              <a:rPr lang="en-US"/>
              <a:t>When the user logs onto a computer, the system uses the same settings that were in use when the user last logged off.</a:t>
            </a:r>
            <a:endParaRPr/>
          </a:p>
          <a:p>
            <a:pPr indent="-228600" lvl="0" marL="228600" rtl="0" algn="l">
              <a:lnSpc>
                <a:spcPct val="120000"/>
              </a:lnSpc>
              <a:spcBef>
                <a:spcPts val="833"/>
              </a:spcBef>
              <a:spcAft>
                <a:spcPts val="0"/>
              </a:spcAft>
              <a:buClr>
                <a:srgbClr val="7F7F7F"/>
              </a:buClr>
              <a:buSzPct val="100000"/>
              <a:buChar char="•"/>
            </a:pPr>
            <a:r>
              <a:rPr lang="en-US"/>
              <a:t>When sharing a computer with other users, each user receives their own customized desktop after logging on.</a:t>
            </a:r>
            <a:endParaRPr/>
          </a:p>
          <a:p>
            <a:pPr indent="-228600" lvl="0" marL="228600" rtl="0" algn="l">
              <a:lnSpc>
                <a:spcPct val="120000"/>
              </a:lnSpc>
              <a:spcBef>
                <a:spcPts val="833"/>
              </a:spcBef>
              <a:spcAft>
                <a:spcPts val="0"/>
              </a:spcAft>
              <a:buClr>
                <a:srgbClr val="7F7F7F"/>
              </a:buClr>
              <a:buSzPct val="100000"/>
              <a:buChar char="•"/>
            </a:pPr>
            <a:r>
              <a:rPr lang="en-US"/>
              <a:t>Settings in the user profile are unique to each user and cannot be accessed by other users. </a:t>
            </a:r>
            <a:endParaRPr/>
          </a:p>
          <a:p>
            <a:pPr indent="-228600" lvl="0" marL="228600" rtl="0" algn="l">
              <a:lnSpc>
                <a:spcPct val="120000"/>
              </a:lnSpc>
              <a:spcBef>
                <a:spcPts val="833"/>
              </a:spcBef>
              <a:spcAft>
                <a:spcPts val="0"/>
              </a:spcAft>
              <a:buClr>
                <a:srgbClr val="7F7F7F"/>
              </a:buClr>
              <a:buSzPct val="100000"/>
              <a:buChar char="•"/>
            </a:pPr>
            <a:r>
              <a:rPr lang="en-US"/>
              <a:t>Changes made to one user's profile do not affect other users or their profiles.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2"/>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a:t>File Permissions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File Permissions</a:t>
            </a:r>
            <a:endParaRPr/>
          </a:p>
        </p:txBody>
      </p:sp>
      <p:sp>
        <p:nvSpPr>
          <p:cNvPr id="369" name="Google Shape;369;p23"/>
          <p:cNvSpPr txBox="1"/>
          <p:nvPr>
            <p:ph idx="1" type="body"/>
          </p:nvPr>
        </p:nvSpPr>
        <p:spPr>
          <a:xfrm>
            <a:off x="838200" y="1825625"/>
            <a:ext cx="5051323"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The properties tab of files and folders in Windows allows you to configure various permissions for the different users or groups of users </a:t>
            </a:r>
            <a:endParaRPr/>
          </a:p>
        </p:txBody>
      </p:sp>
      <p:pic>
        <p:nvPicPr>
          <p:cNvPr descr="video tutorials properties" id="370" name="Google Shape;370;p23"/>
          <p:cNvPicPr preferRelativeResize="0"/>
          <p:nvPr/>
        </p:nvPicPr>
        <p:blipFill rotWithShape="1">
          <a:blip r:embed="rId3">
            <a:alphaModFix/>
          </a:blip>
          <a:srcRect b="0" l="0" r="0" t="0"/>
          <a:stretch/>
        </p:blipFill>
        <p:spPr>
          <a:xfrm>
            <a:off x="7003487" y="1825625"/>
            <a:ext cx="3533775" cy="4286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File Permissions</a:t>
            </a:r>
            <a:endParaRPr/>
          </a:p>
        </p:txBody>
      </p:sp>
      <p:sp>
        <p:nvSpPr>
          <p:cNvPr id="376" name="Google Shape;376;p24"/>
          <p:cNvSpPr txBox="1"/>
          <p:nvPr>
            <p:ph idx="1" type="body"/>
          </p:nvPr>
        </p:nvSpPr>
        <p:spPr>
          <a:xfrm>
            <a:off x="1066800" y="1825625"/>
            <a:ext cx="7339781"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You may Edit permission:</a:t>
            </a:r>
            <a:endParaRPr/>
          </a:p>
          <a:p>
            <a:pPr indent="-419100" lvl="0" marL="457200" rtl="0" algn="l">
              <a:lnSpc>
                <a:spcPct val="90000"/>
              </a:lnSpc>
              <a:spcBef>
                <a:spcPts val="900"/>
              </a:spcBef>
              <a:spcAft>
                <a:spcPts val="0"/>
              </a:spcAft>
              <a:buClr>
                <a:srgbClr val="7F7F7F"/>
              </a:buClr>
              <a:buSzPts val="3000"/>
              <a:buChar char="•"/>
            </a:pPr>
            <a:r>
              <a:rPr lang="en-US"/>
              <a:t>These are the NTFS permissions:</a:t>
            </a:r>
            <a:endParaRPr/>
          </a:p>
          <a:p>
            <a:pPr indent="-393700" lvl="1" marL="914400" rtl="0" algn="l">
              <a:lnSpc>
                <a:spcPct val="90000"/>
              </a:lnSpc>
              <a:spcBef>
                <a:spcPts val="780"/>
              </a:spcBef>
              <a:spcAft>
                <a:spcPts val="0"/>
              </a:spcAft>
              <a:buSzPts val="2600"/>
              <a:buChar char="•"/>
            </a:pPr>
            <a:r>
              <a:rPr lang="en-US"/>
              <a:t>Full Control (includes everything)</a:t>
            </a:r>
            <a:endParaRPr/>
          </a:p>
          <a:p>
            <a:pPr indent="-393700" lvl="1" marL="914400" rtl="0" algn="l">
              <a:lnSpc>
                <a:spcPct val="90000"/>
              </a:lnSpc>
              <a:spcBef>
                <a:spcPts val="780"/>
              </a:spcBef>
              <a:spcAft>
                <a:spcPts val="0"/>
              </a:spcAft>
              <a:buSzPts val="2600"/>
              <a:buChar char="•"/>
            </a:pPr>
            <a:r>
              <a:rPr lang="en-US"/>
              <a:t>Modify (does not include taking ownership)</a:t>
            </a:r>
            <a:endParaRPr/>
          </a:p>
          <a:p>
            <a:pPr indent="-393700" lvl="1" marL="914400" rtl="0" algn="l">
              <a:lnSpc>
                <a:spcPct val="90000"/>
              </a:lnSpc>
              <a:spcBef>
                <a:spcPts val="780"/>
              </a:spcBef>
              <a:spcAft>
                <a:spcPts val="0"/>
              </a:spcAft>
              <a:buSzPts val="2600"/>
              <a:buChar char="•"/>
            </a:pPr>
            <a:r>
              <a:rPr lang="en-US"/>
              <a:t>Read and Execute (view files and run apps)</a:t>
            </a:r>
            <a:endParaRPr/>
          </a:p>
          <a:p>
            <a:pPr indent="-393700" lvl="1" marL="914400" rtl="0" algn="l">
              <a:lnSpc>
                <a:spcPct val="90000"/>
              </a:lnSpc>
              <a:spcBef>
                <a:spcPts val="780"/>
              </a:spcBef>
              <a:spcAft>
                <a:spcPts val="0"/>
              </a:spcAft>
              <a:buSzPts val="2600"/>
              <a:buChar char="•"/>
            </a:pPr>
            <a:r>
              <a:rPr lang="en-US"/>
              <a:t>List Folder contents (view folders but not access files</a:t>
            </a:r>
            <a:endParaRPr/>
          </a:p>
          <a:p>
            <a:pPr indent="-393700" lvl="1" marL="914400" rtl="0" algn="l">
              <a:lnSpc>
                <a:spcPct val="90000"/>
              </a:lnSpc>
              <a:spcBef>
                <a:spcPts val="780"/>
              </a:spcBef>
              <a:spcAft>
                <a:spcPts val="0"/>
              </a:spcAft>
              <a:buSzPts val="2600"/>
              <a:buChar char="•"/>
            </a:pPr>
            <a:r>
              <a:rPr lang="en-US"/>
              <a:t>Read (open and view files)</a:t>
            </a:r>
            <a:endParaRPr/>
          </a:p>
          <a:p>
            <a:pPr indent="-393700" lvl="1" marL="914400" rtl="0" algn="l">
              <a:lnSpc>
                <a:spcPct val="90000"/>
              </a:lnSpc>
              <a:spcBef>
                <a:spcPts val="780"/>
              </a:spcBef>
              <a:spcAft>
                <a:spcPts val="0"/>
              </a:spcAft>
              <a:buSzPts val="2600"/>
              <a:buChar char="•"/>
            </a:pPr>
            <a:r>
              <a:rPr lang="en-US"/>
              <a:t>Write (create folder and files and edit them)</a:t>
            </a:r>
            <a:endParaRPr/>
          </a:p>
        </p:txBody>
      </p:sp>
      <p:pic>
        <p:nvPicPr>
          <p:cNvPr descr="permissions for video tutorials" id="377" name="Google Shape;377;p24"/>
          <p:cNvPicPr preferRelativeResize="0"/>
          <p:nvPr/>
        </p:nvPicPr>
        <p:blipFill rotWithShape="1">
          <a:blip r:embed="rId3">
            <a:alphaModFix/>
          </a:blip>
          <a:srcRect b="0" l="0" r="0" t="0"/>
          <a:stretch/>
        </p:blipFill>
        <p:spPr>
          <a:xfrm>
            <a:off x="8114685" y="1719109"/>
            <a:ext cx="3524250" cy="4324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File Permissions – Add a user</a:t>
            </a:r>
            <a:endParaRPr/>
          </a:p>
        </p:txBody>
      </p:sp>
      <p:sp>
        <p:nvSpPr>
          <p:cNvPr id="383" name="Google Shape;383;p25"/>
          <p:cNvSpPr txBox="1"/>
          <p:nvPr>
            <p:ph idx="1" type="body"/>
          </p:nvPr>
        </p:nvSpPr>
        <p:spPr>
          <a:xfrm>
            <a:off x="838200" y="1825625"/>
            <a:ext cx="5847735"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Click the Edit button, this opens a new window</a:t>
            </a:r>
            <a:endParaRPr/>
          </a:p>
          <a:p>
            <a:pPr indent="-419100" lvl="0" marL="457200" rtl="0" algn="l">
              <a:lnSpc>
                <a:spcPct val="90000"/>
              </a:lnSpc>
              <a:spcBef>
                <a:spcPts val="900"/>
              </a:spcBef>
              <a:spcAft>
                <a:spcPts val="0"/>
              </a:spcAft>
              <a:buClr>
                <a:srgbClr val="7F7F7F"/>
              </a:buClr>
              <a:buSzPts val="3000"/>
              <a:buChar char="•"/>
            </a:pPr>
            <a:r>
              <a:rPr lang="en-US"/>
              <a:t>Click the Add button, you may type the name of the user: FrenchUser or Click on Advanced &gt; Add to add the user.</a:t>
            </a:r>
            <a:endParaRPr/>
          </a:p>
        </p:txBody>
      </p:sp>
      <p:pic>
        <p:nvPicPr>
          <p:cNvPr descr="select users" id="384" name="Google Shape;384;p25"/>
          <p:cNvPicPr preferRelativeResize="0"/>
          <p:nvPr/>
        </p:nvPicPr>
        <p:blipFill rotWithShape="1">
          <a:blip r:embed="rId3">
            <a:alphaModFix/>
          </a:blip>
          <a:srcRect b="0" l="0" r="0" t="0"/>
          <a:stretch/>
        </p:blipFill>
        <p:spPr>
          <a:xfrm>
            <a:off x="6896100" y="1904693"/>
            <a:ext cx="4457700" cy="2419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6"/>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a:t>Windows Registry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Windows Registry</a:t>
            </a:r>
            <a:endParaRPr/>
          </a:p>
        </p:txBody>
      </p:sp>
      <p:sp>
        <p:nvSpPr>
          <p:cNvPr id="395" name="Google Shape;395;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Clr>
                <a:srgbClr val="7F7F7F"/>
              </a:buClr>
              <a:buSzPct val="100000"/>
              <a:buChar char="•"/>
            </a:pPr>
            <a:r>
              <a:rPr lang="en-US"/>
              <a:t>Huge database that stores everything about the PC including information on all the hardware, network information, user preferences file types and practically everything you find in Windows.</a:t>
            </a:r>
            <a:endParaRPr/>
          </a:p>
          <a:p>
            <a:pPr indent="-228600" lvl="0" marL="228600" rtl="0" algn="l">
              <a:lnSpc>
                <a:spcPct val="110000"/>
              </a:lnSpc>
              <a:spcBef>
                <a:spcPts val="765"/>
              </a:spcBef>
              <a:spcAft>
                <a:spcPts val="0"/>
              </a:spcAft>
              <a:buClr>
                <a:srgbClr val="7F7F7F"/>
              </a:buClr>
              <a:buSzPct val="100000"/>
              <a:buChar char="•"/>
            </a:pPr>
            <a:r>
              <a:rPr lang="en-US"/>
              <a:t>Every version of Windows stores Registry files called hives in the </a:t>
            </a:r>
            <a:r>
              <a:rPr lang="en-US">
                <a:solidFill>
                  <a:srgbClr val="0055A4"/>
                </a:solidFill>
                <a:latin typeface="Courier New"/>
                <a:ea typeface="Courier New"/>
                <a:cs typeface="Courier New"/>
                <a:sym typeface="Courier New"/>
              </a:rPr>
              <a:t>\%SystemRoot%\System32\</a:t>
            </a:r>
            <a:r>
              <a:rPr lang="en-US"/>
              <a:t> config folder and each user account folder. </a:t>
            </a:r>
            <a:endParaRPr/>
          </a:p>
          <a:p>
            <a:pPr indent="-228600" lvl="0" marL="228600" rtl="0" algn="l">
              <a:lnSpc>
                <a:spcPct val="110000"/>
              </a:lnSpc>
              <a:spcBef>
                <a:spcPts val="765"/>
              </a:spcBef>
              <a:spcAft>
                <a:spcPts val="0"/>
              </a:spcAft>
              <a:buClr>
                <a:srgbClr val="7F7F7F"/>
              </a:buClr>
              <a:buSzPct val="100000"/>
              <a:buChar char="•"/>
            </a:pPr>
            <a:r>
              <a:rPr lang="en-US"/>
              <a:t>Computer technicians should:</a:t>
            </a:r>
            <a:endParaRPr/>
          </a:p>
          <a:p>
            <a:pPr indent="-228600" lvl="1" marL="685800" rtl="0" algn="l">
              <a:lnSpc>
                <a:spcPct val="110000"/>
              </a:lnSpc>
              <a:spcBef>
                <a:spcPts val="663"/>
              </a:spcBef>
              <a:spcAft>
                <a:spcPts val="0"/>
              </a:spcAft>
              <a:buClr>
                <a:srgbClr val="7F7F7F"/>
              </a:buClr>
              <a:buSzPct val="100000"/>
              <a:buChar char="•"/>
            </a:pPr>
            <a:r>
              <a:rPr lang="en-US"/>
              <a:t>Understand basic Registry components,</a:t>
            </a:r>
            <a:endParaRPr/>
          </a:p>
          <a:p>
            <a:pPr indent="-228600" lvl="1" marL="685800" rtl="0" algn="l">
              <a:lnSpc>
                <a:spcPct val="110000"/>
              </a:lnSpc>
              <a:spcBef>
                <a:spcPts val="663"/>
              </a:spcBef>
              <a:spcAft>
                <a:spcPts val="0"/>
              </a:spcAft>
              <a:buClr>
                <a:srgbClr val="7F7F7F"/>
              </a:buClr>
              <a:buSzPct val="100000"/>
              <a:buChar char="•"/>
            </a:pPr>
            <a:r>
              <a:rPr lang="en-US"/>
              <a:t>Know how to edit the Registry manually,</a:t>
            </a:r>
            <a:endParaRPr/>
          </a:p>
          <a:p>
            <a:pPr indent="-228600" lvl="1" marL="685800" rtl="0" algn="l">
              <a:lnSpc>
                <a:spcPct val="110000"/>
              </a:lnSpc>
              <a:spcBef>
                <a:spcPts val="663"/>
              </a:spcBef>
              <a:spcAft>
                <a:spcPts val="0"/>
              </a:spcAft>
              <a:buClr>
                <a:srgbClr val="7F7F7F"/>
              </a:buClr>
              <a:buSzPct val="100000"/>
              <a:buChar char="•"/>
            </a:pPr>
            <a:r>
              <a:rPr lang="en-US"/>
              <a:t>Know the best way to locate a particular setting.</a:t>
            </a:r>
            <a:endParaRPr/>
          </a:p>
          <a:p>
            <a:pPr indent="-66675" lvl="0" marL="228600" rtl="0" algn="l">
              <a:lnSpc>
                <a:spcPct val="110000"/>
              </a:lnSpc>
              <a:spcBef>
                <a:spcPts val="765"/>
              </a:spcBef>
              <a:spcAft>
                <a:spcPts val="0"/>
              </a:spcAft>
              <a:buClr>
                <a:srgbClr val="7F7F7F"/>
              </a:buClr>
              <a:buSzPct val="10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Accessing Registry</a:t>
            </a:r>
            <a:endParaRPr/>
          </a:p>
        </p:txBody>
      </p:sp>
      <p:sp>
        <p:nvSpPr>
          <p:cNvPr id="401" name="Google Shape;40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To access the Registry, type “</a:t>
            </a:r>
            <a:r>
              <a:rPr lang="en-US">
                <a:solidFill>
                  <a:srgbClr val="0055A4"/>
                </a:solidFill>
              </a:rPr>
              <a:t>regedit</a:t>
            </a:r>
            <a:r>
              <a:rPr lang="en-US"/>
              <a:t>” in the </a:t>
            </a:r>
            <a:br>
              <a:rPr lang="en-US"/>
            </a:br>
            <a:r>
              <a:rPr lang="en-US"/>
              <a:t>Start 🡪 Search bar (or Spotlight).</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The Registry is organised in a tree structure similar to the folders in a file system. </a:t>
            </a:r>
            <a:endParaRPr/>
          </a:p>
          <a:p>
            <a:pPr indent="-228600" lvl="0" marL="228600" rtl="0" algn="l">
              <a:lnSpc>
                <a:spcPct val="90000"/>
              </a:lnSpc>
              <a:spcBef>
                <a:spcPts val="900"/>
              </a:spcBef>
              <a:spcAft>
                <a:spcPts val="0"/>
              </a:spcAft>
              <a:buClr>
                <a:srgbClr val="7F7F7F"/>
              </a:buClr>
              <a:buSzPts val="3000"/>
              <a:buChar char="•"/>
            </a:pPr>
            <a:r>
              <a:rPr lang="en-US"/>
              <a:t>It shows keys (or subkeys) on the left and values on the right.</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Inspect the registries</a:t>
            </a:r>
            <a:endParaRPr/>
          </a:p>
        </p:txBody>
      </p:sp>
      <p:sp>
        <p:nvSpPr>
          <p:cNvPr id="407" name="Google Shape;407;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To access the Registry, type “</a:t>
            </a:r>
            <a:r>
              <a:rPr lang="en-US">
                <a:solidFill>
                  <a:srgbClr val="0055A4"/>
                </a:solidFill>
              </a:rPr>
              <a:t>regedit</a:t>
            </a:r>
            <a:r>
              <a:rPr lang="en-US"/>
              <a:t>” in the </a:t>
            </a:r>
            <a:br>
              <a:rPr lang="en-US"/>
            </a:br>
            <a:r>
              <a:rPr lang="en-US"/>
              <a:t>Start 🡪 Search bar (or Spotlight).</a:t>
            </a:r>
            <a:endParaRPr/>
          </a:p>
          <a:p>
            <a:pPr indent="-38100" lvl="0" marL="228600" rtl="0" algn="l">
              <a:lnSpc>
                <a:spcPct val="90000"/>
              </a:lnSpc>
              <a:spcBef>
                <a:spcPts val="0"/>
              </a:spcBef>
              <a:spcAft>
                <a:spcPts val="0"/>
              </a:spcAft>
              <a:buClr>
                <a:srgbClr val="7F7F7F"/>
              </a:buClr>
              <a:buSzPts val="3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Five main subgroups or root keys</a:t>
            </a:r>
            <a:endParaRPr/>
          </a:p>
        </p:txBody>
      </p:sp>
      <p:graphicFrame>
        <p:nvGraphicFramePr>
          <p:cNvPr id="413" name="Google Shape;413;p30"/>
          <p:cNvGraphicFramePr/>
          <p:nvPr/>
        </p:nvGraphicFramePr>
        <p:xfrm>
          <a:off x="838200" y="1825625"/>
          <a:ext cx="3000000" cy="3000000"/>
        </p:xfrm>
        <a:graphic>
          <a:graphicData uri="http://schemas.openxmlformats.org/drawingml/2006/table">
            <a:tbl>
              <a:tblPr>
                <a:noFill/>
                <a:tableStyleId>{0415F527-3D0D-4033-BA1B-A0FA7D80A9C5}</a:tableStyleId>
              </a:tblPr>
              <a:tblGrid>
                <a:gridCol w="2801650"/>
                <a:gridCol w="7713950"/>
              </a:tblGrid>
              <a:tr h="1026175">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HKEY_CLASSES_ROOT</a:t>
                      </a:r>
                      <a:endParaRPr sz="1800" u="none" cap="none" strike="noStrike"/>
                    </a:p>
                  </a:txBody>
                  <a:tcPr marT="63500" marB="63500" marR="63500" marL="63500"/>
                </a:tc>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Historically this root key defined the standard class objects used by Windows. Now this root key provides backwards compatibility for older applications.</a:t>
                      </a:r>
                      <a:endParaRPr sz="1800" u="none" cap="none" strike="noStrike"/>
                    </a:p>
                  </a:txBody>
                  <a:tcPr marT="63500" marB="63500" marR="63500" marL="63500"/>
                </a:tc>
              </a:tr>
              <a:tr h="1026175">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HKEY_CURRENT_USER</a:t>
                      </a:r>
                      <a:endParaRPr sz="1800" u="none" cap="none" strike="noStrike"/>
                    </a:p>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HKEY_USERS</a:t>
                      </a:r>
                      <a:endParaRPr sz="1800" u="none" cap="none" strike="noStrike"/>
                    </a:p>
                  </a:txBody>
                  <a:tcPr marT="63500" marB="63500" marR="63500" marL="63500"/>
                </a:tc>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These store personalized information for each user that has an account on the system such as desktop colours, screensavers and desktop contents.</a:t>
                      </a:r>
                      <a:endParaRPr sz="1800" u="none" cap="none" strike="noStrike"/>
                    </a:p>
                  </a:txBody>
                  <a:tcPr marT="63500" marB="63500" marR="63500" marL="63500"/>
                </a:tc>
              </a:tr>
              <a:tr h="1026175">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HKEY_LOCAL_MACHINE</a:t>
                      </a:r>
                      <a:endParaRPr sz="1800" u="none" cap="none" strike="noStrike"/>
                    </a:p>
                  </a:txBody>
                  <a:tcPr marT="63500" marB="63500" marR="63500" marL="63500"/>
                </a:tc>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Contains all the data for a system’s non-user-specific configurations. This encompasses every device and every program in your computer.</a:t>
                      </a:r>
                      <a:endParaRPr sz="1800" u="none" cap="none" strike="noStrike"/>
                    </a:p>
                  </a:txBody>
                  <a:tcPr marT="63500" marB="63500" marR="63500" marL="63500"/>
                </a:tc>
              </a:tr>
              <a:tr h="1026175">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HKEY_CURRENT_CONFIG</a:t>
                      </a:r>
                      <a:endParaRPr sz="1800" u="none" cap="none" strike="noStrike"/>
                    </a:p>
                    <a:p>
                      <a:pPr indent="0" lvl="0" marL="0" marR="0" rtl="0" algn="l">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 </a:t>
                      </a:r>
                      <a:endParaRPr sz="1800" u="none" cap="none" strike="noStrike"/>
                    </a:p>
                  </a:txBody>
                  <a:tcPr marT="63500" marB="63500" marR="63500" marL="63500"/>
                </a:tc>
                <a:tc>
                  <a:txBody>
                    <a:bodyPr/>
                    <a:lstStyle/>
                    <a:p>
                      <a:pPr indent="0" lvl="0" marL="0" marR="0" rtl="0" algn="just">
                        <a:lnSpc>
                          <a:spcPct val="115000"/>
                        </a:lnSpc>
                        <a:spcBef>
                          <a:spcPts val="0"/>
                        </a:spcBef>
                        <a:spcAft>
                          <a:spcPts val="0"/>
                        </a:spcAft>
                        <a:buClr>
                          <a:schemeClr val="dk1"/>
                        </a:buClr>
                        <a:buSzPts val="1800"/>
                        <a:buFont typeface="Quattrocento Sans"/>
                        <a:buNone/>
                      </a:pPr>
                      <a:r>
                        <a:rPr lang="en-US" sz="1800" u="none" cap="none" strike="noStrike">
                          <a:latin typeface="Quattrocento Sans"/>
                          <a:ea typeface="Quattrocento Sans"/>
                          <a:cs typeface="Quattrocento Sans"/>
                          <a:sym typeface="Quattrocento Sans"/>
                        </a:rPr>
                        <a:t>If the values in HKEY_LOCAL_MACHINE have more than one value, e.g. two different monitors, this root key defines which one is currently being used.</a:t>
                      </a:r>
                      <a:endParaRPr sz="1800" u="none" cap="none" strike="noStrike"/>
                    </a:p>
                  </a:txBody>
                  <a:tcPr marT="63500" marB="63500" marR="63500" marL="635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Using Registry Editor</a:t>
            </a:r>
            <a:endParaRPr/>
          </a:p>
        </p:txBody>
      </p:sp>
      <p:sp>
        <p:nvSpPr>
          <p:cNvPr id="419" name="Google Shape;41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When you use the Registry Editor to access the Registry, you risk breaking things. </a:t>
            </a:r>
            <a:endParaRPr/>
          </a:p>
          <a:p>
            <a:pPr indent="-228600" lvl="0" marL="228600" rtl="0" algn="l">
              <a:lnSpc>
                <a:spcPct val="90000"/>
              </a:lnSpc>
              <a:spcBef>
                <a:spcPts val="900"/>
              </a:spcBef>
              <a:spcAft>
                <a:spcPts val="0"/>
              </a:spcAft>
              <a:buClr>
                <a:srgbClr val="7F7F7F"/>
              </a:buClr>
              <a:buSzPts val="3000"/>
              <a:buChar char="•"/>
            </a:pPr>
            <a:r>
              <a:rPr lang="en-US"/>
              <a:t>Applications might not start, utilities may not work, or your computer may not boot. </a:t>
            </a:r>
            <a:endParaRPr/>
          </a:p>
          <a:p>
            <a:pPr indent="-228600" lvl="0" marL="228600" rtl="0" algn="l">
              <a:lnSpc>
                <a:spcPct val="90000"/>
              </a:lnSpc>
              <a:spcBef>
                <a:spcPts val="900"/>
              </a:spcBef>
              <a:spcAft>
                <a:spcPts val="0"/>
              </a:spcAft>
              <a:buClr>
                <a:srgbClr val="7F7F7F"/>
              </a:buClr>
              <a:buSzPts val="3000"/>
              <a:buChar char="•"/>
            </a:pPr>
            <a:r>
              <a:rPr lang="en-US"/>
              <a:t>Always make a backup of the Registry (preferably into a thumb drive) before you change anything. After you make the change, reboot the system to see if it had the desired effect. If not, restore the old Registry settings from your backup.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Using Registry Editor</a:t>
            </a:r>
            <a:endParaRPr/>
          </a:p>
        </p:txBody>
      </p:sp>
      <p:sp>
        <p:nvSpPr>
          <p:cNvPr id="425" name="Google Shape;425;p32"/>
          <p:cNvSpPr txBox="1"/>
          <p:nvPr>
            <p:ph idx="1" type="body"/>
          </p:nvPr>
        </p:nvSpPr>
        <p:spPr>
          <a:xfrm>
            <a:off x="5993296" y="1825625"/>
            <a:ext cx="5360504"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7F7F7F"/>
              </a:buClr>
              <a:buSzPct val="79279"/>
              <a:buChar char="•"/>
            </a:pPr>
            <a:r>
              <a:rPr lang="en-US"/>
              <a:t>To save a copy of the Registry,</a:t>
            </a:r>
            <a:endParaRPr/>
          </a:p>
          <a:p>
            <a:pPr indent="-228600" lvl="1" marL="685800" rtl="0" algn="l">
              <a:lnSpc>
                <a:spcPct val="90000"/>
              </a:lnSpc>
              <a:spcBef>
                <a:spcPts val="540"/>
              </a:spcBef>
              <a:spcAft>
                <a:spcPts val="0"/>
              </a:spcAft>
              <a:buClr>
                <a:srgbClr val="7F7F7F"/>
              </a:buClr>
              <a:buSzPct val="74844"/>
              <a:buChar char="•"/>
            </a:pPr>
            <a:r>
              <a:rPr lang="en-US"/>
              <a:t>Export the full registry or a single key or subkey (with all subkeys and values under it) using File → Export.</a:t>
            </a:r>
            <a:endParaRPr/>
          </a:p>
          <a:p>
            <a:pPr indent="-88900" lvl="0" marL="228600" rtl="0" algn="l">
              <a:lnSpc>
                <a:spcPct val="90000"/>
              </a:lnSpc>
              <a:spcBef>
                <a:spcPts val="660"/>
              </a:spcBef>
              <a:spcAft>
                <a:spcPts val="0"/>
              </a:spcAft>
              <a:buClr>
                <a:srgbClr val="7F7F7F"/>
              </a:buClr>
              <a:buSzPct val="79279"/>
              <a:buNone/>
            </a:pPr>
            <a:r>
              <a:t/>
            </a:r>
            <a:endParaRPr/>
          </a:p>
          <a:p>
            <a:pPr indent="-228600" lvl="0" marL="228600" rtl="0" algn="l">
              <a:lnSpc>
                <a:spcPct val="90000"/>
              </a:lnSpc>
              <a:spcBef>
                <a:spcPts val="660"/>
              </a:spcBef>
              <a:spcAft>
                <a:spcPts val="0"/>
              </a:spcAft>
              <a:buClr>
                <a:srgbClr val="7F7F7F"/>
              </a:buClr>
              <a:buSzPct val="79279"/>
              <a:buChar char="•"/>
            </a:pPr>
            <a:r>
              <a:rPr lang="en-US"/>
              <a:t>Saved with the extension .reg</a:t>
            </a:r>
            <a:endParaRPr/>
          </a:p>
          <a:p>
            <a:pPr indent="0" lvl="0" marL="0" rtl="0" algn="l">
              <a:lnSpc>
                <a:spcPct val="90000"/>
              </a:lnSpc>
              <a:spcBef>
                <a:spcPts val="660"/>
              </a:spcBef>
              <a:spcAft>
                <a:spcPts val="0"/>
              </a:spcAft>
              <a:buClr>
                <a:srgbClr val="7F7F7F"/>
              </a:buClr>
              <a:buSzPct val="79279"/>
              <a:buNone/>
            </a:pPr>
            <a:r>
              <a:rPr lang="en-US"/>
              <a:t> </a:t>
            </a:r>
            <a:endParaRPr/>
          </a:p>
          <a:p>
            <a:pPr indent="-228600" lvl="0" marL="228600" rtl="0" algn="l">
              <a:lnSpc>
                <a:spcPct val="90000"/>
              </a:lnSpc>
              <a:spcBef>
                <a:spcPts val="660"/>
              </a:spcBef>
              <a:spcAft>
                <a:spcPts val="0"/>
              </a:spcAft>
              <a:buClr>
                <a:srgbClr val="7F7F7F"/>
              </a:buClr>
              <a:buSzPct val="79279"/>
              <a:buChar char="•"/>
            </a:pPr>
            <a:r>
              <a:rPr lang="en-US"/>
              <a:t>To restore a set of backed up registry keys,</a:t>
            </a:r>
            <a:endParaRPr/>
          </a:p>
          <a:p>
            <a:pPr indent="-228600" lvl="1" marL="685800" rtl="0" algn="l">
              <a:lnSpc>
                <a:spcPct val="90000"/>
              </a:lnSpc>
              <a:spcBef>
                <a:spcPts val="540"/>
              </a:spcBef>
              <a:spcAft>
                <a:spcPts val="0"/>
              </a:spcAft>
              <a:buClr>
                <a:srgbClr val="7F7F7F"/>
              </a:buClr>
              <a:buSzPct val="74844"/>
              <a:buChar char="•"/>
            </a:pPr>
            <a:r>
              <a:rPr lang="en-US"/>
              <a:t>Use File → Import or right-click on the icon and select Merge.</a:t>
            </a:r>
            <a:endParaRPr/>
          </a:p>
          <a:p>
            <a:pPr indent="-88900" lvl="0" marL="228600" rtl="0" algn="l">
              <a:lnSpc>
                <a:spcPct val="90000"/>
              </a:lnSpc>
              <a:spcBef>
                <a:spcPts val="660"/>
              </a:spcBef>
              <a:spcAft>
                <a:spcPts val="0"/>
              </a:spcAft>
              <a:buClr>
                <a:srgbClr val="7F7F7F"/>
              </a:buClr>
              <a:buSzPct val="79279"/>
              <a:buNone/>
            </a:pPr>
            <a:r>
              <a:t/>
            </a:r>
            <a:endParaRPr/>
          </a:p>
          <a:p>
            <a:pPr indent="-228600" lvl="0" marL="457200" rtl="0" algn="l">
              <a:lnSpc>
                <a:spcPct val="90000"/>
              </a:lnSpc>
              <a:spcBef>
                <a:spcPts val="900"/>
              </a:spcBef>
              <a:spcAft>
                <a:spcPts val="0"/>
              </a:spcAft>
              <a:buClr>
                <a:srgbClr val="7F7F7F"/>
              </a:buClr>
              <a:buSzPct val="108108"/>
              <a:buNone/>
            </a:pPr>
            <a:r>
              <a:t/>
            </a:r>
            <a:endParaRPr/>
          </a:p>
        </p:txBody>
      </p:sp>
      <p:pic>
        <p:nvPicPr>
          <p:cNvPr id="426" name="Google Shape;426;p32"/>
          <p:cNvPicPr preferRelativeResize="0"/>
          <p:nvPr/>
        </p:nvPicPr>
        <p:blipFill rotWithShape="1">
          <a:blip r:embed="rId3">
            <a:alphaModFix/>
          </a:blip>
          <a:srcRect b="0" l="0" r="0" t="0"/>
          <a:stretch/>
        </p:blipFill>
        <p:spPr>
          <a:xfrm>
            <a:off x="2062162" y="2763044"/>
            <a:ext cx="2733675" cy="2476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Using Registry Editor</a:t>
            </a:r>
            <a:endParaRPr/>
          </a:p>
        </p:txBody>
      </p:sp>
      <p:pic>
        <p:nvPicPr>
          <p:cNvPr id="432" name="Google Shape;432;p33"/>
          <p:cNvPicPr preferRelativeResize="0"/>
          <p:nvPr>
            <p:ph idx="1" type="body"/>
          </p:nvPr>
        </p:nvPicPr>
        <p:blipFill rotWithShape="1">
          <a:blip r:embed="rId3">
            <a:alphaModFix/>
          </a:blip>
          <a:srcRect b="0" l="0" r="0" t="0"/>
          <a:stretch/>
        </p:blipFill>
        <p:spPr>
          <a:xfrm>
            <a:off x="3067050" y="2336324"/>
            <a:ext cx="6057900" cy="3238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Activity VM: Change highlight color</a:t>
            </a:r>
            <a:endParaRPr/>
          </a:p>
        </p:txBody>
      </p:sp>
      <p:sp>
        <p:nvSpPr>
          <p:cNvPr id="438" name="Google Shape;438;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Press the Windows key + R to open the Run dialog box.</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Type "regedit" (without quotes) and press Enter to open the Registry Editor.</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Navigate to HKEY_CURRENT_USER\Control Panel\Colors.</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Look for the "Hilight" value in the right-hand pane. This is the value that controls the highlight color of selected items.</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Double-click on "Hilight" to open its properties.</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In the "Value data" field, enter the RGB value of the color you want to use. For example, if you want to use a light blue color, you can enter "192 217 255" (without quotes).</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Click OK to save the changes.</a:t>
            </a:r>
            <a:endParaRPr/>
          </a:p>
          <a:p>
            <a:pPr indent="-419100" lvl="0" marL="457200" rtl="0" algn="l">
              <a:lnSpc>
                <a:spcPct val="90000"/>
              </a:lnSpc>
              <a:spcBef>
                <a:spcPts val="900"/>
              </a:spcBef>
              <a:spcAft>
                <a:spcPts val="0"/>
              </a:spcAft>
              <a:buSzPct val="129032"/>
              <a:buFont typeface="Calibri"/>
              <a:buAutoNum type="arabicPeriod"/>
            </a:pPr>
            <a:r>
              <a:rPr b="0" i="0" lang="en-US">
                <a:solidFill>
                  <a:schemeClr val="dk1"/>
                </a:solidFill>
                <a:latin typeface="Quattrocento Sans"/>
                <a:ea typeface="Quattrocento Sans"/>
                <a:cs typeface="Quattrocento Sans"/>
                <a:sym typeface="Quattrocento Sans"/>
              </a:rPr>
              <a:t>Close the Registry Editor.</a:t>
            </a:r>
            <a:endParaRPr/>
          </a:p>
          <a:p>
            <a:pPr indent="-419100" lvl="0" marL="457200" rtl="0" algn="l">
              <a:lnSpc>
                <a:spcPct val="90000"/>
              </a:lnSpc>
              <a:spcBef>
                <a:spcPts val="900"/>
              </a:spcBef>
              <a:spcAft>
                <a:spcPts val="0"/>
              </a:spcAft>
              <a:buClr>
                <a:srgbClr val="7F7F7F"/>
              </a:buClr>
              <a:buSzPct val="129032"/>
              <a:buChar char="•"/>
            </a:pPr>
            <a:r>
              <a:rPr lang="en-US">
                <a:solidFill>
                  <a:schemeClr val="dk1"/>
                </a:solidFill>
              </a:rPr>
              <a:t>More registries hacks: </a:t>
            </a:r>
            <a:r>
              <a:rPr lang="en-US" u="sng">
                <a:solidFill>
                  <a:schemeClr val="dk1"/>
                </a:solidFill>
                <a:hlinkClick r:id="rId3">
                  <a:extLst>
                    <a:ext uri="{A12FA001-AC4F-418D-AE19-62706E023703}">
                      <ahyp:hlinkClr val="tx"/>
                    </a:ext>
                  </a:extLst>
                </a:hlinkClick>
              </a:rPr>
              <a:t>https://www.minitool.com/backup-tips/windows-10-registry-hacks.html</a:t>
            </a:r>
            <a:endParaRPr>
              <a:solidFill>
                <a:schemeClr val="dk1"/>
              </a:solidFill>
            </a:endParaRPr>
          </a:p>
          <a:p>
            <a:pPr indent="-228600" lvl="0" marL="457200" rtl="0" algn="l">
              <a:lnSpc>
                <a:spcPct val="90000"/>
              </a:lnSpc>
              <a:spcBef>
                <a:spcPts val="900"/>
              </a:spcBef>
              <a:spcAft>
                <a:spcPts val="0"/>
              </a:spcAft>
              <a:buClr>
                <a:srgbClr val="7F7F7F"/>
              </a:buClr>
              <a:buSzPct val="129032"/>
              <a:buNone/>
            </a:pPr>
            <a:r>
              <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a:t>OS Maintenance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Preventative Maintenance Tasks</a:t>
            </a:r>
            <a:endParaRPr/>
          </a:p>
        </p:txBody>
      </p:sp>
      <p:sp>
        <p:nvSpPr>
          <p:cNvPr id="449" name="Google Shape;449;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Disk cleanup.</a:t>
            </a:r>
            <a:br>
              <a:rPr lang="en-US"/>
            </a:br>
            <a:endParaRPr/>
          </a:p>
          <a:p>
            <a:pPr indent="-228600" lvl="0" marL="228600" rtl="0" algn="l">
              <a:lnSpc>
                <a:spcPct val="90000"/>
              </a:lnSpc>
              <a:spcBef>
                <a:spcPts val="900"/>
              </a:spcBef>
              <a:spcAft>
                <a:spcPts val="0"/>
              </a:spcAft>
              <a:buClr>
                <a:srgbClr val="7F7F7F"/>
              </a:buClr>
              <a:buSzPts val="3000"/>
              <a:buChar char="•"/>
            </a:pPr>
            <a:r>
              <a:rPr lang="en-US"/>
              <a:t>Disk defragmentation.</a:t>
            </a:r>
            <a:br>
              <a:rPr lang="en-US"/>
            </a:br>
            <a:endParaRPr/>
          </a:p>
          <a:p>
            <a:pPr indent="-228600" lvl="0" marL="228600" rtl="0" algn="l">
              <a:lnSpc>
                <a:spcPct val="90000"/>
              </a:lnSpc>
              <a:spcBef>
                <a:spcPts val="900"/>
              </a:spcBef>
              <a:spcAft>
                <a:spcPts val="0"/>
              </a:spcAft>
              <a:buClr>
                <a:srgbClr val="7F7F7F"/>
              </a:buClr>
              <a:buSzPts val="3000"/>
              <a:buChar char="•"/>
            </a:pPr>
            <a:r>
              <a:rPr lang="en-US"/>
              <a:t>Hard drive error checking.</a:t>
            </a:r>
            <a:br>
              <a:rPr lang="en-US"/>
            </a:br>
            <a:endParaRPr/>
          </a:p>
          <a:p>
            <a:pPr indent="-228600" lvl="0" marL="228600" rtl="0" algn="l">
              <a:lnSpc>
                <a:spcPct val="90000"/>
              </a:lnSpc>
              <a:spcBef>
                <a:spcPts val="900"/>
              </a:spcBef>
              <a:spcAft>
                <a:spcPts val="0"/>
              </a:spcAft>
              <a:buClr>
                <a:srgbClr val="7F7F7F"/>
              </a:buClr>
              <a:buSzPts val="3000"/>
              <a:buChar char="•"/>
            </a:pPr>
            <a:r>
              <a:rPr lang="en-US"/>
              <a:t>Updates to OS (e.g. service packs) and applications.</a:t>
            </a:r>
            <a:br>
              <a:rPr lang="en-US"/>
            </a:br>
            <a:endParaRPr/>
          </a:p>
          <a:p>
            <a:pPr indent="-228600" lvl="0" marL="228600" rtl="0" algn="l">
              <a:lnSpc>
                <a:spcPct val="90000"/>
              </a:lnSpc>
              <a:spcBef>
                <a:spcPts val="900"/>
              </a:spcBef>
              <a:spcAft>
                <a:spcPts val="0"/>
              </a:spcAft>
              <a:buClr>
                <a:srgbClr val="7F7F7F"/>
              </a:buClr>
              <a:buSzPts val="3000"/>
              <a:buChar char="•"/>
            </a:pPr>
            <a:r>
              <a:rPr lang="en-US"/>
              <a:t>Updates to antivirus and other protective software.</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Disk Cleanup</a:t>
            </a:r>
            <a:endParaRPr/>
          </a:p>
        </p:txBody>
      </p:sp>
      <p:sp>
        <p:nvSpPr>
          <p:cNvPr id="455" name="Google Shape;455;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Removes unneeded files</a:t>
            </a:r>
            <a:br>
              <a:rPr lang="en-US"/>
            </a:br>
            <a:r>
              <a:rPr lang="en-US"/>
              <a:t>e.g.</a:t>
            </a:r>
            <a:endParaRPr/>
          </a:p>
          <a:p>
            <a:pPr indent="-228600" lvl="1" marL="685800" rtl="0" algn="l">
              <a:lnSpc>
                <a:spcPct val="90000"/>
              </a:lnSpc>
              <a:spcBef>
                <a:spcPts val="780"/>
              </a:spcBef>
              <a:spcAft>
                <a:spcPts val="0"/>
              </a:spcAft>
              <a:buClr>
                <a:srgbClr val="7F7F7F"/>
              </a:buClr>
              <a:buSzPts val="2600"/>
              <a:buChar char="•"/>
            </a:pPr>
            <a:r>
              <a:rPr lang="en-US"/>
              <a:t>Temporary internet files</a:t>
            </a:r>
            <a:endParaRPr/>
          </a:p>
          <a:p>
            <a:pPr indent="-228600" lvl="1" marL="685800" rtl="0" algn="l">
              <a:lnSpc>
                <a:spcPct val="90000"/>
              </a:lnSpc>
              <a:spcBef>
                <a:spcPts val="780"/>
              </a:spcBef>
              <a:spcAft>
                <a:spcPts val="0"/>
              </a:spcAft>
              <a:buClr>
                <a:srgbClr val="7F7F7F"/>
              </a:buClr>
              <a:buSzPts val="2600"/>
              <a:buChar char="•"/>
            </a:pPr>
            <a:r>
              <a:rPr lang="en-US"/>
              <a:t>Files downloaded to install programs</a:t>
            </a:r>
            <a:endParaRPr/>
          </a:p>
          <a:p>
            <a:pPr indent="-228600" lvl="1" marL="685800" rtl="0" algn="l">
              <a:lnSpc>
                <a:spcPct val="90000"/>
              </a:lnSpc>
              <a:spcBef>
                <a:spcPts val="780"/>
              </a:spcBef>
              <a:spcAft>
                <a:spcPts val="0"/>
              </a:spcAft>
              <a:buClr>
                <a:srgbClr val="7F7F7F"/>
              </a:buClr>
              <a:buSzPts val="2600"/>
              <a:buChar char="•"/>
            </a:pPr>
            <a:r>
              <a:rPr lang="en-US"/>
              <a:t>Files in the recycle bin</a:t>
            </a:r>
            <a:endParaRPr/>
          </a:p>
          <a:p>
            <a:pPr indent="-228600" lvl="1" marL="685800" rtl="0" algn="l">
              <a:lnSpc>
                <a:spcPct val="90000"/>
              </a:lnSpc>
              <a:spcBef>
                <a:spcPts val="780"/>
              </a:spcBef>
              <a:spcAft>
                <a:spcPts val="0"/>
              </a:spcAft>
              <a:buClr>
                <a:srgbClr val="7F7F7F"/>
              </a:buClr>
              <a:buSzPts val="2600"/>
              <a:buChar char="•"/>
            </a:pPr>
            <a:r>
              <a:rPr lang="en-US"/>
              <a:t>Log files</a:t>
            </a:r>
            <a:endParaRPr/>
          </a:p>
          <a:p>
            <a:pPr indent="-228600" lvl="1" marL="685800" rtl="0" algn="l">
              <a:lnSpc>
                <a:spcPct val="90000"/>
              </a:lnSpc>
              <a:spcBef>
                <a:spcPts val="780"/>
              </a:spcBef>
              <a:spcAft>
                <a:spcPts val="0"/>
              </a:spcAft>
              <a:buClr>
                <a:srgbClr val="7F7F7F"/>
              </a:buClr>
              <a:buSzPts val="2600"/>
              <a:buChar char="•"/>
            </a:pPr>
            <a:r>
              <a:rPr lang="en-US"/>
              <a:t>Temporary files</a:t>
            </a:r>
            <a:endParaRPr/>
          </a:p>
          <a:p>
            <a:pPr indent="-228600" lvl="1" marL="685800" rtl="0" algn="l">
              <a:lnSpc>
                <a:spcPct val="90000"/>
              </a:lnSpc>
              <a:spcBef>
                <a:spcPts val="780"/>
              </a:spcBef>
              <a:spcAft>
                <a:spcPts val="0"/>
              </a:spcAft>
              <a:buClr>
                <a:srgbClr val="7F7F7F"/>
              </a:buClr>
              <a:buSzPts val="2600"/>
              <a:buChar char="•"/>
            </a:pPr>
            <a:r>
              <a:rPr lang="en-US"/>
              <a:t>Thumbnails</a:t>
            </a:r>
            <a:endParaRPr/>
          </a:p>
          <a:p>
            <a:pPr indent="-228600" lvl="0" marL="228600" rtl="0" algn="l">
              <a:lnSpc>
                <a:spcPct val="90000"/>
              </a:lnSpc>
              <a:spcBef>
                <a:spcPts val="900"/>
              </a:spcBef>
              <a:spcAft>
                <a:spcPts val="0"/>
              </a:spcAft>
              <a:buClr>
                <a:srgbClr val="7F7F7F"/>
              </a:buClr>
              <a:buSzPts val="3000"/>
              <a:buChar char="•"/>
            </a:pPr>
            <a:r>
              <a:rPr lang="en-US"/>
              <a:t>Admin can also clean up system files.</a:t>
            </a:r>
            <a:endParaRPr/>
          </a:p>
        </p:txBody>
      </p:sp>
      <p:pic>
        <p:nvPicPr>
          <p:cNvPr id="456" name="Google Shape;456;p37"/>
          <p:cNvPicPr preferRelativeResize="0"/>
          <p:nvPr/>
        </p:nvPicPr>
        <p:blipFill rotWithShape="1">
          <a:blip r:embed="rId3">
            <a:alphaModFix/>
          </a:blip>
          <a:srcRect b="0" l="0" r="0" t="0"/>
          <a:stretch/>
        </p:blipFill>
        <p:spPr>
          <a:xfrm>
            <a:off x="7692454" y="1839119"/>
            <a:ext cx="3571875" cy="4324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Disk Defragmentation</a:t>
            </a:r>
            <a:endParaRPr/>
          </a:p>
        </p:txBody>
      </p:sp>
      <p:sp>
        <p:nvSpPr>
          <p:cNvPr id="462" name="Google Shape;462;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If a storage device is fragmented, </a:t>
            </a:r>
            <a:br>
              <a:rPr lang="en-US"/>
            </a:br>
            <a:r>
              <a:rPr lang="en-US"/>
              <a:t>it can slow down your computer.</a:t>
            </a:r>
            <a:endParaRPr/>
          </a:p>
          <a:p>
            <a:pPr indent="-228600" lvl="0" marL="228600" rtl="0" algn="l">
              <a:lnSpc>
                <a:spcPct val="90000"/>
              </a:lnSpc>
              <a:spcBef>
                <a:spcPts val="900"/>
              </a:spcBef>
              <a:spcAft>
                <a:spcPts val="0"/>
              </a:spcAft>
              <a:buClr>
                <a:srgbClr val="7F7F7F"/>
              </a:buClr>
              <a:buSzPts val="3000"/>
              <a:buChar char="•"/>
            </a:pPr>
            <a:r>
              <a:rPr lang="en-US"/>
              <a:t>A disk can become fragmented</a:t>
            </a:r>
            <a:br>
              <a:rPr lang="en-US"/>
            </a:br>
            <a:r>
              <a:rPr lang="en-US"/>
              <a:t>very quickly if it is used heavily</a:t>
            </a:r>
            <a:br>
              <a:rPr lang="en-US"/>
            </a:br>
            <a:r>
              <a:rPr lang="en-US"/>
              <a:t>and data is written to it often.</a:t>
            </a:r>
            <a:endParaRPr/>
          </a:p>
          <a:p>
            <a:pPr indent="-228600" lvl="0" marL="228600" rtl="0" algn="l">
              <a:lnSpc>
                <a:spcPct val="90000"/>
              </a:lnSpc>
              <a:spcBef>
                <a:spcPts val="900"/>
              </a:spcBef>
              <a:spcAft>
                <a:spcPts val="0"/>
              </a:spcAft>
              <a:buClr>
                <a:srgbClr val="7F7F7F"/>
              </a:buClr>
              <a:buSzPts val="3000"/>
              <a:buChar char="•"/>
            </a:pPr>
            <a:r>
              <a:rPr lang="en-US"/>
              <a:t>Disk defragmenter typically runs </a:t>
            </a:r>
            <a:br>
              <a:rPr lang="en-US"/>
            </a:br>
            <a:r>
              <a:rPr lang="en-US"/>
              <a:t>on a schedule but you can </a:t>
            </a:r>
            <a:br>
              <a:rPr lang="en-US"/>
            </a:br>
            <a:r>
              <a:rPr lang="en-US"/>
              <a:t>analyze and defrag manually.</a:t>
            </a:r>
            <a:endParaRPr/>
          </a:p>
          <a:p>
            <a:pPr indent="-38100" lvl="0" marL="228600" rtl="0" algn="l">
              <a:lnSpc>
                <a:spcPct val="90000"/>
              </a:lnSpc>
              <a:spcBef>
                <a:spcPts val="900"/>
              </a:spcBef>
              <a:spcAft>
                <a:spcPts val="0"/>
              </a:spcAft>
              <a:buClr>
                <a:srgbClr val="7F7F7F"/>
              </a:buClr>
              <a:buSzPts val="3000"/>
              <a:buNone/>
            </a:pPr>
            <a:r>
              <a:t/>
            </a:r>
            <a:endParaRPr/>
          </a:p>
        </p:txBody>
      </p:sp>
      <p:pic>
        <p:nvPicPr>
          <p:cNvPr id="463" name="Google Shape;463;p38"/>
          <p:cNvPicPr preferRelativeResize="0"/>
          <p:nvPr/>
        </p:nvPicPr>
        <p:blipFill rotWithShape="1">
          <a:blip r:embed="rId3">
            <a:alphaModFix/>
          </a:blip>
          <a:srcRect b="0" l="0" r="0" t="0"/>
          <a:stretch/>
        </p:blipFill>
        <p:spPr>
          <a:xfrm>
            <a:off x="6908220" y="1993980"/>
            <a:ext cx="5047635" cy="40146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Disk Defragmentation</a:t>
            </a:r>
            <a:endParaRPr/>
          </a:p>
        </p:txBody>
      </p:sp>
      <p:sp>
        <p:nvSpPr>
          <p:cNvPr id="469" name="Google Shape;469;p39"/>
          <p:cNvSpPr txBox="1"/>
          <p:nvPr>
            <p:ph idx="1" type="body"/>
          </p:nvPr>
        </p:nvSpPr>
        <p:spPr>
          <a:xfrm>
            <a:off x="838200" y="1825625"/>
            <a:ext cx="5146964"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On older versions of Windows, the defragmenter came with a visualization tool..</a:t>
            </a:r>
            <a:endParaRPr/>
          </a:p>
        </p:txBody>
      </p:sp>
      <p:pic>
        <p:nvPicPr>
          <p:cNvPr id="470" name="Google Shape;470;p39"/>
          <p:cNvPicPr preferRelativeResize="0"/>
          <p:nvPr/>
        </p:nvPicPr>
        <p:blipFill rotWithShape="1">
          <a:blip r:embed="rId3">
            <a:alphaModFix/>
          </a:blip>
          <a:srcRect b="0" l="0" r="0" t="0"/>
          <a:stretch/>
        </p:blipFill>
        <p:spPr>
          <a:xfrm>
            <a:off x="6096000" y="1714789"/>
            <a:ext cx="5427269" cy="489065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Hard Drive Error Checking</a:t>
            </a:r>
            <a:endParaRPr/>
          </a:p>
        </p:txBody>
      </p:sp>
      <p:sp>
        <p:nvSpPr>
          <p:cNvPr id="476" name="Google Shape;476;p40"/>
          <p:cNvSpPr txBox="1"/>
          <p:nvPr>
            <p:ph idx="1" type="body"/>
          </p:nvPr>
        </p:nvSpPr>
        <p:spPr>
          <a:xfrm>
            <a:off x="838200" y="1825625"/>
            <a:ext cx="559811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The Disk Check tool in Windows can find and repair file system errors on:</a:t>
            </a:r>
            <a:endParaRPr/>
          </a:p>
          <a:p>
            <a:pPr indent="-228600" lvl="1" marL="685800" rtl="0" algn="l">
              <a:lnSpc>
                <a:spcPct val="90000"/>
              </a:lnSpc>
              <a:spcBef>
                <a:spcPts val="780"/>
              </a:spcBef>
              <a:spcAft>
                <a:spcPts val="0"/>
              </a:spcAft>
              <a:buClr>
                <a:srgbClr val="7F7F7F"/>
              </a:buClr>
              <a:buSzPts val="2600"/>
              <a:buChar char="•"/>
            </a:pPr>
            <a:r>
              <a:rPr lang="en-US"/>
              <a:t>Local hard drives.</a:t>
            </a:r>
            <a:endParaRPr/>
          </a:p>
          <a:p>
            <a:pPr indent="-228600" lvl="1" marL="685800" rtl="0" algn="l">
              <a:lnSpc>
                <a:spcPct val="90000"/>
              </a:lnSpc>
              <a:spcBef>
                <a:spcPts val="780"/>
              </a:spcBef>
              <a:spcAft>
                <a:spcPts val="0"/>
              </a:spcAft>
              <a:buClr>
                <a:srgbClr val="7F7F7F"/>
              </a:buClr>
              <a:buSzPts val="2600"/>
              <a:buChar char="•"/>
            </a:pPr>
            <a:r>
              <a:rPr lang="en-US"/>
              <a:t>Removable media such as USB flash drives or memory cards.</a:t>
            </a:r>
            <a:endParaRPr/>
          </a:p>
          <a:p>
            <a:pPr indent="-38100" lvl="0" marL="228600" rtl="0" algn="l">
              <a:lnSpc>
                <a:spcPct val="90000"/>
              </a:lnSpc>
              <a:spcBef>
                <a:spcPts val="900"/>
              </a:spcBef>
              <a:spcAft>
                <a:spcPts val="0"/>
              </a:spcAft>
              <a:buClr>
                <a:srgbClr val="7F7F7F"/>
              </a:buClr>
              <a:buSzPts val="3000"/>
              <a:buNone/>
            </a:pPr>
            <a:r>
              <a:t/>
            </a:r>
            <a:endParaRPr/>
          </a:p>
        </p:txBody>
      </p:sp>
      <p:pic>
        <p:nvPicPr>
          <p:cNvPr id="477" name="Google Shape;477;p40"/>
          <p:cNvPicPr preferRelativeResize="0"/>
          <p:nvPr/>
        </p:nvPicPr>
        <p:blipFill rotWithShape="1">
          <a:blip r:embed="rId3">
            <a:alphaModFix/>
          </a:blip>
          <a:srcRect b="0" l="0" r="0" t="0"/>
          <a:stretch/>
        </p:blipFill>
        <p:spPr>
          <a:xfrm>
            <a:off x="6899301" y="1825625"/>
            <a:ext cx="4820833" cy="420816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a:t>OS Maintenance – OS updates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Updates to OS and applications</a:t>
            </a:r>
            <a:endParaRPr/>
          </a:p>
        </p:txBody>
      </p:sp>
      <p:sp>
        <p:nvSpPr>
          <p:cNvPr id="488" name="Google Shape;488;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en-US"/>
              <a:t>A service pack is a collection of updates, fixes or enhancements to a software program, delivered in the form of a single installable package. They may introduce new features to an OS as well as bug fixes, security enhancements, etc.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It is common to have service packs issued within the first two years of release of a product, and they are usually numbered, e.g. SP1, SP2.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Note: Microsoft recommends that you never be more than two service packs behind.</a:t>
            </a:r>
            <a:endParaRPr/>
          </a:p>
          <a:p>
            <a:pPr indent="-80962" lvl="0" marL="228600" rtl="0" algn="l">
              <a:lnSpc>
                <a:spcPct val="120000"/>
              </a:lnSpc>
              <a:spcBef>
                <a:spcPts val="698"/>
              </a:spcBef>
              <a:spcAft>
                <a:spcPts val="0"/>
              </a:spcAft>
              <a:buClr>
                <a:srgbClr val="7F7F7F"/>
              </a:buClr>
              <a:buSzPct val="100000"/>
              <a:buNone/>
            </a:pPr>
            <a:r>
              <a:t/>
            </a:r>
            <a:endParaRPr/>
          </a:p>
          <a:p>
            <a:pPr indent="-80962" lvl="0" marL="228600" rtl="0" algn="l">
              <a:lnSpc>
                <a:spcPct val="120000"/>
              </a:lnSpc>
              <a:spcBef>
                <a:spcPts val="698"/>
              </a:spcBef>
              <a:spcAft>
                <a:spcPts val="0"/>
              </a:spcAft>
              <a:buClr>
                <a:srgbClr val="7F7F7F"/>
              </a:buClr>
              <a:buSzPct val="100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Quattrocento Sans"/>
              <a:buNone/>
            </a:pPr>
            <a:r>
              <a:rPr lang="en-US" sz="48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2023-11-08T15:30:34Z</dcterms:created>
  <dc:creator>Youmna Badawy</dc:creator>
</cp:coreProperties>
</file>